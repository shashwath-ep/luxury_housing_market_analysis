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12"/>
  </p:notesMasterIdLst>
  <p:sldIdLst>
    <p:sldId id="267" r:id="rId2"/>
    <p:sldId id="275" r:id="rId3"/>
    <p:sldId id="268" r:id="rId4"/>
    <p:sldId id="269" r:id="rId5"/>
    <p:sldId id="270" r:id="rId6"/>
    <p:sldId id="271" r:id="rId7"/>
    <p:sldId id="272" r:id="rId8"/>
    <p:sldId id="274" r:id="rId9"/>
    <p:sldId id="273" r:id="rId10"/>
    <p:sldId id="276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20" autoAdjust="0"/>
    <p:restoredTop sz="0"/>
  </p:normalViewPr>
  <p:slideViewPr>
    <p:cSldViewPr>
      <p:cViewPr>
        <p:scale>
          <a:sx n="66" d="100"/>
          <a:sy n="66" d="100"/>
        </p:scale>
        <p:origin x="-364" y="10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heme" Target="../theme/theme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DC626-2BB2-4A66-966C-A4F8A7A3B0CB}" type="datetimeFigureOut">
              <a:rPr lang="LID4096" smtClean="0"/>
              <a:t>04/17/2026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8D0C-90AF-470F-9FE4-63B32D4B3E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7468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0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8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2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62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6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1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8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1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2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3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C20D12-F10B-FFC3-474C-AD8F7066DF1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146185-9EB8-3EFA-AFCA-27969283A998}"/>
              </a:ext>
            </a:extLst>
          </p:cNvPr>
          <p:cNvSpPr>
            <a:spLocks noGrp="1"/>
          </p:cNvSpPr>
          <p:nvPr>
            <p:ph type="title" idx="10"/>
            <p:custDataLst>
              <p:tags r:id="rId2"/>
            </p:custDataLst>
          </p:nvPr>
        </p:nvSpPr>
        <p:spPr>
          <a:xfrm>
            <a:off x="381000" y="275008"/>
            <a:ext cx="11429400" cy="788750"/>
          </a:xfrm>
        </p:spPr>
        <p:txBody>
          <a:bodyPr wrap="square" lIns="0" tIns="0" rIns="0" bIns="0" anchor="ctr">
            <a:noAutofit/>
          </a:bodyPr>
          <a:lstStyle>
            <a:lvl1pPr algn="l">
              <a:defRPr lang="en-US" sz="2200" b="1">
                <a:solidFill>
                  <a:srgbClr val="000000"/>
                </a:solidFill>
                <a:latin typeface="+mj-lt"/>
                <a:cs typeface="+mn-cs"/>
              </a:defRPr>
            </a:lvl1pPr>
          </a:lstStyle>
          <a:p>
            <a:pPr marL="0" lvl="0" algn="l">
              <a:spcBef>
                <a:spcPct val="21875"/>
              </a:spcBef>
              <a:spcAft>
                <a:spcPct val="21875"/>
              </a:spcAft>
            </a:pP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BFB7C4-B2E3-4CBE-00CA-AC6DEC7FB22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381000" y="1100983"/>
            <a:ext cx="11429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C2A416DD-0BC5-3D59-8B64-2A55A736CB84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80998" y="6477000"/>
            <a:ext cx="9684000" cy="242950"/>
          </a:xfrm>
        </p:spPr>
        <p:txBody>
          <a:bodyPr>
            <a:normAutofit/>
          </a:bodyPr>
          <a:lstStyle>
            <a:lvl1pPr>
              <a:buNone/>
              <a:defRPr sz="800"/>
            </a:lvl1pPr>
          </a:lstStyle>
          <a:p>
            <a:pPr lvl="0"/>
            <a:r>
              <a:rPr lang="en-US"/>
              <a:t>Click to add source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01D10-DC55-E325-D6DE-6A7439B4F801}"/>
              </a:ext>
            </a:extLst>
          </p:cNvPr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596" y="-36025"/>
            <a:ext cx="1906404" cy="34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3679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">
    <p:bg>
      <p:bgPr>
        <a:gradFill flip="none" rotWithShape="1">
          <a:gsLst>
            <a:gs pos="0">
              <a:schemeClr val="tx1"/>
            </a:gs>
            <a:gs pos="100000">
              <a:srgbClr val="0225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4319096-C4CD-1C06-CCE4-5E620184645F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3742" y="3352800"/>
            <a:ext cx="8323424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149F3971-F54D-A3F3-EFAB-1D5D0361A4E3}"/>
              </a:ext>
            </a:extLst>
          </p:cNvPr>
          <p:cNvSpPr>
            <a:spLocks noGrp="1"/>
          </p:cNvSpPr>
          <p:nvPr userDrawn="1">
            <p:ph type="title" idx="10"/>
            <p:custDataLst>
              <p:tags r:id="rId2"/>
            </p:custDataLst>
          </p:nvPr>
        </p:nvSpPr>
        <p:spPr>
          <a:xfrm>
            <a:off x="540000" y="2599200"/>
            <a:ext cx="5245200" cy="788750"/>
          </a:xfrm>
        </p:spPr>
        <p:txBody>
          <a:bodyPr wrap="square" lIns="0" tIns="0" rIns="0" bIns="0" anchor="ctr">
            <a:noAutofit/>
          </a:bodyPr>
          <a:lstStyle>
            <a:lvl1pPr algn="ctr">
              <a:defRPr lang="en-US" sz="4400" b="1">
                <a:solidFill>
                  <a:schemeClr val="bg1"/>
                </a:solidFill>
                <a:latin typeface="+mj-lt"/>
                <a:cs typeface="+mn-cs"/>
              </a:defRPr>
            </a:lvl1pPr>
          </a:lstStyle>
          <a:p>
            <a:pPr marL="0" lvl="0" algn="l">
              <a:spcBef>
                <a:spcPct val="21875"/>
              </a:spcBef>
              <a:spcAft>
                <a:spcPct val="21875"/>
              </a:spcAft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DBF75-AFD0-95E8-A3D1-CA78EE9ACDC4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600" y="-36000"/>
            <a:ext cx="1906404" cy="34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0991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gradFill flip="none" rotWithShape="1">
          <a:gsLst>
            <a:gs pos="0">
              <a:schemeClr val="tx1"/>
            </a:gs>
            <a:gs pos="100000">
              <a:srgbClr val="0225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4319096-C4CD-1C06-CCE4-5E620184645F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3742" y="3352800"/>
            <a:ext cx="8323424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149F3971-F54D-A3F3-EFAB-1D5D0361A4E3}"/>
              </a:ext>
            </a:extLst>
          </p:cNvPr>
          <p:cNvSpPr>
            <a:spLocks noGrp="1"/>
          </p:cNvSpPr>
          <p:nvPr>
            <p:ph type="title" idx="10"/>
            <p:custDataLst>
              <p:tags r:id="rId2"/>
            </p:custDataLst>
          </p:nvPr>
        </p:nvSpPr>
        <p:spPr>
          <a:xfrm>
            <a:off x="540000" y="2599200"/>
            <a:ext cx="5245200" cy="788750"/>
          </a:xfrm>
        </p:spPr>
        <p:txBody>
          <a:bodyPr wrap="square" lIns="0" tIns="0" rIns="0" bIns="0" anchor="ctr">
            <a:noAutofit/>
          </a:bodyPr>
          <a:lstStyle>
            <a:lvl1pPr algn="ctr">
              <a:defRPr lang="en-US" sz="4400" b="1">
                <a:solidFill>
                  <a:schemeClr val="bg1"/>
                </a:solidFill>
                <a:latin typeface="+mj-lt"/>
                <a:cs typeface="+mn-cs"/>
              </a:defRPr>
            </a:lvl1pPr>
          </a:lstStyle>
          <a:p>
            <a:pPr marL="0" lvl="0" algn="l">
              <a:spcBef>
                <a:spcPct val="21875"/>
              </a:spcBef>
              <a:spcAft>
                <a:spcPct val="21875"/>
              </a:spcAft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37E24-1C4C-F3F2-E88D-5BCBBA84E789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600" y="-36000"/>
            <a:ext cx="1906404" cy="34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6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383E8C1-1C43-401B-B460-142DB54BC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18" r:id="rId13"/>
    <p:sldLayoutId id="2147483662" r:id="rId1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tags" Target="../tags/tag47.xml"/><Relationship Id="rId39" Type="http://schemas.openxmlformats.org/officeDocument/2006/relationships/tags" Target="../tags/tag60.xml"/><Relationship Id="rId21" Type="http://schemas.openxmlformats.org/officeDocument/2006/relationships/tags" Target="../tags/tag42.xml"/><Relationship Id="rId34" Type="http://schemas.openxmlformats.org/officeDocument/2006/relationships/tags" Target="../tags/tag55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29" Type="http://schemas.openxmlformats.org/officeDocument/2006/relationships/tags" Target="../tags/tag50.xml"/><Relationship Id="rId41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tags" Target="../tags/tag45.xml"/><Relationship Id="rId32" Type="http://schemas.openxmlformats.org/officeDocument/2006/relationships/tags" Target="../tags/tag53.xml"/><Relationship Id="rId37" Type="http://schemas.openxmlformats.org/officeDocument/2006/relationships/tags" Target="../tags/tag58.xml"/><Relationship Id="rId40" Type="http://schemas.openxmlformats.org/officeDocument/2006/relationships/tags" Target="../tags/tag61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tags" Target="../tags/tag44.xml"/><Relationship Id="rId28" Type="http://schemas.openxmlformats.org/officeDocument/2006/relationships/tags" Target="../tags/tag49.xml"/><Relationship Id="rId36" Type="http://schemas.openxmlformats.org/officeDocument/2006/relationships/tags" Target="../tags/tag57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31" Type="http://schemas.openxmlformats.org/officeDocument/2006/relationships/tags" Target="../tags/tag52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tags" Target="../tags/tag43.xml"/><Relationship Id="rId27" Type="http://schemas.openxmlformats.org/officeDocument/2006/relationships/tags" Target="../tags/tag48.xml"/><Relationship Id="rId30" Type="http://schemas.openxmlformats.org/officeDocument/2006/relationships/tags" Target="../tags/tag51.xml"/><Relationship Id="rId35" Type="http://schemas.openxmlformats.org/officeDocument/2006/relationships/tags" Target="../tags/tag56.xml"/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tags" Target="../tags/tag46.xml"/><Relationship Id="rId33" Type="http://schemas.openxmlformats.org/officeDocument/2006/relationships/tags" Target="../tags/tag54.xml"/><Relationship Id="rId38" Type="http://schemas.openxmlformats.org/officeDocument/2006/relationships/tags" Target="../tags/tag59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74.xml"/><Relationship Id="rId18" Type="http://schemas.openxmlformats.org/officeDocument/2006/relationships/tags" Target="../tags/tag79.xml"/><Relationship Id="rId26" Type="http://schemas.openxmlformats.org/officeDocument/2006/relationships/tags" Target="../tags/tag87.xml"/><Relationship Id="rId39" Type="http://schemas.openxmlformats.org/officeDocument/2006/relationships/tags" Target="../tags/tag100.xml"/><Relationship Id="rId21" Type="http://schemas.openxmlformats.org/officeDocument/2006/relationships/tags" Target="../tags/tag82.xml"/><Relationship Id="rId34" Type="http://schemas.openxmlformats.org/officeDocument/2006/relationships/tags" Target="../tags/tag95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tags" Target="../tags/tag81.xml"/><Relationship Id="rId29" Type="http://schemas.openxmlformats.org/officeDocument/2006/relationships/tags" Target="../tags/tag90.xml"/><Relationship Id="rId41" Type="http://schemas.openxmlformats.org/officeDocument/2006/relationships/slideLayout" Target="../slideLayouts/slideLayout6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24" Type="http://schemas.openxmlformats.org/officeDocument/2006/relationships/tags" Target="../tags/tag85.xml"/><Relationship Id="rId32" Type="http://schemas.openxmlformats.org/officeDocument/2006/relationships/tags" Target="../tags/tag93.xml"/><Relationship Id="rId37" Type="http://schemas.openxmlformats.org/officeDocument/2006/relationships/tags" Target="../tags/tag98.xml"/><Relationship Id="rId40" Type="http://schemas.openxmlformats.org/officeDocument/2006/relationships/tags" Target="../tags/tag101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23" Type="http://schemas.openxmlformats.org/officeDocument/2006/relationships/tags" Target="../tags/tag84.xml"/><Relationship Id="rId28" Type="http://schemas.openxmlformats.org/officeDocument/2006/relationships/tags" Target="../tags/tag89.xml"/><Relationship Id="rId36" Type="http://schemas.openxmlformats.org/officeDocument/2006/relationships/tags" Target="../tags/tag97.xml"/><Relationship Id="rId10" Type="http://schemas.openxmlformats.org/officeDocument/2006/relationships/tags" Target="../tags/tag71.xml"/><Relationship Id="rId19" Type="http://schemas.openxmlformats.org/officeDocument/2006/relationships/tags" Target="../tags/tag80.xml"/><Relationship Id="rId31" Type="http://schemas.openxmlformats.org/officeDocument/2006/relationships/tags" Target="../tags/tag92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Relationship Id="rId22" Type="http://schemas.openxmlformats.org/officeDocument/2006/relationships/tags" Target="../tags/tag83.xml"/><Relationship Id="rId27" Type="http://schemas.openxmlformats.org/officeDocument/2006/relationships/tags" Target="../tags/tag88.xml"/><Relationship Id="rId30" Type="http://schemas.openxmlformats.org/officeDocument/2006/relationships/tags" Target="../tags/tag91.xml"/><Relationship Id="rId35" Type="http://schemas.openxmlformats.org/officeDocument/2006/relationships/tags" Target="../tags/tag96.xml"/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12" Type="http://schemas.openxmlformats.org/officeDocument/2006/relationships/tags" Target="../tags/tag73.xml"/><Relationship Id="rId17" Type="http://schemas.openxmlformats.org/officeDocument/2006/relationships/tags" Target="../tags/tag78.xml"/><Relationship Id="rId25" Type="http://schemas.openxmlformats.org/officeDocument/2006/relationships/tags" Target="../tags/tag86.xml"/><Relationship Id="rId33" Type="http://schemas.openxmlformats.org/officeDocument/2006/relationships/tags" Target="../tags/tag94.xml"/><Relationship Id="rId38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127.xml"/><Relationship Id="rId21" Type="http://schemas.openxmlformats.org/officeDocument/2006/relationships/tags" Target="../tags/tag122.xml"/><Relationship Id="rId42" Type="http://schemas.openxmlformats.org/officeDocument/2006/relationships/tags" Target="../tags/tag143.xml"/><Relationship Id="rId47" Type="http://schemas.openxmlformats.org/officeDocument/2006/relationships/tags" Target="../tags/tag148.xml"/><Relationship Id="rId63" Type="http://schemas.openxmlformats.org/officeDocument/2006/relationships/tags" Target="../tags/tag164.xml"/><Relationship Id="rId68" Type="http://schemas.openxmlformats.org/officeDocument/2006/relationships/tags" Target="../tags/tag169.xml"/><Relationship Id="rId84" Type="http://schemas.openxmlformats.org/officeDocument/2006/relationships/tags" Target="../tags/tag185.xml"/><Relationship Id="rId89" Type="http://schemas.openxmlformats.org/officeDocument/2006/relationships/tags" Target="../tags/tag190.xml"/><Relationship Id="rId16" Type="http://schemas.openxmlformats.org/officeDocument/2006/relationships/tags" Target="../tags/tag117.xml"/><Relationship Id="rId11" Type="http://schemas.openxmlformats.org/officeDocument/2006/relationships/tags" Target="../tags/tag112.xml"/><Relationship Id="rId32" Type="http://schemas.openxmlformats.org/officeDocument/2006/relationships/tags" Target="../tags/tag133.xml"/><Relationship Id="rId37" Type="http://schemas.openxmlformats.org/officeDocument/2006/relationships/tags" Target="../tags/tag138.xml"/><Relationship Id="rId53" Type="http://schemas.openxmlformats.org/officeDocument/2006/relationships/tags" Target="../tags/tag154.xml"/><Relationship Id="rId58" Type="http://schemas.openxmlformats.org/officeDocument/2006/relationships/tags" Target="../tags/tag159.xml"/><Relationship Id="rId74" Type="http://schemas.openxmlformats.org/officeDocument/2006/relationships/tags" Target="../tags/tag175.xml"/><Relationship Id="rId79" Type="http://schemas.openxmlformats.org/officeDocument/2006/relationships/tags" Target="../tags/tag180.xml"/><Relationship Id="rId5" Type="http://schemas.openxmlformats.org/officeDocument/2006/relationships/tags" Target="../tags/tag106.xml"/><Relationship Id="rId90" Type="http://schemas.openxmlformats.org/officeDocument/2006/relationships/tags" Target="../tags/tag191.xml"/><Relationship Id="rId22" Type="http://schemas.openxmlformats.org/officeDocument/2006/relationships/tags" Target="../tags/tag123.xml"/><Relationship Id="rId27" Type="http://schemas.openxmlformats.org/officeDocument/2006/relationships/tags" Target="../tags/tag128.xml"/><Relationship Id="rId43" Type="http://schemas.openxmlformats.org/officeDocument/2006/relationships/tags" Target="../tags/tag144.xml"/><Relationship Id="rId48" Type="http://schemas.openxmlformats.org/officeDocument/2006/relationships/tags" Target="../tags/tag149.xml"/><Relationship Id="rId64" Type="http://schemas.openxmlformats.org/officeDocument/2006/relationships/tags" Target="../tags/tag165.xml"/><Relationship Id="rId69" Type="http://schemas.openxmlformats.org/officeDocument/2006/relationships/tags" Target="../tags/tag170.xml"/><Relationship Id="rId8" Type="http://schemas.openxmlformats.org/officeDocument/2006/relationships/tags" Target="../tags/tag109.xml"/><Relationship Id="rId51" Type="http://schemas.openxmlformats.org/officeDocument/2006/relationships/tags" Target="../tags/tag152.xml"/><Relationship Id="rId72" Type="http://schemas.openxmlformats.org/officeDocument/2006/relationships/tags" Target="../tags/tag173.xml"/><Relationship Id="rId80" Type="http://schemas.openxmlformats.org/officeDocument/2006/relationships/tags" Target="../tags/tag181.xml"/><Relationship Id="rId85" Type="http://schemas.openxmlformats.org/officeDocument/2006/relationships/tags" Target="../tags/tag186.xml"/><Relationship Id="rId93" Type="http://schemas.openxmlformats.org/officeDocument/2006/relationships/slideLayout" Target="../slideLayouts/slideLayout6.xml"/><Relationship Id="rId3" Type="http://schemas.openxmlformats.org/officeDocument/2006/relationships/tags" Target="../tags/tag104.xml"/><Relationship Id="rId12" Type="http://schemas.openxmlformats.org/officeDocument/2006/relationships/tags" Target="../tags/tag113.xml"/><Relationship Id="rId17" Type="http://schemas.openxmlformats.org/officeDocument/2006/relationships/tags" Target="../tags/tag118.xml"/><Relationship Id="rId25" Type="http://schemas.openxmlformats.org/officeDocument/2006/relationships/tags" Target="../tags/tag126.xml"/><Relationship Id="rId33" Type="http://schemas.openxmlformats.org/officeDocument/2006/relationships/tags" Target="../tags/tag134.xml"/><Relationship Id="rId38" Type="http://schemas.openxmlformats.org/officeDocument/2006/relationships/tags" Target="../tags/tag139.xml"/><Relationship Id="rId46" Type="http://schemas.openxmlformats.org/officeDocument/2006/relationships/tags" Target="../tags/tag147.xml"/><Relationship Id="rId59" Type="http://schemas.openxmlformats.org/officeDocument/2006/relationships/tags" Target="../tags/tag160.xml"/><Relationship Id="rId67" Type="http://schemas.openxmlformats.org/officeDocument/2006/relationships/tags" Target="../tags/tag168.xml"/><Relationship Id="rId20" Type="http://schemas.openxmlformats.org/officeDocument/2006/relationships/tags" Target="../tags/tag121.xml"/><Relationship Id="rId41" Type="http://schemas.openxmlformats.org/officeDocument/2006/relationships/tags" Target="../tags/tag142.xml"/><Relationship Id="rId54" Type="http://schemas.openxmlformats.org/officeDocument/2006/relationships/tags" Target="../tags/tag155.xml"/><Relationship Id="rId62" Type="http://schemas.openxmlformats.org/officeDocument/2006/relationships/tags" Target="../tags/tag163.xml"/><Relationship Id="rId70" Type="http://schemas.openxmlformats.org/officeDocument/2006/relationships/tags" Target="../tags/tag171.xml"/><Relationship Id="rId75" Type="http://schemas.openxmlformats.org/officeDocument/2006/relationships/tags" Target="../tags/tag176.xml"/><Relationship Id="rId83" Type="http://schemas.openxmlformats.org/officeDocument/2006/relationships/tags" Target="../tags/tag184.xml"/><Relationship Id="rId88" Type="http://schemas.openxmlformats.org/officeDocument/2006/relationships/tags" Target="../tags/tag189.xml"/><Relationship Id="rId91" Type="http://schemas.openxmlformats.org/officeDocument/2006/relationships/tags" Target="../tags/tag192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5" Type="http://schemas.openxmlformats.org/officeDocument/2006/relationships/tags" Target="../tags/tag116.xml"/><Relationship Id="rId23" Type="http://schemas.openxmlformats.org/officeDocument/2006/relationships/tags" Target="../tags/tag124.xml"/><Relationship Id="rId28" Type="http://schemas.openxmlformats.org/officeDocument/2006/relationships/tags" Target="../tags/tag129.xml"/><Relationship Id="rId36" Type="http://schemas.openxmlformats.org/officeDocument/2006/relationships/tags" Target="../tags/tag137.xml"/><Relationship Id="rId49" Type="http://schemas.openxmlformats.org/officeDocument/2006/relationships/tags" Target="../tags/tag150.xml"/><Relationship Id="rId57" Type="http://schemas.openxmlformats.org/officeDocument/2006/relationships/tags" Target="../tags/tag158.xml"/><Relationship Id="rId10" Type="http://schemas.openxmlformats.org/officeDocument/2006/relationships/tags" Target="../tags/tag111.xml"/><Relationship Id="rId31" Type="http://schemas.openxmlformats.org/officeDocument/2006/relationships/tags" Target="../tags/tag132.xml"/><Relationship Id="rId44" Type="http://schemas.openxmlformats.org/officeDocument/2006/relationships/tags" Target="../tags/tag145.xml"/><Relationship Id="rId52" Type="http://schemas.openxmlformats.org/officeDocument/2006/relationships/tags" Target="../tags/tag153.xml"/><Relationship Id="rId60" Type="http://schemas.openxmlformats.org/officeDocument/2006/relationships/tags" Target="../tags/tag161.xml"/><Relationship Id="rId65" Type="http://schemas.openxmlformats.org/officeDocument/2006/relationships/tags" Target="../tags/tag166.xml"/><Relationship Id="rId73" Type="http://schemas.openxmlformats.org/officeDocument/2006/relationships/tags" Target="../tags/tag174.xml"/><Relationship Id="rId78" Type="http://schemas.openxmlformats.org/officeDocument/2006/relationships/tags" Target="../tags/tag179.xml"/><Relationship Id="rId81" Type="http://schemas.openxmlformats.org/officeDocument/2006/relationships/tags" Target="../tags/tag182.xml"/><Relationship Id="rId86" Type="http://schemas.openxmlformats.org/officeDocument/2006/relationships/tags" Target="../tags/tag187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3" Type="http://schemas.openxmlformats.org/officeDocument/2006/relationships/tags" Target="../tags/tag114.xml"/><Relationship Id="rId18" Type="http://schemas.openxmlformats.org/officeDocument/2006/relationships/tags" Target="../tags/tag119.xml"/><Relationship Id="rId39" Type="http://schemas.openxmlformats.org/officeDocument/2006/relationships/tags" Target="../tags/tag140.xml"/><Relationship Id="rId34" Type="http://schemas.openxmlformats.org/officeDocument/2006/relationships/tags" Target="../tags/tag135.xml"/><Relationship Id="rId50" Type="http://schemas.openxmlformats.org/officeDocument/2006/relationships/tags" Target="../tags/tag151.xml"/><Relationship Id="rId55" Type="http://schemas.openxmlformats.org/officeDocument/2006/relationships/tags" Target="../tags/tag156.xml"/><Relationship Id="rId76" Type="http://schemas.openxmlformats.org/officeDocument/2006/relationships/tags" Target="../tags/tag177.xml"/><Relationship Id="rId7" Type="http://schemas.openxmlformats.org/officeDocument/2006/relationships/tags" Target="../tags/tag108.xml"/><Relationship Id="rId71" Type="http://schemas.openxmlformats.org/officeDocument/2006/relationships/tags" Target="../tags/tag172.xml"/><Relationship Id="rId92" Type="http://schemas.openxmlformats.org/officeDocument/2006/relationships/tags" Target="../tags/tag193.xml"/><Relationship Id="rId2" Type="http://schemas.openxmlformats.org/officeDocument/2006/relationships/tags" Target="../tags/tag103.xml"/><Relationship Id="rId29" Type="http://schemas.openxmlformats.org/officeDocument/2006/relationships/tags" Target="../tags/tag130.xml"/><Relationship Id="rId24" Type="http://schemas.openxmlformats.org/officeDocument/2006/relationships/tags" Target="../tags/tag125.xml"/><Relationship Id="rId40" Type="http://schemas.openxmlformats.org/officeDocument/2006/relationships/tags" Target="../tags/tag141.xml"/><Relationship Id="rId45" Type="http://schemas.openxmlformats.org/officeDocument/2006/relationships/tags" Target="../tags/tag146.xml"/><Relationship Id="rId66" Type="http://schemas.openxmlformats.org/officeDocument/2006/relationships/tags" Target="../tags/tag167.xml"/><Relationship Id="rId87" Type="http://schemas.openxmlformats.org/officeDocument/2006/relationships/tags" Target="../tags/tag188.xml"/><Relationship Id="rId61" Type="http://schemas.openxmlformats.org/officeDocument/2006/relationships/tags" Target="../tags/tag162.xml"/><Relationship Id="rId82" Type="http://schemas.openxmlformats.org/officeDocument/2006/relationships/tags" Target="../tags/tag183.xml"/><Relationship Id="rId19" Type="http://schemas.openxmlformats.org/officeDocument/2006/relationships/tags" Target="../tags/tag120.xml"/><Relationship Id="rId14" Type="http://schemas.openxmlformats.org/officeDocument/2006/relationships/tags" Target="../tags/tag115.xml"/><Relationship Id="rId30" Type="http://schemas.openxmlformats.org/officeDocument/2006/relationships/tags" Target="../tags/tag131.xml"/><Relationship Id="rId35" Type="http://schemas.openxmlformats.org/officeDocument/2006/relationships/tags" Target="../tags/tag136.xml"/><Relationship Id="rId56" Type="http://schemas.openxmlformats.org/officeDocument/2006/relationships/tags" Target="../tags/tag157.xml"/><Relationship Id="rId77" Type="http://schemas.openxmlformats.org/officeDocument/2006/relationships/tags" Target="../tags/tag1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13" Type="http://schemas.openxmlformats.org/officeDocument/2006/relationships/tags" Target="../tags/tag206.xml"/><Relationship Id="rId18" Type="http://schemas.openxmlformats.org/officeDocument/2006/relationships/tags" Target="../tags/tag211.xml"/><Relationship Id="rId26" Type="http://schemas.openxmlformats.org/officeDocument/2006/relationships/tags" Target="../tags/tag219.xml"/><Relationship Id="rId3" Type="http://schemas.openxmlformats.org/officeDocument/2006/relationships/tags" Target="../tags/tag196.xml"/><Relationship Id="rId21" Type="http://schemas.openxmlformats.org/officeDocument/2006/relationships/tags" Target="../tags/tag214.xml"/><Relationship Id="rId7" Type="http://schemas.openxmlformats.org/officeDocument/2006/relationships/tags" Target="../tags/tag200.xml"/><Relationship Id="rId12" Type="http://schemas.openxmlformats.org/officeDocument/2006/relationships/tags" Target="../tags/tag205.xml"/><Relationship Id="rId17" Type="http://schemas.openxmlformats.org/officeDocument/2006/relationships/tags" Target="../tags/tag210.xml"/><Relationship Id="rId25" Type="http://schemas.openxmlformats.org/officeDocument/2006/relationships/tags" Target="../tags/tag218.xml"/><Relationship Id="rId2" Type="http://schemas.openxmlformats.org/officeDocument/2006/relationships/tags" Target="../tags/tag195.xml"/><Relationship Id="rId16" Type="http://schemas.openxmlformats.org/officeDocument/2006/relationships/tags" Target="../tags/tag209.xml"/><Relationship Id="rId20" Type="http://schemas.openxmlformats.org/officeDocument/2006/relationships/tags" Target="../tags/tag213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tags" Target="../tags/tag204.xml"/><Relationship Id="rId24" Type="http://schemas.openxmlformats.org/officeDocument/2006/relationships/tags" Target="../tags/tag217.xml"/><Relationship Id="rId5" Type="http://schemas.openxmlformats.org/officeDocument/2006/relationships/tags" Target="../tags/tag198.xml"/><Relationship Id="rId15" Type="http://schemas.openxmlformats.org/officeDocument/2006/relationships/tags" Target="../tags/tag208.xml"/><Relationship Id="rId23" Type="http://schemas.openxmlformats.org/officeDocument/2006/relationships/tags" Target="../tags/tag216.xml"/><Relationship Id="rId28" Type="http://schemas.openxmlformats.org/officeDocument/2006/relationships/slideLayout" Target="../slideLayouts/slideLayout6.xml"/><Relationship Id="rId10" Type="http://schemas.openxmlformats.org/officeDocument/2006/relationships/tags" Target="../tags/tag203.xml"/><Relationship Id="rId19" Type="http://schemas.openxmlformats.org/officeDocument/2006/relationships/tags" Target="../tags/tag212.xml"/><Relationship Id="rId4" Type="http://schemas.openxmlformats.org/officeDocument/2006/relationships/tags" Target="../tags/tag197.xml"/><Relationship Id="rId9" Type="http://schemas.openxmlformats.org/officeDocument/2006/relationships/tags" Target="../tags/tag202.xml"/><Relationship Id="rId14" Type="http://schemas.openxmlformats.org/officeDocument/2006/relationships/tags" Target="../tags/tag207.xml"/><Relationship Id="rId22" Type="http://schemas.openxmlformats.org/officeDocument/2006/relationships/tags" Target="../tags/tag215.xml"/><Relationship Id="rId27" Type="http://schemas.openxmlformats.org/officeDocument/2006/relationships/tags" Target="../tags/tag2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13" Type="http://schemas.openxmlformats.org/officeDocument/2006/relationships/tags" Target="../tags/tag233.xml"/><Relationship Id="rId18" Type="http://schemas.openxmlformats.org/officeDocument/2006/relationships/tags" Target="../tags/tag238.xml"/><Relationship Id="rId26" Type="http://schemas.openxmlformats.org/officeDocument/2006/relationships/tags" Target="../tags/tag246.xml"/><Relationship Id="rId3" Type="http://schemas.openxmlformats.org/officeDocument/2006/relationships/tags" Target="../tags/tag223.xml"/><Relationship Id="rId21" Type="http://schemas.openxmlformats.org/officeDocument/2006/relationships/tags" Target="../tags/tag241.xml"/><Relationship Id="rId7" Type="http://schemas.openxmlformats.org/officeDocument/2006/relationships/tags" Target="../tags/tag227.xml"/><Relationship Id="rId12" Type="http://schemas.openxmlformats.org/officeDocument/2006/relationships/tags" Target="../tags/tag232.xml"/><Relationship Id="rId17" Type="http://schemas.openxmlformats.org/officeDocument/2006/relationships/tags" Target="../tags/tag237.xml"/><Relationship Id="rId25" Type="http://schemas.openxmlformats.org/officeDocument/2006/relationships/tags" Target="../tags/tag245.xml"/><Relationship Id="rId2" Type="http://schemas.openxmlformats.org/officeDocument/2006/relationships/tags" Target="../tags/tag222.xml"/><Relationship Id="rId16" Type="http://schemas.openxmlformats.org/officeDocument/2006/relationships/tags" Target="../tags/tag236.xml"/><Relationship Id="rId20" Type="http://schemas.openxmlformats.org/officeDocument/2006/relationships/tags" Target="../tags/tag240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tags" Target="../tags/tag231.xml"/><Relationship Id="rId24" Type="http://schemas.openxmlformats.org/officeDocument/2006/relationships/tags" Target="../tags/tag244.xml"/><Relationship Id="rId5" Type="http://schemas.openxmlformats.org/officeDocument/2006/relationships/tags" Target="../tags/tag225.xml"/><Relationship Id="rId15" Type="http://schemas.openxmlformats.org/officeDocument/2006/relationships/tags" Target="../tags/tag235.xml"/><Relationship Id="rId23" Type="http://schemas.openxmlformats.org/officeDocument/2006/relationships/tags" Target="../tags/tag243.xml"/><Relationship Id="rId28" Type="http://schemas.openxmlformats.org/officeDocument/2006/relationships/slideLayout" Target="../slideLayouts/slideLayout6.xml"/><Relationship Id="rId10" Type="http://schemas.openxmlformats.org/officeDocument/2006/relationships/tags" Target="../tags/tag230.xml"/><Relationship Id="rId19" Type="http://schemas.openxmlformats.org/officeDocument/2006/relationships/tags" Target="../tags/tag239.xml"/><Relationship Id="rId4" Type="http://schemas.openxmlformats.org/officeDocument/2006/relationships/tags" Target="../tags/tag224.xml"/><Relationship Id="rId9" Type="http://schemas.openxmlformats.org/officeDocument/2006/relationships/tags" Target="../tags/tag229.xml"/><Relationship Id="rId14" Type="http://schemas.openxmlformats.org/officeDocument/2006/relationships/tags" Target="../tags/tag234.xml"/><Relationship Id="rId22" Type="http://schemas.openxmlformats.org/officeDocument/2006/relationships/tags" Target="../tags/tag242.xml"/><Relationship Id="rId27" Type="http://schemas.openxmlformats.org/officeDocument/2006/relationships/tags" Target="../tags/tag24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5.xml"/><Relationship Id="rId13" Type="http://schemas.openxmlformats.org/officeDocument/2006/relationships/tags" Target="../tags/tag260.xml"/><Relationship Id="rId18" Type="http://schemas.openxmlformats.org/officeDocument/2006/relationships/tags" Target="../tags/tag265.xml"/><Relationship Id="rId3" Type="http://schemas.openxmlformats.org/officeDocument/2006/relationships/tags" Target="../tags/tag250.xml"/><Relationship Id="rId21" Type="http://schemas.openxmlformats.org/officeDocument/2006/relationships/tags" Target="../tags/tag268.xml"/><Relationship Id="rId7" Type="http://schemas.openxmlformats.org/officeDocument/2006/relationships/tags" Target="../tags/tag254.xml"/><Relationship Id="rId12" Type="http://schemas.openxmlformats.org/officeDocument/2006/relationships/tags" Target="../tags/tag259.xml"/><Relationship Id="rId17" Type="http://schemas.openxmlformats.org/officeDocument/2006/relationships/tags" Target="../tags/tag264.xml"/><Relationship Id="rId2" Type="http://schemas.openxmlformats.org/officeDocument/2006/relationships/tags" Target="../tags/tag249.xml"/><Relationship Id="rId16" Type="http://schemas.openxmlformats.org/officeDocument/2006/relationships/tags" Target="../tags/tag263.xml"/><Relationship Id="rId20" Type="http://schemas.openxmlformats.org/officeDocument/2006/relationships/tags" Target="../tags/tag267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tags" Target="../tags/tag258.xml"/><Relationship Id="rId24" Type="http://schemas.openxmlformats.org/officeDocument/2006/relationships/slideLayout" Target="../slideLayouts/slideLayout6.xml"/><Relationship Id="rId5" Type="http://schemas.openxmlformats.org/officeDocument/2006/relationships/tags" Target="../tags/tag252.xml"/><Relationship Id="rId15" Type="http://schemas.openxmlformats.org/officeDocument/2006/relationships/tags" Target="../tags/tag262.xml"/><Relationship Id="rId23" Type="http://schemas.openxmlformats.org/officeDocument/2006/relationships/tags" Target="../tags/tag270.xml"/><Relationship Id="rId10" Type="http://schemas.openxmlformats.org/officeDocument/2006/relationships/tags" Target="../tags/tag257.xml"/><Relationship Id="rId19" Type="http://schemas.openxmlformats.org/officeDocument/2006/relationships/tags" Target="../tags/tag266.xml"/><Relationship Id="rId4" Type="http://schemas.openxmlformats.org/officeDocument/2006/relationships/tags" Target="../tags/tag251.xml"/><Relationship Id="rId9" Type="http://schemas.openxmlformats.org/officeDocument/2006/relationships/tags" Target="../tags/tag256.xml"/><Relationship Id="rId14" Type="http://schemas.openxmlformats.org/officeDocument/2006/relationships/tags" Target="../tags/tag261.xml"/><Relationship Id="rId22" Type="http://schemas.openxmlformats.org/officeDocument/2006/relationships/tags" Target="../tags/tag26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0225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92C129-4E53-3148-249C-03A0CC55904B}"/>
              </a:ext>
            </a:extLst>
          </p:cNvPr>
          <p:cNvGrpSpPr/>
          <p:nvPr/>
        </p:nvGrpSpPr>
        <p:grpSpPr>
          <a:xfrm>
            <a:off x="609600" y="1781954"/>
            <a:ext cx="14523339" cy="3301324"/>
            <a:chOff x="457200" y="1117420"/>
            <a:chExt cx="12266334" cy="3224810"/>
          </a:xfrm>
        </p:grpSpPr>
        <p:sp>
          <p:nvSpPr>
            <p:cNvPr id="11" name="Title 1"/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457200" y="1117420"/>
              <a:ext cx="9525000" cy="78875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4000" b="1" dirty="0">
                  <a:solidFill>
                    <a:schemeClr val="accent6"/>
                  </a:solidFill>
                </a:rPr>
                <a:t>Luxury Housing Market Analysis – Bengaluru Region</a:t>
              </a:r>
              <a:endParaRPr lang="en-GB" sz="4000" dirty="0">
                <a:solidFill>
                  <a:schemeClr val="accent6"/>
                </a:solidFill>
              </a:endParaRPr>
            </a:p>
          </p:txBody>
        </p:sp>
        <p:sp>
          <p:nvSpPr>
            <p:cNvPr id="12" name="Rectangle 11"/>
            <p:cNvSpPr/>
            <p:nvPr>
              <p:custDataLst>
                <p:tags r:id="rId2"/>
              </p:custDataLst>
            </p:nvPr>
          </p:nvSpPr>
          <p:spPr>
            <a:xfrm>
              <a:off x="568898" y="2628900"/>
              <a:ext cx="9525000" cy="6096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2500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End-to-End  Data Analysis  using Python, MySQL, and Power BI</a:t>
              </a:r>
            </a:p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2500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Analyzing Developer Trends, Pricing, and Buyer Segmentation</a:t>
              </a:r>
              <a:endParaRPr sz="2500" dirty="0">
                <a:solidFill>
                  <a:srgbClr val="FFFFFF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13" name="Rectangle 12"/>
            <p:cNvSpPr/>
            <p:nvPr>
              <p:custDataLst>
                <p:tags r:id="rId3"/>
              </p:custDataLst>
            </p:nvPr>
          </p:nvSpPr>
          <p:spPr>
            <a:xfrm>
              <a:off x="7755731" y="3961230"/>
              <a:ext cx="4967803" cy="381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2500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Presented by:</a:t>
              </a:r>
            </a:p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2500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Shashwath </a:t>
              </a:r>
              <a:r>
                <a:rPr lang="en-GB" sz="2500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E P</a:t>
              </a:r>
            </a:p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US" sz="2500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AIML-S-WE-T-B32</a:t>
              </a:r>
            </a:p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endParaRPr sz="1600" dirty="0">
                <a:solidFill>
                  <a:srgbClr val="FFFFFF"/>
                </a:solidFill>
                <a:latin typeface="+mn-lt"/>
                <a:ea typeface="+mn-ea"/>
                <a:cs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5837C-E8DB-9DC7-3DC5-272731FE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9E4D75-927A-25DC-5AE4-768D08EF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5472683" cy="609600"/>
          </a:xfrm>
        </p:spPr>
        <p:txBody>
          <a:bodyPr>
            <a:normAutofit fontScale="90000"/>
          </a:bodyPr>
          <a:lstStyle/>
          <a:p>
            <a:r>
              <a:rPr lang="en-GB" dirty="0"/>
              <a:t>Statement &amp; Approach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9B81FB-4B5B-51B7-8725-4ADB8AF19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714419"/>
            <a:ext cx="4648200" cy="4152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</a:rPr>
              <a:t>Problem Statement</a:t>
            </a:r>
          </a:p>
          <a:p>
            <a:endParaRPr lang="en-GB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complete real estate analytics solution using Python for advanced data cleaning, load the refined dataset into a SQL database, and use Power BI to directly connect to SQL and build a dashboard. The goal is to replicate a real-world enterprise-level data pipeline and analysis environment using a complex housing dataset with 1,00,000+ records.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9FDD56A-6551-36C8-031D-A8D71FB91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0400" y="1714417"/>
            <a:ext cx="4419600" cy="41529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Project Background</a:t>
            </a:r>
            <a:endParaRPr lang="en-GB" dirty="0"/>
          </a:p>
          <a:p>
            <a:pPr marL="0" indent="0">
              <a:buNone/>
            </a:pPr>
            <a:endParaRPr lang="en-GB" sz="1700" dirty="0"/>
          </a:p>
          <a:p>
            <a:pPr marL="0" indent="0">
              <a:buNone/>
            </a:pPr>
            <a:r>
              <a:rPr lang="en-US" dirty="0"/>
              <a:t>The luxury housing market in Bengaluru generates large datasets</a:t>
            </a:r>
          </a:p>
          <a:p>
            <a:pPr marL="0" indent="0">
              <a:buNone/>
            </a:pPr>
            <a:r>
              <a:rPr lang="en-US" dirty="0"/>
              <a:t>Understanding pricing, demand, and buyer types is important</a:t>
            </a:r>
          </a:p>
          <a:p>
            <a:pPr marL="0" indent="0">
              <a:buNone/>
            </a:pPr>
            <a:r>
              <a:rPr lang="en-US" dirty="0"/>
              <a:t>This project analyzes housing data to: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Study developer performance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Identify high-demand configurations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Analyze buyer segmentation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 geographic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8623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3EECB2F7-6A8F-979B-5738-2F4FD45A1489}"/>
              </a:ext>
            </a:extLst>
          </p:cNvPr>
          <p:cNvGrpSpPr/>
          <p:nvPr/>
        </p:nvGrpSpPr>
        <p:grpSpPr>
          <a:xfrm>
            <a:off x="381000" y="275008"/>
            <a:ext cx="11429400" cy="5973392"/>
            <a:chOff x="381000" y="275008"/>
            <a:chExt cx="11429400" cy="5973392"/>
          </a:xfrm>
        </p:grpSpPr>
        <p:sp>
          <p:nvSpPr>
            <p:cNvPr id="56" name="Title 1"/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381000" y="275008"/>
              <a:ext cx="11429400" cy="78875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Project Overview</a:t>
              </a:r>
            </a:p>
          </p:txBody>
        </p:sp>
        <p:grpSp>
          <p:nvGrpSpPr>
            <p:cNvPr id="57" name="Group 56"/>
            <p:cNvGrpSpPr/>
            <p:nvPr>
              <p:custDataLst>
                <p:tags r:id="rId2"/>
              </p:custDataLst>
            </p:nvPr>
          </p:nvGrpSpPr>
          <p:grpSpPr>
            <a:xfrm>
              <a:off x="2019386" y="1524086"/>
              <a:ext cx="685629" cy="685629"/>
              <a:chOff x="1384386" y="889086"/>
              <a:chExt cx="685629" cy="685629"/>
            </a:xfrm>
          </p:grpSpPr>
          <p:sp>
            <p:nvSpPr>
              <p:cNvPr id="58" name="New shape"/>
              <p:cNvSpPr/>
              <p:nvPr>
                <p:custDataLst>
                  <p:tags r:id="rId23"/>
                </p:custDataLst>
              </p:nvPr>
            </p:nvSpPr>
            <p:spPr>
              <a:xfrm>
                <a:off x="1467475" y="1371054"/>
                <a:ext cx="519421" cy="128527"/>
              </a:xfrm>
              <a:custGeom>
                <a:avLst/>
                <a:gdLst/>
                <a:ahLst/>
                <a:cxnLst/>
                <a:rect l="l" t="t" r="r" b="b"/>
                <a:pathLst>
                  <a:path w="519419" h="128526">
                    <a:moveTo>
                      <a:pt x="498651" y="0"/>
                    </a:moveTo>
                    <a:lnTo>
                      <a:pt x="20783" y="0"/>
                    </a:lnTo>
                    <a:cubicBezTo>
                      <a:pt x="9294" y="15"/>
                      <a:pt x="-7" y="9337"/>
                      <a:pt x="0" y="20826"/>
                    </a:cubicBezTo>
                    <a:lnTo>
                      <a:pt x="0" y="107800"/>
                    </a:lnTo>
                    <a:cubicBezTo>
                      <a:pt x="47" y="119250"/>
                      <a:pt x="9333" y="128511"/>
                      <a:pt x="20783" y="128526"/>
                    </a:cubicBezTo>
                    <a:lnTo>
                      <a:pt x="498651" y="128526"/>
                    </a:lnTo>
                    <a:cubicBezTo>
                      <a:pt x="510121" y="128510"/>
                      <a:pt x="519412" y="119213"/>
                      <a:pt x="519420" y="107743"/>
                    </a:cubicBezTo>
                    <a:lnTo>
                      <a:pt x="519420" y="107743"/>
                    </a:lnTo>
                    <a:lnTo>
                      <a:pt x="519420" y="20826"/>
                    </a:lnTo>
                    <a:cubicBezTo>
                      <a:pt x="519428" y="15310"/>
                      <a:pt x="517244" y="10017"/>
                      <a:pt x="513349" y="6111"/>
                    </a:cubicBezTo>
                    <a:cubicBezTo>
                      <a:pt x="509454" y="2205"/>
                      <a:pt x="504167" y="7"/>
                      <a:pt x="498651" y="0"/>
                    </a:cubicBezTo>
                    <a:close/>
                    <a:moveTo>
                      <a:pt x="20783" y="107743"/>
                    </a:moveTo>
                    <a:lnTo>
                      <a:pt x="20783" y="20826"/>
                    </a:lnTo>
                    <a:lnTo>
                      <a:pt x="498651" y="20826"/>
                    </a:lnTo>
                    <a:lnTo>
                      <a:pt x="498651" y="107800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59" name="New shape"/>
              <p:cNvSpPr/>
              <p:nvPr>
                <p:custDataLst>
                  <p:tags r:id="rId24"/>
                </p:custDataLst>
              </p:nvPr>
            </p:nvSpPr>
            <p:spPr>
              <a:xfrm>
                <a:off x="1384386" y="889086"/>
                <a:ext cx="685629" cy="685629"/>
              </a:xfrm>
              <a:custGeom>
                <a:avLst/>
                <a:gdLst/>
                <a:ahLst/>
                <a:cxnLst/>
                <a:rect l="l" t="t" r="r" b="b"/>
                <a:pathLst>
                  <a:path w="685628" h="685628">
                    <a:moveTo>
                      <a:pt x="675229" y="0"/>
                    </a:moveTo>
                    <a:lnTo>
                      <a:pt x="10384" y="0"/>
                    </a:lnTo>
                    <a:cubicBezTo>
                      <a:pt x="7627" y="0"/>
                      <a:pt x="4984" y="1096"/>
                      <a:pt x="3036" y="3046"/>
                    </a:cubicBezTo>
                    <a:cubicBezTo>
                      <a:pt x="1088" y="4997"/>
                      <a:pt x="-3" y="7642"/>
                      <a:pt x="0" y="10398"/>
                    </a:cubicBezTo>
                    <a:lnTo>
                      <a:pt x="0" y="10398"/>
                    </a:lnTo>
                    <a:cubicBezTo>
                      <a:pt x="428" y="66877"/>
                      <a:pt x="-314" y="603981"/>
                      <a:pt x="0" y="675229"/>
                    </a:cubicBezTo>
                    <a:cubicBezTo>
                      <a:pt x="-3" y="677986"/>
                      <a:pt x="1088" y="680631"/>
                      <a:pt x="3036" y="682581"/>
                    </a:cubicBezTo>
                    <a:cubicBezTo>
                      <a:pt x="4984" y="684532"/>
                      <a:pt x="7627" y="685628"/>
                      <a:pt x="10384" y="685628"/>
                    </a:cubicBezTo>
                    <a:lnTo>
                      <a:pt x="675229" y="685628"/>
                    </a:lnTo>
                    <a:cubicBezTo>
                      <a:pt x="677986" y="685632"/>
                      <a:pt x="680631" y="684539"/>
                      <a:pt x="682582" y="682592"/>
                    </a:cubicBezTo>
                    <a:cubicBezTo>
                      <a:pt x="684532" y="680644"/>
                      <a:pt x="685628" y="678000"/>
                      <a:pt x="685628" y="675244"/>
                    </a:cubicBezTo>
                    <a:cubicBezTo>
                      <a:pt x="685900" y="601067"/>
                      <a:pt x="685414" y="69677"/>
                      <a:pt x="685628" y="10384"/>
                    </a:cubicBezTo>
                    <a:cubicBezTo>
                      <a:pt x="685628" y="7627"/>
                      <a:pt x="684532" y="4984"/>
                      <a:pt x="682582" y="3036"/>
                    </a:cubicBezTo>
                    <a:cubicBezTo>
                      <a:pt x="680631" y="1088"/>
                      <a:pt x="677986" y="-3"/>
                      <a:pt x="675229" y="0"/>
                    </a:cubicBezTo>
                    <a:close/>
                    <a:moveTo>
                      <a:pt x="20768" y="20783"/>
                    </a:moveTo>
                    <a:lnTo>
                      <a:pt x="664845" y="20783"/>
                    </a:lnTo>
                    <a:lnTo>
                      <a:pt x="664845" y="103886"/>
                    </a:lnTo>
                    <a:lnTo>
                      <a:pt x="20768" y="103886"/>
                    </a:lnTo>
                    <a:close/>
                    <a:moveTo>
                      <a:pt x="664845" y="664859"/>
                    </a:moveTo>
                    <a:lnTo>
                      <a:pt x="20768" y="664859"/>
                    </a:lnTo>
                    <a:lnTo>
                      <a:pt x="20768" y="124670"/>
                    </a:lnTo>
                    <a:lnTo>
                      <a:pt x="664845" y="124670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0" name="New shape"/>
              <p:cNvSpPr/>
              <p:nvPr>
                <p:custDataLst>
                  <p:tags r:id="rId25"/>
                </p:custDataLst>
              </p:nvPr>
            </p:nvSpPr>
            <p:spPr>
              <a:xfrm>
                <a:off x="1997781" y="944093"/>
                <a:ext cx="14655" cy="14642"/>
              </a:xfrm>
              <a:custGeom>
                <a:avLst/>
                <a:gdLst/>
                <a:ahLst/>
                <a:cxnLst/>
                <a:rect l="l" t="t" r="r" b="b"/>
                <a:pathLst>
                  <a:path w="14654" h="14642">
                    <a:moveTo>
                      <a:pt x="0" y="0"/>
                    </a:moveTo>
                    <a:cubicBezTo>
                      <a:pt x="-4040" y="4045"/>
                      <a:pt x="-4037" y="10600"/>
                      <a:pt x="6" y="14642"/>
                    </a:cubicBezTo>
                    <a:cubicBezTo>
                      <a:pt x="4050" y="18684"/>
                      <a:pt x="10604" y="18684"/>
                      <a:pt x="14648" y="14642"/>
                    </a:cubicBezTo>
                    <a:cubicBezTo>
                      <a:pt x="18692" y="10600"/>
                      <a:pt x="18695" y="4045"/>
                      <a:pt x="14655" y="0"/>
                    </a:cubicBezTo>
                    <a:cubicBezTo>
                      <a:pt x="10525" y="-3842"/>
                      <a:pt x="4129" y="-3842"/>
                      <a:pt x="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1" name="New shape"/>
              <p:cNvSpPr/>
              <p:nvPr>
                <p:custDataLst>
                  <p:tags r:id="rId26"/>
                </p:custDataLst>
              </p:nvPr>
            </p:nvSpPr>
            <p:spPr>
              <a:xfrm>
                <a:off x="1937902" y="941079"/>
                <a:ext cx="20027" cy="20783"/>
              </a:xfrm>
              <a:custGeom>
                <a:avLst/>
                <a:gdLst/>
                <a:ahLst/>
                <a:cxnLst/>
                <a:rect l="l" t="t" r="r" b="b"/>
                <a:pathLst>
                  <a:path w="20026" h="20783">
                    <a:moveTo>
                      <a:pt x="10013" y="0"/>
                    </a:moveTo>
                    <a:cubicBezTo>
                      <a:pt x="4423" y="207"/>
                      <a:pt x="0" y="4798"/>
                      <a:pt x="0" y="10391"/>
                    </a:cubicBezTo>
                    <a:cubicBezTo>
                      <a:pt x="0" y="15984"/>
                      <a:pt x="4423" y="20575"/>
                      <a:pt x="10013" y="20783"/>
                    </a:cubicBezTo>
                    <a:cubicBezTo>
                      <a:pt x="15602" y="20575"/>
                      <a:pt x="20026" y="15984"/>
                      <a:pt x="20026" y="10391"/>
                    </a:cubicBezTo>
                    <a:cubicBezTo>
                      <a:pt x="20026" y="4798"/>
                      <a:pt x="15602" y="207"/>
                      <a:pt x="10013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2" name="New shape"/>
              <p:cNvSpPr/>
              <p:nvPr>
                <p:custDataLst>
                  <p:tags r:id="rId27"/>
                </p:custDataLst>
              </p:nvPr>
            </p:nvSpPr>
            <p:spPr>
              <a:xfrm>
                <a:off x="1883409" y="944093"/>
                <a:ext cx="14755" cy="14655"/>
              </a:xfrm>
              <a:custGeom>
                <a:avLst/>
                <a:gdLst/>
                <a:ahLst/>
                <a:cxnLst/>
                <a:rect l="l" t="t" r="r" b="b"/>
                <a:pathLst>
                  <a:path w="14754" h="14654">
                    <a:moveTo>
                      <a:pt x="0" y="0"/>
                    </a:moveTo>
                    <a:cubicBezTo>
                      <a:pt x="-3958" y="4083"/>
                      <a:pt x="-3958" y="10572"/>
                      <a:pt x="0" y="14655"/>
                    </a:cubicBezTo>
                    <a:cubicBezTo>
                      <a:pt x="4057" y="18667"/>
                      <a:pt x="10590" y="18660"/>
                      <a:pt x="14639" y="14639"/>
                    </a:cubicBezTo>
                    <a:cubicBezTo>
                      <a:pt x="18688" y="10617"/>
                      <a:pt x="18740" y="4084"/>
                      <a:pt x="14755" y="0"/>
                    </a:cubicBezTo>
                    <a:cubicBezTo>
                      <a:pt x="10632" y="-3956"/>
                      <a:pt x="4123" y="-3956"/>
                      <a:pt x="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3" name="New shape"/>
              <p:cNvSpPr/>
              <p:nvPr>
                <p:custDataLst>
                  <p:tags r:id="rId28"/>
                </p:custDataLst>
              </p:nvPr>
            </p:nvSpPr>
            <p:spPr>
              <a:xfrm>
                <a:off x="1537995" y="1427990"/>
                <a:ext cx="14755" cy="17715"/>
              </a:xfrm>
              <a:custGeom>
                <a:avLst/>
                <a:gdLst/>
                <a:ahLst/>
                <a:cxnLst/>
                <a:rect l="l" t="t" r="r" b="b"/>
                <a:pathLst>
                  <a:path w="14754" h="17715">
                    <a:moveTo>
                      <a:pt x="0" y="0"/>
                    </a:moveTo>
                    <a:cubicBezTo>
                      <a:pt x="-3998" y="4077"/>
                      <a:pt x="-3953" y="10618"/>
                      <a:pt x="99" y="14641"/>
                    </a:cubicBezTo>
                    <a:lnTo>
                      <a:pt x="99" y="14641"/>
                    </a:lnTo>
                    <a:cubicBezTo>
                      <a:pt x="2031" y="16607"/>
                      <a:pt x="4671" y="17715"/>
                      <a:pt x="7427" y="17715"/>
                    </a:cubicBezTo>
                    <a:cubicBezTo>
                      <a:pt x="10183" y="17715"/>
                      <a:pt x="12824" y="16607"/>
                      <a:pt x="14755" y="14641"/>
                    </a:cubicBezTo>
                    <a:cubicBezTo>
                      <a:pt x="18576" y="10531"/>
                      <a:pt x="18448" y="4130"/>
                      <a:pt x="14464" y="178"/>
                    </a:cubicBezTo>
                    <a:cubicBezTo>
                      <a:pt x="10481" y="-3774"/>
                      <a:pt x="4079" y="-3853"/>
                      <a:pt x="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4" name="New shape"/>
              <p:cNvSpPr/>
              <p:nvPr>
                <p:custDataLst>
                  <p:tags r:id="rId29"/>
                </p:custDataLst>
              </p:nvPr>
            </p:nvSpPr>
            <p:spPr>
              <a:xfrm>
                <a:off x="1716734" y="1424976"/>
                <a:ext cx="20761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20760" h="20768">
                    <a:moveTo>
                      <a:pt x="10380" y="0"/>
                    </a:move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cubicBezTo>
                      <a:pt x="16113" y="20766"/>
                      <a:pt x="20760" y="16118"/>
                      <a:pt x="20760" y="10384"/>
                    </a:cubicBezTo>
                    <a:cubicBezTo>
                      <a:pt x="20760" y="4650"/>
                      <a:pt x="16113" y="2"/>
                      <a:pt x="1038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5" name="New shape"/>
              <p:cNvSpPr/>
              <p:nvPr>
                <p:custDataLst>
                  <p:tags r:id="rId30"/>
                </p:custDataLst>
              </p:nvPr>
            </p:nvSpPr>
            <p:spPr>
              <a:xfrm>
                <a:off x="1595663" y="1424976"/>
                <a:ext cx="20761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20760" h="20768">
                    <a:moveTo>
                      <a:pt x="10380" y="0"/>
                    </a:move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cubicBezTo>
                      <a:pt x="16114" y="20766"/>
                      <a:pt x="20760" y="16118"/>
                      <a:pt x="20760" y="10384"/>
                    </a:cubicBezTo>
                    <a:cubicBezTo>
                      <a:pt x="20760" y="4650"/>
                      <a:pt x="16114" y="2"/>
                      <a:pt x="1038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6" name="New shape"/>
              <p:cNvSpPr/>
              <p:nvPr>
                <p:custDataLst>
                  <p:tags r:id="rId31"/>
                </p:custDataLst>
              </p:nvPr>
            </p:nvSpPr>
            <p:spPr>
              <a:xfrm>
                <a:off x="1656227" y="1424976"/>
                <a:ext cx="20761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20760" h="20768">
                    <a:moveTo>
                      <a:pt x="10380" y="0"/>
                    </a:move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cubicBezTo>
                      <a:pt x="16113" y="20766"/>
                      <a:pt x="20760" y="16118"/>
                      <a:pt x="20760" y="10384"/>
                    </a:cubicBezTo>
                    <a:cubicBezTo>
                      <a:pt x="20760" y="4650"/>
                      <a:pt x="16113" y="2"/>
                      <a:pt x="1038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7" name="New shape"/>
              <p:cNvSpPr/>
              <p:nvPr>
                <p:custDataLst>
                  <p:tags r:id="rId32"/>
                </p:custDataLst>
              </p:nvPr>
            </p:nvSpPr>
            <p:spPr>
              <a:xfrm>
                <a:off x="1777455" y="1424976"/>
                <a:ext cx="20761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20760" h="20768">
                    <a:moveTo>
                      <a:pt x="10380" y="0"/>
                    </a:move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cubicBezTo>
                      <a:pt x="16114" y="20766"/>
                      <a:pt x="20760" y="16118"/>
                      <a:pt x="20760" y="10384"/>
                    </a:cubicBezTo>
                    <a:cubicBezTo>
                      <a:pt x="20760" y="4650"/>
                      <a:pt x="16114" y="2"/>
                      <a:pt x="1038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8" name="New shape"/>
              <p:cNvSpPr/>
              <p:nvPr>
                <p:custDataLst>
                  <p:tags r:id="rId33"/>
                </p:custDataLst>
              </p:nvPr>
            </p:nvSpPr>
            <p:spPr>
              <a:xfrm>
                <a:off x="1838019" y="1424976"/>
                <a:ext cx="20761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20760" h="20768">
                    <a:moveTo>
                      <a:pt x="10380" y="0"/>
                    </a:move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cubicBezTo>
                      <a:pt x="16113" y="20766"/>
                      <a:pt x="20760" y="16118"/>
                      <a:pt x="20760" y="10384"/>
                    </a:cubicBezTo>
                    <a:cubicBezTo>
                      <a:pt x="20760" y="4650"/>
                      <a:pt x="16113" y="2"/>
                      <a:pt x="10380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9" name="New shape"/>
              <p:cNvSpPr/>
              <p:nvPr>
                <p:custDataLst>
                  <p:tags r:id="rId34"/>
                </p:custDataLst>
              </p:nvPr>
            </p:nvSpPr>
            <p:spPr>
              <a:xfrm>
                <a:off x="1901593" y="1425286"/>
                <a:ext cx="17449" cy="17452"/>
              </a:xfrm>
              <a:custGeom>
                <a:avLst/>
                <a:gdLst/>
                <a:ahLst/>
                <a:cxnLst/>
                <a:rect l="l" t="t" r="r" b="b"/>
                <a:pathLst>
                  <a:path w="17449" h="17452">
                    <a:moveTo>
                      <a:pt x="0" y="2703"/>
                    </a:moveTo>
                    <a:cubicBezTo>
                      <a:pt x="-4070" y="6778"/>
                      <a:pt x="-4067" y="13381"/>
                      <a:pt x="6" y="17452"/>
                    </a:cubicBezTo>
                    <a:cubicBezTo>
                      <a:pt x="4081" y="21522"/>
                      <a:pt x="10684" y="21519"/>
                      <a:pt x="14755" y="17445"/>
                    </a:cubicBezTo>
                    <a:cubicBezTo>
                      <a:pt x="17388" y="14809"/>
                      <a:pt x="18415" y="10968"/>
                      <a:pt x="17449" y="7370"/>
                    </a:cubicBezTo>
                    <a:cubicBezTo>
                      <a:pt x="16483" y="3772"/>
                      <a:pt x="13671" y="962"/>
                      <a:pt x="10071" y="0"/>
                    </a:cubicBezTo>
                    <a:cubicBezTo>
                      <a:pt x="6472" y="-962"/>
                      <a:pt x="2633" y="68"/>
                      <a:pt x="0" y="2704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0" name="New shape"/>
              <p:cNvSpPr/>
              <p:nvPr>
                <p:custDataLst>
                  <p:tags r:id="rId35"/>
                </p:custDataLst>
              </p:nvPr>
            </p:nvSpPr>
            <p:spPr>
              <a:xfrm>
                <a:off x="1461433" y="1059409"/>
                <a:ext cx="531605" cy="268977"/>
              </a:xfrm>
              <a:custGeom>
                <a:avLst/>
                <a:gdLst/>
                <a:ahLst/>
                <a:cxnLst/>
                <a:rect l="l" t="t" r="r" b="b"/>
                <a:pathLst>
                  <a:path w="531604" h="268977">
                    <a:moveTo>
                      <a:pt x="44794" y="202158"/>
                    </a:moveTo>
                    <a:lnTo>
                      <a:pt x="149067" y="202158"/>
                    </a:lnTo>
                    <a:cubicBezTo>
                      <a:pt x="173351" y="243550"/>
                      <a:pt x="217748" y="268977"/>
                      <a:pt x="265738" y="268977"/>
                    </a:cubicBezTo>
                    <a:cubicBezTo>
                      <a:pt x="313727" y="268977"/>
                      <a:pt x="358125" y="243550"/>
                      <a:pt x="382409" y="202158"/>
                    </a:cubicBezTo>
                    <a:lnTo>
                      <a:pt x="382409" y="202158"/>
                    </a:lnTo>
                    <a:lnTo>
                      <a:pt x="389422" y="202158"/>
                    </a:lnTo>
                    <a:cubicBezTo>
                      <a:pt x="394587" y="202134"/>
                      <a:pt x="398935" y="198287"/>
                      <a:pt x="399589" y="193164"/>
                    </a:cubicBezTo>
                    <a:cubicBezTo>
                      <a:pt x="400243" y="188041"/>
                      <a:pt x="397001" y="183225"/>
                      <a:pt x="392008" y="181904"/>
                    </a:cubicBezTo>
                    <a:cubicBezTo>
                      <a:pt x="403520" y="151512"/>
                      <a:pt x="403592" y="117971"/>
                      <a:pt x="392208" y="87530"/>
                    </a:cubicBezTo>
                    <a:lnTo>
                      <a:pt x="486753" y="87530"/>
                    </a:lnTo>
                    <a:lnTo>
                      <a:pt x="486753" y="103057"/>
                    </a:lnTo>
                    <a:lnTo>
                      <a:pt x="531604" y="77146"/>
                    </a:lnTo>
                    <a:lnTo>
                      <a:pt x="486753" y="51263"/>
                    </a:lnTo>
                    <a:lnTo>
                      <a:pt x="486753" y="66790"/>
                    </a:lnTo>
                    <a:lnTo>
                      <a:pt x="382480" y="66790"/>
                    </a:lnTo>
                    <a:cubicBezTo>
                      <a:pt x="358185" y="25413"/>
                      <a:pt x="313792" y="0"/>
                      <a:pt x="265809" y="0"/>
                    </a:cubicBezTo>
                    <a:cubicBezTo>
                      <a:pt x="217827" y="0"/>
                      <a:pt x="173434" y="25413"/>
                      <a:pt x="149138" y="66790"/>
                    </a:cubicBezTo>
                    <a:lnTo>
                      <a:pt x="149138" y="66790"/>
                    </a:lnTo>
                    <a:lnTo>
                      <a:pt x="142182" y="66790"/>
                    </a:lnTo>
                    <a:cubicBezTo>
                      <a:pt x="137027" y="66812"/>
                      <a:pt x="132683" y="70643"/>
                      <a:pt x="132015" y="75755"/>
                    </a:cubicBezTo>
                    <a:cubicBezTo>
                      <a:pt x="131348" y="80867"/>
                      <a:pt x="134563" y="85685"/>
                      <a:pt x="139539" y="87030"/>
                    </a:cubicBezTo>
                    <a:cubicBezTo>
                      <a:pt x="128027" y="117427"/>
                      <a:pt x="127956" y="150973"/>
                      <a:pt x="139339" y="181418"/>
                    </a:cubicBezTo>
                    <a:lnTo>
                      <a:pt x="44794" y="181418"/>
                    </a:lnTo>
                    <a:lnTo>
                      <a:pt x="44794" y="165877"/>
                    </a:lnTo>
                    <a:lnTo>
                      <a:pt x="0" y="191788"/>
                    </a:lnTo>
                    <a:lnTo>
                      <a:pt x="44851" y="217671"/>
                    </a:lnTo>
                    <a:close/>
                    <a:moveTo>
                      <a:pt x="265681" y="20210"/>
                    </a:moveTo>
                    <a:cubicBezTo>
                      <a:pt x="328765" y="20273"/>
                      <a:pt x="379889" y="71397"/>
                      <a:pt x="379952" y="134481"/>
                    </a:cubicBezTo>
                    <a:cubicBezTo>
                      <a:pt x="373667" y="286077"/>
                      <a:pt x="157665" y="286034"/>
                      <a:pt x="151409" y="134481"/>
                    </a:cubicBezTo>
                    <a:cubicBezTo>
                      <a:pt x="151472" y="71397"/>
                      <a:pt x="202596" y="20273"/>
                      <a:pt x="265681" y="2021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1" name="New shape"/>
              <p:cNvSpPr/>
              <p:nvPr>
                <p:custDataLst>
                  <p:tags r:id="rId36"/>
                </p:custDataLst>
              </p:nvPr>
            </p:nvSpPr>
            <p:spPr>
              <a:xfrm>
                <a:off x="1683269" y="1105402"/>
                <a:ext cx="87559" cy="176949"/>
              </a:xfrm>
              <a:custGeom>
                <a:avLst/>
                <a:gdLst/>
                <a:ahLst/>
                <a:cxnLst/>
                <a:rect l="l" t="t" r="r" b="b"/>
                <a:pathLst>
                  <a:path w="87559" h="176949">
                    <a:moveTo>
                      <a:pt x="43845" y="98859"/>
                    </a:moveTo>
                    <a:cubicBezTo>
                      <a:pt x="51761" y="97701"/>
                      <a:pt x="59625" y="101267"/>
                      <a:pt x="63969" y="107986"/>
                    </a:cubicBezTo>
                    <a:cubicBezTo>
                      <a:pt x="68313" y="114705"/>
                      <a:pt x="68337" y="123341"/>
                      <a:pt x="64031" y="130084"/>
                    </a:cubicBezTo>
                    <a:cubicBezTo>
                      <a:pt x="59726" y="136827"/>
                      <a:pt x="51882" y="140439"/>
                      <a:pt x="43959" y="139325"/>
                    </a:cubicBezTo>
                    <a:lnTo>
                      <a:pt x="43959" y="139325"/>
                    </a:lnTo>
                    <a:cubicBezTo>
                      <a:pt x="34663" y="139604"/>
                      <a:pt x="26075" y="134381"/>
                      <a:pt x="22047" y="125998"/>
                    </a:cubicBezTo>
                    <a:lnTo>
                      <a:pt x="22047" y="125998"/>
                    </a:lnTo>
                    <a:cubicBezTo>
                      <a:pt x="19816" y="120719"/>
                      <a:pt x="13735" y="118240"/>
                      <a:pt x="8449" y="120456"/>
                    </a:cubicBezTo>
                    <a:cubicBezTo>
                      <a:pt x="-10962" y="132254"/>
                      <a:pt x="19205" y="157180"/>
                      <a:pt x="33460" y="158851"/>
                    </a:cubicBezTo>
                    <a:cubicBezTo>
                      <a:pt x="32974" y="167064"/>
                      <a:pt x="33332" y="176492"/>
                      <a:pt x="43845" y="176949"/>
                    </a:cubicBezTo>
                    <a:cubicBezTo>
                      <a:pt x="54343" y="176492"/>
                      <a:pt x="54715" y="167079"/>
                      <a:pt x="54229" y="158880"/>
                    </a:cubicBezTo>
                    <a:cubicBezTo>
                      <a:pt x="75662" y="155080"/>
                      <a:pt x="90333" y="135117"/>
                      <a:pt x="87559" y="113527"/>
                    </a:cubicBezTo>
                    <a:cubicBezTo>
                      <a:pt x="84784" y="91937"/>
                      <a:pt x="65542" y="76332"/>
                      <a:pt x="43845" y="78076"/>
                    </a:cubicBezTo>
                    <a:lnTo>
                      <a:pt x="43845" y="78076"/>
                    </a:lnTo>
                    <a:cubicBezTo>
                      <a:pt x="28132" y="78076"/>
                      <a:pt x="20533" y="71476"/>
                      <a:pt x="20533" y="57849"/>
                    </a:cubicBezTo>
                    <a:cubicBezTo>
                      <a:pt x="20362" y="35224"/>
                      <a:pt x="57671" y="30296"/>
                      <a:pt x="65756" y="50950"/>
                    </a:cubicBezTo>
                    <a:cubicBezTo>
                      <a:pt x="67982" y="56243"/>
                      <a:pt x="74075" y="58730"/>
                      <a:pt x="79369" y="56507"/>
                    </a:cubicBezTo>
                    <a:lnTo>
                      <a:pt x="79369" y="56507"/>
                    </a:lnTo>
                    <a:cubicBezTo>
                      <a:pt x="98795" y="44623"/>
                      <a:pt x="68541" y="19697"/>
                      <a:pt x="54229" y="18069"/>
                    </a:cubicBezTo>
                    <a:cubicBezTo>
                      <a:pt x="54715" y="9870"/>
                      <a:pt x="54343" y="457"/>
                      <a:pt x="43845" y="0"/>
                    </a:cubicBezTo>
                    <a:cubicBezTo>
                      <a:pt x="33332" y="457"/>
                      <a:pt x="32960" y="9884"/>
                      <a:pt x="33460" y="18097"/>
                    </a:cubicBezTo>
                    <a:cubicBezTo>
                      <a:pt x="11966" y="21822"/>
                      <a:pt x="-2782" y="41812"/>
                      <a:pt x="0" y="63448"/>
                    </a:cubicBezTo>
                    <a:cubicBezTo>
                      <a:pt x="2782" y="85084"/>
                      <a:pt x="22108" y="100692"/>
                      <a:pt x="43845" y="9885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2" name="New shape"/>
              <p:cNvSpPr/>
              <p:nvPr>
                <p:custDataLst>
                  <p:tags r:id="rId37"/>
                </p:custDataLst>
              </p:nvPr>
            </p:nvSpPr>
            <p:spPr>
              <a:xfrm>
                <a:off x="1523387" y="1126170"/>
                <a:ext cx="46202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46202" h="20768">
                    <a:moveTo>
                      <a:pt x="10380" y="20768"/>
                    </a:moveTo>
                    <a:lnTo>
                      <a:pt x="37205" y="20768"/>
                    </a:lnTo>
                    <a:cubicBezTo>
                      <a:pt x="40916" y="20770"/>
                      <a:pt x="44346" y="18791"/>
                      <a:pt x="46202" y="15577"/>
                    </a:cubicBezTo>
                    <a:cubicBezTo>
                      <a:pt x="48057" y="12364"/>
                      <a:pt x="48057" y="8404"/>
                      <a:pt x="46202" y="5191"/>
                    </a:cubicBezTo>
                    <a:cubicBezTo>
                      <a:pt x="44346" y="1977"/>
                      <a:pt x="40916" y="-1"/>
                      <a:pt x="37205" y="0"/>
                    </a:cubicBezTo>
                    <a:lnTo>
                      <a:pt x="10380" y="0"/>
                    </a:ln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3" name="New shape"/>
              <p:cNvSpPr/>
              <p:nvPr>
                <p:custDataLst>
                  <p:tags r:id="rId38"/>
                </p:custDataLst>
              </p:nvPr>
            </p:nvSpPr>
            <p:spPr>
              <a:xfrm>
                <a:off x="1467479" y="1126170"/>
                <a:ext cx="33759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33759" h="20768">
                    <a:moveTo>
                      <a:pt x="10380" y="20768"/>
                    </a:moveTo>
                    <a:lnTo>
                      <a:pt x="23378" y="20768"/>
                    </a:lnTo>
                    <a:cubicBezTo>
                      <a:pt x="29112" y="20766"/>
                      <a:pt x="33759" y="16118"/>
                      <a:pt x="33759" y="10384"/>
                    </a:cubicBezTo>
                    <a:cubicBezTo>
                      <a:pt x="33759" y="4650"/>
                      <a:pt x="29112" y="2"/>
                      <a:pt x="23378" y="0"/>
                    </a:cubicBezTo>
                    <a:lnTo>
                      <a:pt x="10380" y="0"/>
                    </a:ln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4" name="New shape"/>
              <p:cNvSpPr/>
              <p:nvPr>
                <p:custDataLst>
                  <p:tags r:id="rId39"/>
                </p:custDataLst>
              </p:nvPr>
            </p:nvSpPr>
            <p:spPr>
              <a:xfrm>
                <a:off x="1884754" y="1240799"/>
                <a:ext cx="46216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46216" h="20768">
                    <a:moveTo>
                      <a:pt x="35835" y="20768"/>
                    </a:moveTo>
                    <a:cubicBezTo>
                      <a:pt x="41569" y="20766"/>
                      <a:pt x="46216" y="16118"/>
                      <a:pt x="46216" y="10384"/>
                    </a:cubicBezTo>
                    <a:cubicBezTo>
                      <a:pt x="46216" y="4650"/>
                      <a:pt x="41569" y="2"/>
                      <a:pt x="35835" y="0"/>
                    </a:cubicBezTo>
                    <a:lnTo>
                      <a:pt x="8996" y="0"/>
                    </a:lnTo>
                    <a:cubicBezTo>
                      <a:pt x="5285" y="-1"/>
                      <a:pt x="1855" y="1977"/>
                      <a:pt x="0" y="5191"/>
                    </a:cubicBezTo>
                    <a:cubicBezTo>
                      <a:pt x="-1855" y="8404"/>
                      <a:pt x="-1855" y="12364"/>
                      <a:pt x="0" y="15577"/>
                    </a:cubicBezTo>
                    <a:cubicBezTo>
                      <a:pt x="1855" y="18791"/>
                      <a:pt x="5285" y="20770"/>
                      <a:pt x="8996" y="20768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5" name="New shape"/>
              <p:cNvSpPr/>
              <p:nvPr>
                <p:custDataLst>
                  <p:tags r:id="rId40"/>
                </p:custDataLst>
              </p:nvPr>
            </p:nvSpPr>
            <p:spPr>
              <a:xfrm>
                <a:off x="1953147" y="1240799"/>
                <a:ext cx="33745" cy="20769"/>
              </a:xfrm>
              <a:custGeom>
                <a:avLst/>
                <a:gdLst/>
                <a:ahLst/>
                <a:cxnLst/>
                <a:rect l="l" t="t" r="r" b="b"/>
                <a:pathLst>
                  <a:path w="33744" h="20768">
                    <a:moveTo>
                      <a:pt x="23364" y="0"/>
                    </a:moveTo>
                    <a:lnTo>
                      <a:pt x="10380" y="0"/>
                    </a:lnTo>
                    <a:cubicBezTo>
                      <a:pt x="4646" y="2"/>
                      <a:pt x="0" y="4650"/>
                      <a:pt x="0" y="10384"/>
                    </a:cubicBezTo>
                    <a:cubicBezTo>
                      <a:pt x="0" y="16118"/>
                      <a:pt x="4646" y="20766"/>
                      <a:pt x="10380" y="20768"/>
                    </a:cubicBezTo>
                    <a:lnTo>
                      <a:pt x="23364" y="20768"/>
                    </a:lnTo>
                    <a:cubicBezTo>
                      <a:pt x="29098" y="20766"/>
                      <a:pt x="33744" y="16118"/>
                      <a:pt x="33744" y="10384"/>
                    </a:cubicBezTo>
                    <a:cubicBezTo>
                      <a:pt x="33744" y="4650"/>
                      <a:pt x="29098" y="2"/>
                      <a:pt x="23364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76" name="Rectangle 75"/>
            <p:cNvSpPr/>
            <p:nvPr>
              <p:custDataLst>
                <p:tags r:id="rId3"/>
              </p:custDataLst>
            </p:nvPr>
          </p:nvSpPr>
          <p:spPr>
            <a:xfrm>
              <a:off x="762000" y="2362200"/>
              <a:ext cx="3200400" cy="4572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22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Housing data</a:t>
              </a:r>
              <a:endParaRPr sz="2200"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77" name="New shape"/>
            <p:cNvSpPr/>
            <p:nvPr>
              <p:custDataLst>
                <p:tags r:id="rId4"/>
              </p:custDataLst>
            </p:nvPr>
          </p:nvSpPr>
          <p:spPr>
            <a:xfrm>
              <a:off x="762000" y="2971800"/>
              <a:ext cx="3200400" cy="0"/>
            </a:xfrm>
            <a:custGeom>
              <a:avLst/>
              <a:gdLst/>
              <a:ahLst/>
              <a:cxnLst/>
              <a:rect l="l" t="t" r="r" b="b"/>
              <a:pathLst>
                <a:path w="3200400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22860" cmpd="sng">
              <a:solidFill>
                <a:srgbClr val="05966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8" name="Rectangle 77"/>
            <p:cNvSpPr/>
            <p:nvPr>
              <p:custDataLst>
                <p:tags r:id="rId5"/>
              </p:custDataLst>
            </p:nvPr>
          </p:nvSpPr>
          <p:spPr>
            <a:xfrm>
              <a:off x="762000" y="3200400"/>
              <a:ext cx="3200400" cy="1905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r>
                <a:rPr lang="en-GB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Analyze number of housing projects</a:t>
              </a:r>
            </a:p>
            <a:p>
              <a:pPr marL="127000" lvl="1" indent="-127000">
                <a:buChar char="•"/>
              </a:pPr>
              <a:r>
                <a:rPr lang="en-GB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Track pricing trends across locations</a:t>
              </a:r>
            </a:p>
            <a:p>
              <a:pPr marL="127000" lvl="1" indent="-127000">
                <a:buChar char="•"/>
              </a:pPr>
              <a:r>
                <a:rPr lang="en-GB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Identify high-demand configurations</a:t>
              </a:r>
            </a:p>
          </p:txBody>
        </p:sp>
        <p:grpSp>
          <p:nvGrpSpPr>
            <p:cNvPr id="79" name="Group 78"/>
            <p:cNvGrpSpPr/>
            <p:nvPr>
              <p:custDataLst>
                <p:tags r:id="rId6"/>
              </p:custDataLst>
            </p:nvPr>
          </p:nvGrpSpPr>
          <p:grpSpPr>
            <a:xfrm>
              <a:off x="5753097" y="1524002"/>
              <a:ext cx="685800" cy="685800"/>
              <a:chOff x="5118097" y="889002"/>
              <a:chExt cx="685800" cy="685800"/>
            </a:xfrm>
          </p:grpSpPr>
          <p:sp>
            <p:nvSpPr>
              <p:cNvPr id="80" name="New shape"/>
              <p:cNvSpPr/>
              <p:nvPr>
                <p:custDataLst>
                  <p:tags r:id="rId21"/>
                </p:custDataLst>
              </p:nvPr>
            </p:nvSpPr>
            <p:spPr>
              <a:xfrm>
                <a:off x="5118097" y="889002"/>
                <a:ext cx="6858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685800">
                    <a:moveTo>
                      <a:pt x="0" y="0"/>
                    </a:moveTo>
                    <a:lnTo>
                      <a:pt x="685800" y="0"/>
                    </a:lnTo>
                    <a:lnTo>
                      <a:pt x="6858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1" name="New shape"/>
              <p:cNvSpPr/>
              <p:nvPr>
                <p:custDataLst>
                  <p:tags r:id="rId22"/>
                </p:custDataLst>
              </p:nvPr>
            </p:nvSpPr>
            <p:spPr>
              <a:xfrm>
                <a:off x="5182581" y="910433"/>
                <a:ext cx="556846" cy="642921"/>
              </a:xfrm>
              <a:custGeom>
                <a:avLst/>
                <a:gdLst/>
                <a:ahLst/>
                <a:cxnLst/>
                <a:rect l="l" t="t" r="r" b="b"/>
                <a:pathLst>
                  <a:path w="556845" h="642920">
                    <a:moveTo>
                      <a:pt x="556845" y="592085"/>
                    </a:moveTo>
                    <a:cubicBezTo>
                      <a:pt x="556845" y="527827"/>
                      <a:pt x="531300" y="466189"/>
                      <a:pt x="485855" y="420744"/>
                    </a:cubicBezTo>
                    <a:cubicBezTo>
                      <a:pt x="440409" y="375300"/>
                      <a:pt x="378793" y="349775"/>
                      <a:pt x="314514" y="349775"/>
                    </a:cubicBezTo>
                    <a:cubicBezTo>
                      <a:pt x="290588" y="349775"/>
                      <a:pt x="266235" y="349775"/>
                      <a:pt x="242309" y="349775"/>
                    </a:cubicBezTo>
                    <a:cubicBezTo>
                      <a:pt x="178030" y="349775"/>
                      <a:pt x="116414" y="375300"/>
                      <a:pt x="70968" y="420744"/>
                    </a:cubicBezTo>
                    <a:cubicBezTo>
                      <a:pt x="25523" y="466189"/>
                      <a:pt x="0" y="527827"/>
                      <a:pt x="0" y="592085"/>
                    </a:cubicBezTo>
                    <a:cubicBezTo>
                      <a:pt x="0" y="592085"/>
                      <a:pt x="0" y="592106"/>
                      <a:pt x="0" y="592106"/>
                    </a:cubicBezTo>
                    <a:cubicBezTo>
                      <a:pt x="0" y="620166"/>
                      <a:pt x="22753" y="642920"/>
                      <a:pt x="50813" y="642920"/>
                    </a:cubicBezTo>
                    <a:cubicBezTo>
                      <a:pt x="149885" y="642920"/>
                      <a:pt x="406938" y="642920"/>
                      <a:pt x="506010" y="642920"/>
                    </a:cubicBezTo>
                    <a:cubicBezTo>
                      <a:pt x="534069" y="642920"/>
                      <a:pt x="556845" y="620166"/>
                      <a:pt x="556845" y="592106"/>
                    </a:cubicBezTo>
                    <a:cubicBezTo>
                      <a:pt x="556845" y="592106"/>
                      <a:pt x="556845" y="592085"/>
                      <a:pt x="556845" y="592085"/>
                    </a:cubicBezTo>
                    <a:close/>
                    <a:moveTo>
                      <a:pt x="534644" y="592085"/>
                    </a:moveTo>
                    <a:lnTo>
                      <a:pt x="534644" y="592106"/>
                    </a:lnTo>
                    <a:cubicBezTo>
                      <a:pt x="534644" y="607915"/>
                      <a:pt x="521818" y="620741"/>
                      <a:pt x="506010" y="620741"/>
                    </a:cubicBezTo>
                    <a:cubicBezTo>
                      <a:pt x="406938" y="620741"/>
                      <a:pt x="149885" y="620741"/>
                      <a:pt x="50813" y="620741"/>
                    </a:cubicBezTo>
                    <a:cubicBezTo>
                      <a:pt x="35004" y="620741"/>
                      <a:pt x="22178" y="607915"/>
                      <a:pt x="22178" y="592106"/>
                    </a:cubicBezTo>
                    <a:cubicBezTo>
                      <a:pt x="22178" y="592106"/>
                      <a:pt x="22178" y="592085"/>
                      <a:pt x="22178" y="592085"/>
                    </a:cubicBezTo>
                    <a:cubicBezTo>
                      <a:pt x="22178" y="533708"/>
                      <a:pt x="45381" y="477716"/>
                      <a:pt x="86650" y="436447"/>
                    </a:cubicBezTo>
                    <a:cubicBezTo>
                      <a:pt x="127941" y="395156"/>
                      <a:pt x="183932" y="371976"/>
                      <a:pt x="242309" y="371976"/>
                    </a:cubicBezTo>
                    <a:cubicBezTo>
                      <a:pt x="266235" y="371976"/>
                      <a:pt x="290588" y="371976"/>
                      <a:pt x="314514" y="371976"/>
                    </a:cubicBezTo>
                    <a:cubicBezTo>
                      <a:pt x="372891" y="371976"/>
                      <a:pt x="428883" y="395156"/>
                      <a:pt x="470173" y="436447"/>
                    </a:cubicBezTo>
                    <a:cubicBezTo>
                      <a:pt x="511443" y="477716"/>
                      <a:pt x="534644" y="533708"/>
                      <a:pt x="534644" y="592085"/>
                    </a:cubicBezTo>
                    <a:close/>
                    <a:moveTo>
                      <a:pt x="278401" y="0"/>
                    </a:moveTo>
                    <a:cubicBezTo>
                      <a:pt x="190430" y="0"/>
                      <a:pt x="119013" y="71416"/>
                      <a:pt x="119013" y="159387"/>
                    </a:cubicBezTo>
                    <a:cubicBezTo>
                      <a:pt x="119013" y="247380"/>
                      <a:pt x="190430" y="318797"/>
                      <a:pt x="278401" y="318797"/>
                    </a:cubicBezTo>
                    <a:cubicBezTo>
                      <a:pt x="366394" y="318797"/>
                      <a:pt x="437810" y="247380"/>
                      <a:pt x="437810" y="159387"/>
                    </a:cubicBezTo>
                    <a:cubicBezTo>
                      <a:pt x="437810" y="71416"/>
                      <a:pt x="366394" y="0"/>
                      <a:pt x="278401" y="0"/>
                    </a:cubicBezTo>
                    <a:close/>
                    <a:moveTo>
                      <a:pt x="278401" y="22179"/>
                    </a:moveTo>
                    <a:cubicBezTo>
                      <a:pt x="354143" y="22179"/>
                      <a:pt x="415631" y="83667"/>
                      <a:pt x="415631" y="159387"/>
                    </a:cubicBezTo>
                    <a:cubicBezTo>
                      <a:pt x="415631" y="235129"/>
                      <a:pt x="354143" y="296617"/>
                      <a:pt x="278401" y="296617"/>
                    </a:cubicBezTo>
                    <a:cubicBezTo>
                      <a:pt x="202681" y="296617"/>
                      <a:pt x="141192" y="235129"/>
                      <a:pt x="141192" y="159387"/>
                    </a:cubicBezTo>
                    <a:cubicBezTo>
                      <a:pt x="141192" y="83667"/>
                      <a:pt x="202681" y="22179"/>
                      <a:pt x="278401" y="2217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82" name="Rectangle 81"/>
            <p:cNvSpPr/>
            <p:nvPr>
              <p:custDataLst>
                <p:tags r:id="rId7"/>
              </p:custDataLst>
            </p:nvPr>
          </p:nvSpPr>
          <p:spPr>
            <a:xfrm>
              <a:off x="4495800" y="2362200"/>
              <a:ext cx="3200400" cy="4572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22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Buyers</a:t>
              </a:r>
              <a:endParaRPr sz="2200"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83" name="New shape"/>
            <p:cNvSpPr/>
            <p:nvPr>
              <p:custDataLst>
                <p:tags r:id="rId8"/>
              </p:custDataLst>
            </p:nvPr>
          </p:nvSpPr>
          <p:spPr>
            <a:xfrm>
              <a:off x="4495800" y="2971800"/>
              <a:ext cx="3200400" cy="0"/>
            </a:xfrm>
            <a:custGeom>
              <a:avLst/>
              <a:gdLst/>
              <a:ahLst/>
              <a:cxnLst/>
              <a:rect l="l" t="t" r="r" b="b"/>
              <a:pathLst>
                <a:path w="3200400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22860" cmpd="sng">
              <a:solidFill>
                <a:srgbClr val="05966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4" name="Rectangle 83"/>
            <p:cNvSpPr/>
            <p:nvPr>
              <p:custDataLst>
                <p:tags r:id="rId9"/>
              </p:custDataLst>
            </p:nvPr>
          </p:nvSpPr>
          <p:spPr>
            <a:xfrm>
              <a:off x="4495800" y="3200400"/>
              <a:ext cx="3200400" cy="1905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endParaRPr lang="en-GB"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85" name="New shape"/>
            <p:cNvSpPr/>
            <p:nvPr>
              <p:custDataLst>
                <p:tags r:id="rId10"/>
              </p:custDataLst>
            </p:nvPr>
          </p:nvSpPr>
          <p:spPr>
            <a:xfrm>
              <a:off x="9551194" y="1566862"/>
              <a:ext cx="557212" cy="600075"/>
            </a:xfrm>
            <a:custGeom>
              <a:avLst/>
              <a:gdLst/>
              <a:ahLst/>
              <a:cxnLst/>
              <a:rect l="l" t="t" r="r" b="b"/>
              <a:pathLst>
                <a:path w="557212" h="600075">
                  <a:moveTo>
                    <a:pt x="235743" y="600075"/>
                  </a:moveTo>
                  <a:cubicBezTo>
                    <a:pt x="235743" y="600075"/>
                    <a:pt x="235743" y="600075"/>
                    <a:pt x="235743" y="600075"/>
                  </a:cubicBezTo>
                  <a:close/>
                  <a:moveTo>
                    <a:pt x="0" y="321468"/>
                  </a:moveTo>
                  <a:cubicBezTo>
                    <a:pt x="0" y="174921"/>
                    <a:pt x="113414" y="54628"/>
                    <a:pt x="257175" y="43676"/>
                  </a:cubicBezTo>
                  <a:lnTo>
                    <a:pt x="257175" y="0"/>
                  </a:lnTo>
                  <a:lnTo>
                    <a:pt x="300037" y="0"/>
                  </a:lnTo>
                  <a:lnTo>
                    <a:pt x="300037" y="43676"/>
                  </a:lnTo>
                  <a:cubicBezTo>
                    <a:pt x="443798" y="54628"/>
                    <a:pt x="557212" y="174921"/>
                    <a:pt x="557212" y="321468"/>
                  </a:cubicBezTo>
                  <a:cubicBezTo>
                    <a:pt x="557212" y="333298"/>
                    <a:pt x="547611" y="342900"/>
                    <a:pt x="535781" y="342900"/>
                  </a:cubicBezTo>
                  <a:cubicBezTo>
                    <a:pt x="523950" y="342900"/>
                    <a:pt x="514350" y="333298"/>
                    <a:pt x="514350" y="321468"/>
                  </a:cubicBezTo>
                  <a:lnTo>
                    <a:pt x="514328" y="319818"/>
                  </a:lnTo>
                  <a:cubicBezTo>
                    <a:pt x="513450" y="285099"/>
                    <a:pt x="484989" y="257175"/>
                    <a:pt x="450056" y="257175"/>
                  </a:cubicBezTo>
                  <a:cubicBezTo>
                    <a:pt x="414566" y="257175"/>
                    <a:pt x="385762" y="285978"/>
                    <a:pt x="385762" y="321468"/>
                  </a:cubicBezTo>
                  <a:cubicBezTo>
                    <a:pt x="385762" y="333298"/>
                    <a:pt x="376161" y="342900"/>
                    <a:pt x="364331" y="342900"/>
                  </a:cubicBezTo>
                  <a:cubicBezTo>
                    <a:pt x="352500" y="342900"/>
                    <a:pt x="342900" y="333298"/>
                    <a:pt x="342900" y="321468"/>
                  </a:cubicBezTo>
                  <a:lnTo>
                    <a:pt x="342857" y="318854"/>
                  </a:lnTo>
                  <a:cubicBezTo>
                    <a:pt x="341764" y="292022"/>
                    <a:pt x="324212" y="269390"/>
                    <a:pt x="300037" y="260839"/>
                  </a:cubicBezTo>
                  <a:lnTo>
                    <a:pt x="300037" y="535781"/>
                  </a:lnTo>
                  <a:cubicBezTo>
                    <a:pt x="300037" y="571271"/>
                    <a:pt x="271233" y="600075"/>
                    <a:pt x="235743" y="600075"/>
                  </a:cubicBezTo>
                  <a:cubicBezTo>
                    <a:pt x="200253" y="600075"/>
                    <a:pt x="171450" y="571271"/>
                    <a:pt x="171450" y="535781"/>
                  </a:cubicBezTo>
                  <a:lnTo>
                    <a:pt x="171450" y="492918"/>
                  </a:lnTo>
                  <a:lnTo>
                    <a:pt x="214312" y="492918"/>
                  </a:lnTo>
                  <a:lnTo>
                    <a:pt x="214312" y="535781"/>
                  </a:lnTo>
                  <a:cubicBezTo>
                    <a:pt x="214312" y="547611"/>
                    <a:pt x="223913" y="557212"/>
                    <a:pt x="235743" y="557212"/>
                  </a:cubicBezTo>
                  <a:cubicBezTo>
                    <a:pt x="247574" y="557212"/>
                    <a:pt x="257175" y="547611"/>
                    <a:pt x="257175" y="535781"/>
                  </a:cubicBezTo>
                  <a:lnTo>
                    <a:pt x="257175" y="235743"/>
                  </a:lnTo>
                  <a:cubicBezTo>
                    <a:pt x="257175" y="223913"/>
                    <a:pt x="266775" y="214312"/>
                    <a:pt x="278606" y="214312"/>
                  </a:cubicBezTo>
                  <a:cubicBezTo>
                    <a:pt x="313645" y="214312"/>
                    <a:pt x="344764" y="231157"/>
                    <a:pt x="364331" y="257196"/>
                  </a:cubicBezTo>
                  <a:cubicBezTo>
                    <a:pt x="383898" y="231157"/>
                    <a:pt x="415016" y="214312"/>
                    <a:pt x="450056" y="214312"/>
                  </a:cubicBezTo>
                  <a:cubicBezTo>
                    <a:pt x="465294" y="214312"/>
                    <a:pt x="479803" y="217505"/>
                    <a:pt x="492940" y="223270"/>
                  </a:cubicBezTo>
                  <a:cubicBezTo>
                    <a:pt x="455671" y="142132"/>
                    <a:pt x="373675" y="85725"/>
                    <a:pt x="278606" y="85725"/>
                  </a:cubicBezTo>
                  <a:cubicBezTo>
                    <a:pt x="183537" y="85725"/>
                    <a:pt x="101541" y="142132"/>
                    <a:pt x="64272" y="223270"/>
                  </a:cubicBezTo>
                  <a:cubicBezTo>
                    <a:pt x="77410" y="217505"/>
                    <a:pt x="91918" y="214312"/>
                    <a:pt x="107156" y="214312"/>
                  </a:cubicBezTo>
                  <a:cubicBezTo>
                    <a:pt x="142195" y="214312"/>
                    <a:pt x="173314" y="231157"/>
                    <a:pt x="192881" y="257196"/>
                  </a:cubicBezTo>
                  <a:cubicBezTo>
                    <a:pt x="198967" y="249073"/>
                    <a:pt x="206190" y="241851"/>
                    <a:pt x="214312" y="235765"/>
                  </a:cubicBezTo>
                  <a:lnTo>
                    <a:pt x="214312" y="321468"/>
                  </a:lnTo>
                  <a:cubicBezTo>
                    <a:pt x="214312" y="333298"/>
                    <a:pt x="204711" y="342900"/>
                    <a:pt x="192881" y="342900"/>
                  </a:cubicBezTo>
                  <a:cubicBezTo>
                    <a:pt x="181050" y="342900"/>
                    <a:pt x="171450" y="333298"/>
                    <a:pt x="171450" y="321468"/>
                  </a:cubicBezTo>
                  <a:cubicBezTo>
                    <a:pt x="171450" y="285978"/>
                    <a:pt x="142646" y="257175"/>
                    <a:pt x="107156" y="257175"/>
                  </a:cubicBezTo>
                  <a:cubicBezTo>
                    <a:pt x="71666" y="257175"/>
                    <a:pt x="42862" y="285978"/>
                    <a:pt x="42862" y="321468"/>
                  </a:cubicBezTo>
                  <a:cubicBezTo>
                    <a:pt x="42862" y="333298"/>
                    <a:pt x="33261" y="342900"/>
                    <a:pt x="21431" y="342900"/>
                  </a:cubicBezTo>
                  <a:cubicBezTo>
                    <a:pt x="9600" y="342900"/>
                    <a:pt x="0" y="333298"/>
                    <a:pt x="0" y="321468"/>
                  </a:cubicBez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6" name="Rectangle 85"/>
            <p:cNvSpPr/>
            <p:nvPr>
              <p:custDataLst>
                <p:tags r:id="rId11"/>
              </p:custDataLst>
            </p:nvPr>
          </p:nvSpPr>
          <p:spPr>
            <a:xfrm>
              <a:off x="8229600" y="2362200"/>
              <a:ext cx="3200400" cy="4572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22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Market Factors</a:t>
              </a:r>
              <a:endParaRPr sz="2200"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87" name="New shape"/>
            <p:cNvSpPr/>
            <p:nvPr>
              <p:custDataLst>
                <p:tags r:id="rId12"/>
              </p:custDataLst>
            </p:nvPr>
          </p:nvSpPr>
          <p:spPr>
            <a:xfrm>
              <a:off x="8229600" y="2971800"/>
              <a:ext cx="3200400" cy="0"/>
            </a:xfrm>
            <a:custGeom>
              <a:avLst/>
              <a:gdLst/>
              <a:ahLst/>
              <a:cxnLst/>
              <a:rect l="l" t="t" r="r" b="b"/>
              <a:pathLst>
                <a:path w="3200400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22860" cmpd="sng">
              <a:solidFill>
                <a:srgbClr val="05966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8" name="Rectangle 87"/>
            <p:cNvSpPr/>
            <p:nvPr>
              <p:custDataLst>
                <p:tags r:id="rId13"/>
              </p:custDataLst>
            </p:nvPr>
          </p:nvSpPr>
          <p:spPr>
            <a:xfrm>
              <a:off x="8229600" y="3200400"/>
              <a:ext cx="3200400" cy="1905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endParaRPr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89" name="New shape"/>
            <p:cNvSpPr/>
            <p:nvPr>
              <p:custDataLst>
                <p:tags r:id="rId14"/>
              </p:custDataLst>
            </p:nvPr>
          </p:nvSpPr>
          <p:spPr>
            <a:xfrm>
              <a:off x="762000" y="54864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60960" y="0"/>
                  </a:moveTo>
                  <a:lnTo>
                    <a:pt x="10607040" y="0"/>
                  </a:lnTo>
                  <a:cubicBezTo>
                    <a:pt x="10640708" y="0"/>
                    <a:pt x="10668000" y="27292"/>
                    <a:pt x="10668000" y="60960"/>
                  </a:cubicBezTo>
                  <a:lnTo>
                    <a:pt x="10668000" y="701040"/>
                  </a:lnTo>
                  <a:cubicBezTo>
                    <a:pt x="10668000" y="734707"/>
                    <a:pt x="10640708" y="762000"/>
                    <a:pt x="10607040" y="762000"/>
                  </a:cubicBezTo>
                  <a:lnTo>
                    <a:pt x="60960" y="762000"/>
                  </a:lnTo>
                  <a:cubicBezTo>
                    <a:pt x="27292" y="762000"/>
                    <a:pt x="0" y="734707"/>
                    <a:pt x="0" y="701040"/>
                  </a:cubicBezTo>
                  <a:lnTo>
                    <a:pt x="0" y="60960"/>
                  </a:lnTo>
                  <a:cubicBezTo>
                    <a:pt x="0" y="27292"/>
                    <a:pt x="27292" y="0"/>
                    <a:pt x="60960" y="0"/>
                  </a:cubicBez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90" name="Group 89"/>
            <p:cNvGrpSpPr/>
            <p:nvPr>
              <p:custDataLst>
                <p:tags r:id="rId15"/>
              </p:custDataLst>
            </p:nvPr>
          </p:nvGrpSpPr>
          <p:grpSpPr>
            <a:xfrm>
              <a:off x="1077068" y="5700714"/>
              <a:ext cx="208061" cy="333376"/>
              <a:chOff x="442068" y="5065713"/>
              <a:chExt cx="208061" cy="333376"/>
            </a:xfrm>
          </p:grpSpPr>
          <p:sp>
            <p:nvSpPr>
              <p:cNvPr id="91" name="New 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442068" y="5065713"/>
                <a:ext cx="208061" cy="270630"/>
              </a:xfrm>
              <a:custGeom>
                <a:avLst/>
                <a:gdLst/>
                <a:ahLst/>
                <a:cxnLst/>
                <a:rect l="l" t="t" r="r" b="b"/>
                <a:pathLst>
                  <a:path w="208060" h="270629">
                    <a:moveTo>
                      <a:pt x="125314" y="94654"/>
                    </a:moveTo>
                    <a:lnTo>
                      <a:pt x="125314" y="67210"/>
                    </a:lnTo>
                    <a:cubicBezTo>
                      <a:pt x="125314" y="65633"/>
                      <a:pt x="124689" y="64115"/>
                      <a:pt x="123572" y="62998"/>
                    </a:cubicBezTo>
                    <a:cubicBezTo>
                      <a:pt x="122456" y="61882"/>
                      <a:pt x="120938" y="61257"/>
                      <a:pt x="119360" y="61257"/>
                    </a:cubicBezTo>
                    <a:lnTo>
                      <a:pt x="109984" y="61257"/>
                    </a:lnTo>
                    <a:lnTo>
                      <a:pt x="109984" y="5863"/>
                    </a:lnTo>
                    <a:cubicBezTo>
                      <a:pt x="109940" y="2604"/>
                      <a:pt x="107291" y="0"/>
                      <a:pt x="104031" y="0"/>
                    </a:cubicBezTo>
                    <a:cubicBezTo>
                      <a:pt x="100772" y="0"/>
                      <a:pt x="98123" y="2604"/>
                      <a:pt x="98078" y="5863"/>
                    </a:cubicBezTo>
                    <a:lnTo>
                      <a:pt x="98078" y="61257"/>
                    </a:lnTo>
                    <a:lnTo>
                      <a:pt x="88702" y="61257"/>
                    </a:lnTo>
                    <a:cubicBezTo>
                      <a:pt x="87125" y="61257"/>
                      <a:pt x="85606" y="61882"/>
                      <a:pt x="84490" y="62998"/>
                    </a:cubicBezTo>
                    <a:cubicBezTo>
                      <a:pt x="83374" y="64115"/>
                      <a:pt x="82749" y="65633"/>
                      <a:pt x="82749" y="67210"/>
                    </a:cubicBezTo>
                    <a:lnTo>
                      <a:pt x="82749" y="94639"/>
                    </a:lnTo>
                    <a:cubicBezTo>
                      <a:pt x="35554" y="106828"/>
                      <a:pt x="0" y="158651"/>
                      <a:pt x="0" y="220579"/>
                    </a:cubicBezTo>
                    <a:cubicBezTo>
                      <a:pt x="0" y="222156"/>
                      <a:pt x="625" y="223674"/>
                      <a:pt x="1741" y="224791"/>
                    </a:cubicBezTo>
                    <a:cubicBezTo>
                      <a:pt x="2857" y="225907"/>
                      <a:pt x="4375" y="226547"/>
                      <a:pt x="5953" y="226532"/>
                    </a:cubicBezTo>
                    <a:lnTo>
                      <a:pt x="54366" y="226532"/>
                    </a:lnTo>
                    <a:cubicBezTo>
                      <a:pt x="57358" y="251699"/>
                      <a:pt x="78700" y="270629"/>
                      <a:pt x="104030" y="270629"/>
                    </a:cubicBezTo>
                    <a:cubicBezTo>
                      <a:pt x="129360" y="270629"/>
                      <a:pt x="150702" y="251698"/>
                      <a:pt x="153693" y="226532"/>
                    </a:cubicBezTo>
                    <a:lnTo>
                      <a:pt x="202107" y="226532"/>
                    </a:lnTo>
                    <a:cubicBezTo>
                      <a:pt x="203684" y="226547"/>
                      <a:pt x="205202" y="225907"/>
                      <a:pt x="206319" y="224791"/>
                    </a:cubicBezTo>
                    <a:cubicBezTo>
                      <a:pt x="207435" y="223675"/>
                      <a:pt x="208060" y="222156"/>
                      <a:pt x="208060" y="220579"/>
                    </a:cubicBezTo>
                    <a:cubicBezTo>
                      <a:pt x="208060" y="158666"/>
                      <a:pt x="172505" y="106831"/>
                      <a:pt x="125311" y="94655"/>
                    </a:cubicBezTo>
                    <a:close/>
                    <a:moveTo>
                      <a:pt x="94640" y="73178"/>
                    </a:moveTo>
                    <a:lnTo>
                      <a:pt x="113393" y="73178"/>
                    </a:lnTo>
                    <a:lnTo>
                      <a:pt x="113393" y="92496"/>
                    </a:lnTo>
                    <a:lnTo>
                      <a:pt x="113408" y="92481"/>
                    </a:lnTo>
                    <a:cubicBezTo>
                      <a:pt x="107172" y="91752"/>
                      <a:pt x="100891" y="91752"/>
                      <a:pt x="94655" y="92481"/>
                    </a:cubicBezTo>
                    <a:close/>
                    <a:moveTo>
                      <a:pt x="104031" y="103837"/>
                    </a:moveTo>
                    <a:cubicBezTo>
                      <a:pt x="153233" y="103837"/>
                      <a:pt x="193448" y="153024"/>
                      <a:pt x="195917" y="214624"/>
                    </a:cubicBezTo>
                    <a:lnTo>
                      <a:pt x="12145" y="214624"/>
                    </a:lnTo>
                    <a:cubicBezTo>
                      <a:pt x="14616" y="153024"/>
                      <a:pt x="54829" y="103837"/>
                      <a:pt x="104031" y="103837"/>
                    </a:cubicBezTo>
                    <a:close/>
                    <a:moveTo>
                      <a:pt x="104031" y="258721"/>
                    </a:moveTo>
                    <a:cubicBezTo>
                      <a:pt x="85279" y="258691"/>
                      <a:pt x="69339" y="245044"/>
                      <a:pt x="66407" y="226529"/>
                    </a:cubicBezTo>
                    <a:lnTo>
                      <a:pt x="141655" y="226529"/>
                    </a:lnTo>
                    <a:cubicBezTo>
                      <a:pt x="138723" y="245044"/>
                      <a:pt x="122783" y="258691"/>
                      <a:pt x="104031" y="2587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2" name="New 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468143" y="5333857"/>
                <a:ext cx="31894" cy="31894"/>
              </a:xfrm>
              <a:custGeom>
                <a:avLst/>
                <a:gdLst/>
                <a:ahLst/>
                <a:cxnLst/>
                <a:rect l="l" t="t" r="r" b="b"/>
                <a:pathLst>
                  <a:path w="31894" h="31893">
                    <a:moveTo>
                      <a:pt x="23470" y="0"/>
                    </a:moveTo>
                    <a:lnTo>
                      <a:pt x="1756" y="21713"/>
                    </a:lnTo>
                    <a:cubicBezTo>
                      <a:pt x="639" y="22830"/>
                      <a:pt x="0" y="24348"/>
                      <a:pt x="0" y="25925"/>
                    </a:cubicBezTo>
                    <a:cubicBezTo>
                      <a:pt x="0" y="27518"/>
                      <a:pt x="625" y="29021"/>
                      <a:pt x="1741" y="30152"/>
                    </a:cubicBezTo>
                    <a:cubicBezTo>
                      <a:pt x="2857" y="31269"/>
                      <a:pt x="4375" y="31893"/>
                      <a:pt x="5968" y="31893"/>
                    </a:cubicBezTo>
                    <a:cubicBezTo>
                      <a:pt x="7545" y="31893"/>
                      <a:pt x="9063" y="31253"/>
                      <a:pt x="10180" y="30137"/>
                    </a:cubicBezTo>
                    <a:lnTo>
                      <a:pt x="31894" y="8409"/>
                    </a:lnTo>
                    <a:cubicBezTo>
                      <a:pt x="34141" y="6072"/>
                      <a:pt x="34111" y="2366"/>
                      <a:pt x="31819" y="74"/>
                    </a:cubicBezTo>
                    <a:cubicBezTo>
                      <a:pt x="29512" y="-2217"/>
                      <a:pt x="25807" y="-2261"/>
                      <a:pt x="23470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3" name="New 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592594" y="5333857"/>
                <a:ext cx="30138" cy="30138"/>
              </a:xfrm>
              <a:custGeom>
                <a:avLst/>
                <a:gdLst/>
                <a:ahLst/>
                <a:cxnLst/>
                <a:rect l="l" t="t" r="r" b="b"/>
                <a:pathLst>
                  <a:path w="30137" h="30137">
                    <a:moveTo>
                      <a:pt x="8423" y="0"/>
                    </a:moveTo>
                    <a:cubicBezTo>
                      <a:pt x="6087" y="-2262"/>
                      <a:pt x="2366" y="-2217"/>
                      <a:pt x="74" y="74"/>
                    </a:cubicBezTo>
                    <a:cubicBezTo>
                      <a:pt x="-2217" y="2366"/>
                      <a:pt x="-2247" y="6072"/>
                      <a:pt x="0" y="8408"/>
                    </a:cubicBezTo>
                    <a:lnTo>
                      <a:pt x="21713" y="30137"/>
                    </a:lnTo>
                    <a:cubicBezTo>
                      <a:pt x="24050" y="32384"/>
                      <a:pt x="27771" y="32355"/>
                      <a:pt x="30063" y="30063"/>
                    </a:cubicBezTo>
                    <a:cubicBezTo>
                      <a:pt x="32355" y="27756"/>
                      <a:pt x="32384" y="24050"/>
                      <a:pt x="30137" y="2171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4" name="New shape"/>
              <p:cNvSpPr/>
              <p:nvPr>
                <p:custDataLst>
                  <p:tags r:id="rId20"/>
                </p:custDataLst>
              </p:nvPr>
            </p:nvSpPr>
            <p:spPr>
              <a:xfrm>
                <a:off x="540863" y="5349306"/>
                <a:ext cx="12085" cy="49783"/>
              </a:xfrm>
              <a:custGeom>
                <a:avLst/>
                <a:gdLst/>
                <a:ahLst/>
                <a:cxnLst/>
                <a:rect l="l" t="t" r="r" b="b"/>
                <a:pathLst>
                  <a:path w="12084" h="49783">
                    <a:moveTo>
                      <a:pt x="5953" y="0"/>
                    </a:moveTo>
                    <a:cubicBezTo>
                      <a:pt x="4375" y="0"/>
                      <a:pt x="2857" y="639"/>
                      <a:pt x="1726" y="1756"/>
                    </a:cubicBezTo>
                    <a:cubicBezTo>
                      <a:pt x="610" y="2872"/>
                      <a:pt x="-14" y="4405"/>
                      <a:pt x="0" y="5982"/>
                    </a:cubicBezTo>
                    <a:lnTo>
                      <a:pt x="163" y="43859"/>
                    </a:lnTo>
                    <a:cubicBezTo>
                      <a:pt x="178" y="47133"/>
                      <a:pt x="2857" y="49798"/>
                      <a:pt x="6146" y="49783"/>
                    </a:cubicBezTo>
                    <a:cubicBezTo>
                      <a:pt x="9435" y="49768"/>
                      <a:pt x="12084" y="47089"/>
                      <a:pt x="12084" y="43800"/>
                    </a:cubicBezTo>
                    <a:lnTo>
                      <a:pt x="11921" y="5923"/>
                    </a:lnTo>
                    <a:lnTo>
                      <a:pt x="11906" y="5938"/>
                    </a:lnTo>
                    <a:cubicBezTo>
                      <a:pt x="11891" y="2649"/>
                      <a:pt x="9227" y="0"/>
                      <a:pt x="5953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95" name="Rectangle 94"/>
            <p:cNvSpPr/>
            <p:nvPr>
              <p:custDataLst>
                <p:tags r:id="rId16"/>
              </p:custDataLst>
            </p:nvPr>
          </p:nvSpPr>
          <p:spPr>
            <a:xfrm>
              <a:off x="1524000" y="5486400"/>
              <a:ext cx="9677400" cy="7620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dirty="0">
                  <a:solidFill>
                    <a:srgbClr val="FFFFFF"/>
                  </a:solidFill>
                  <a:ea typeface="+mn-ea"/>
                  <a:cs typeface="+mn-lt"/>
                </a:rPr>
                <a:t>The luxury housing dataset forms the foundation of this analysis, providing insights into Bengaluru’s real estate market across micro-markets, developers, pricing trends, and buyer segments.</a:t>
              </a:r>
              <a:endParaRPr sz="1600" dirty="0">
                <a:solidFill>
                  <a:srgbClr val="FFFFFF"/>
                </a:solidFill>
                <a:latin typeface="+mn-lt"/>
                <a:ea typeface="+mn-ea"/>
                <a:cs typeface="+mn-l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05ADF0A-A16E-CACF-2EC1-5CD27A9DDF42}"/>
              </a:ext>
            </a:extLst>
          </p:cNvPr>
          <p:cNvSpPr txBox="1"/>
          <p:nvPr/>
        </p:nvSpPr>
        <p:spPr>
          <a:xfrm>
            <a:off x="4495800" y="3105835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buyer types (CXO, HNI, NRI)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buyer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E5981-3FB9-B072-BD93-14A4BCDA8FC2}"/>
              </a:ext>
            </a:extLst>
          </p:cNvPr>
          <p:cNvSpPr txBox="1"/>
          <p:nvPr/>
        </p:nvSpPr>
        <p:spPr>
          <a:xfrm>
            <a:off x="8432006" y="3047999"/>
            <a:ext cx="26169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Analyze amenity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Evaluate infrastructure and connectivity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1B64A3F0-A1D4-FA27-CE7D-449EF5BDE8DA}"/>
              </a:ext>
            </a:extLst>
          </p:cNvPr>
          <p:cNvGrpSpPr/>
          <p:nvPr/>
        </p:nvGrpSpPr>
        <p:grpSpPr>
          <a:xfrm>
            <a:off x="381000" y="275008"/>
            <a:ext cx="11429400" cy="5973392"/>
            <a:chOff x="381000" y="275008"/>
            <a:chExt cx="11429400" cy="5973392"/>
          </a:xfrm>
        </p:grpSpPr>
        <p:sp>
          <p:nvSpPr>
            <p:cNvPr id="11" name="Title 1"/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381000" y="275008"/>
              <a:ext cx="11429400" cy="78875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Project Objectives </a:t>
              </a:r>
            </a:p>
          </p:txBody>
        </p:sp>
        <p:grpSp>
          <p:nvGrpSpPr>
            <p:cNvPr id="12" name="Group 11"/>
            <p:cNvGrpSpPr/>
            <p:nvPr>
              <p:custDataLst>
                <p:tags r:id="rId2"/>
              </p:custDataLst>
            </p:nvPr>
          </p:nvGrpSpPr>
          <p:grpSpPr>
            <a:xfrm>
              <a:off x="1642529" y="1566324"/>
              <a:ext cx="677342" cy="679519"/>
              <a:chOff x="1007529" y="931324"/>
              <a:chExt cx="677342" cy="679519"/>
            </a:xfrm>
          </p:grpSpPr>
          <p:sp>
            <p:nvSpPr>
              <p:cNvPr id="15" name="New shape"/>
              <p:cNvSpPr/>
              <p:nvPr>
                <p:custDataLst>
                  <p:tags r:id="rId38"/>
                </p:custDataLst>
              </p:nvPr>
            </p:nvSpPr>
            <p:spPr>
              <a:xfrm>
                <a:off x="1492882" y="1132330"/>
                <a:ext cx="191988" cy="478512"/>
              </a:xfrm>
              <a:custGeom>
                <a:avLst/>
                <a:gdLst/>
                <a:ahLst/>
                <a:cxnLst/>
                <a:rect l="l" t="t" r="r" b="b"/>
                <a:pathLst>
                  <a:path w="191988" h="478511">
                    <a:moveTo>
                      <a:pt x="146893" y="69920"/>
                    </a:moveTo>
                    <a:lnTo>
                      <a:pt x="124241" y="69920"/>
                    </a:lnTo>
                    <a:lnTo>
                      <a:pt x="124241" y="24854"/>
                    </a:lnTo>
                    <a:cubicBezTo>
                      <a:pt x="124866" y="18484"/>
                      <a:pt x="122782" y="12174"/>
                      <a:pt x="118466" y="7441"/>
                    </a:cubicBezTo>
                    <a:cubicBezTo>
                      <a:pt x="114180" y="2708"/>
                      <a:pt x="108078" y="0"/>
                      <a:pt x="101708" y="0"/>
                    </a:cubicBezTo>
                    <a:cubicBezTo>
                      <a:pt x="95309" y="0"/>
                      <a:pt x="89237" y="2708"/>
                      <a:pt x="84921" y="7441"/>
                    </a:cubicBezTo>
                    <a:cubicBezTo>
                      <a:pt x="80635" y="12174"/>
                      <a:pt x="78551" y="18484"/>
                      <a:pt x="79176" y="24854"/>
                    </a:cubicBezTo>
                    <a:lnTo>
                      <a:pt x="79176" y="69920"/>
                    </a:lnTo>
                    <a:lnTo>
                      <a:pt x="45303" y="69920"/>
                    </a:lnTo>
                    <a:cubicBezTo>
                      <a:pt x="20359" y="69920"/>
                      <a:pt x="118" y="90071"/>
                      <a:pt x="0" y="115015"/>
                    </a:cubicBezTo>
                    <a:lnTo>
                      <a:pt x="0" y="363526"/>
                    </a:lnTo>
                    <a:cubicBezTo>
                      <a:pt x="119" y="388440"/>
                      <a:pt x="20359" y="408591"/>
                      <a:pt x="45303" y="408591"/>
                    </a:cubicBezTo>
                    <a:lnTo>
                      <a:pt x="79176" y="408591"/>
                    </a:lnTo>
                    <a:lnTo>
                      <a:pt x="79176" y="453687"/>
                    </a:lnTo>
                    <a:cubicBezTo>
                      <a:pt x="78551" y="460027"/>
                      <a:pt x="80635" y="466367"/>
                      <a:pt x="84921" y="471100"/>
                    </a:cubicBezTo>
                    <a:cubicBezTo>
                      <a:pt x="89237" y="475832"/>
                      <a:pt x="95309" y="478511"/>
                      <a:pt x="101708" y="478511"/>
                    </a:cubicBezTo>
                    <a:cubicBezTo>
                      <a:pt x="108078" y="478511"/>
                      <a:pt x="114180" y="475832"/>
                      <a:pt x="118466" y="471100"/>
                    </a:cubicBezTo>
                    <a:cubicBezTo>
                      <a:pt x="122782" y="466367"/>
                      <a:pt x="124866" y="460027"/>
                      <a:pt x="124241" y="453687"/>
                    </a:cubicBezTo>
                    <a:lnTo>
                      <a:pt x="124241" y="408591"/>
                    </a:lnTo>
                    <a:lnTo>
                      <a:pt x="146893" y="408591"/>
                    </a:lnTo>
                    <a:cubicBezTo>
                      <a:pt x="171747" y="408472"/>
                      <a:pt x="191868" y="388351"/>
                      <a:pt x="191988" y="363526"/>
                    </a:cubicBezTo>
                    <a:lnTo>
                      <a:pt x="191988" y="115015"/>
                    </a:lnTo>
                    <a:cubicBezTo>
                      <a:pt x="191869" y="90161"/>
                      <a:pt x="171748" y="70039"/>
                      <a:pt x="146893" y="69920"/>
                    </a:cubicBezTo>
                    <a:close/>
                    <a:moveTo>
                      <a:pt x="146893" y="363495"/>
                    </a:moveTo>
                    <a:lnTo>
                      <a:pt x="45303" y="363495"/>
                    </a:lnTo>
                    <a:lnTo>
                      <a:pt x="45303" y="115015"/>
                    </a:lnTo>
                    <a:lnTo>
                      <a:pt x="146893" y="115015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" name="New shape"/>
              <p:cNvSpPr/>
              <p:nvPr>
                <p:custDataLst>
                  <p:tags r:id="rId39"/>
                </p:custDataLst>
              </p:nvPr>
            </p:nvSpPr>
            <p:spPr>
              <a:xfrm>
                <a:off x="1250324" y="931324"/>
                <a:ext cx="191751" cy="564534"/>
              </a:xfrm>
              <a:custGeom>
                <a:avLst/>
                <a:gdLst/>
                <a:ahLst/>
                <a:cxnLst/>
                <a:rect l="l" t="t" r="r" b="b"/>
                <a:pathLst>
                  <a:path w="191751" h="564533">
                    <a:moveTo>
                      <a:pt x="146686" y="67747"/>
                    </a:moveTo>
                    <a:lnTo>
                      <a:pt x="118527" y="67747"/>
                    </a:lnTo>
                    <a:lnTo>
                      <a:pt x="118527" y="22652"/>
                    </a:lnTo>
                    <a:cubicBezTo>
                      <a:pt x="118527" y="10150"/>
                      <a:pt x="108377" y="0"/>
                      <a:pt x="95875" y="0"/>
                    </a:cubicBezTo>
                    <a:cubicBezTo>
                      <a:pt x="83373" y="0"/>
                      <a:pt x="73223" y="10149"/>
                      <a:pt x="73223" y="22652"/>
                    </a:cubicBezTo>
                    <a:lnTo>
                      <a:pt x="73223" y="67747"/>
                    </a:lnTo>
                    <a:lnTo>
                      <a:pt x="45065" y="67747"/>
                    </a:lnTo>
                    <a:cubicBezTo>
                      <a:pt x="20181" y="67747"/>
                      <a:pt x="0" y="87927"/>
                      <a:pt x="0" y="112812"/>
                    </a:cubicBezTo>
                    <a:lnTo>
                      <a:pt x="0" y="451483"/>
                    </a:lnTo>
                    <a:cubicBezTo>
                      <a:pt x="-59" y="463478"/>
                      <a:pt x="4673" y="474998"/>
                      <a:pt x="13127" y="483511"/>
                    </a:cubicBezTo>
                    <a:cubicBezTo>
                      <a:pt x="21580" y="491994"/>
                      <a:pt x="33070" y="496786"/>
                      <a:pt x="45065" y="496786"/>
                    </a:cubicBezTo>
                    <a:lnTo>
                      <a:pt x="73223" y="496786"/>
                    </a:lnTo>
                    <a:lnTo>
                      <a:pt x="73223" y="541881"/>
                    </a:lnTo>
                    <a:cubicBezTo>
                      <a:pt x="73223" y="554383"/>
                      <a:pt x="83373" y="564533"/>
                      <a:pt x="95875" y="564533"/>
                    </a:cubicBezTo>
                    <a:cubicBezTo>
                      <a:pt x="108377" y="564533"/>
                      <a:pt x="118527" y="554384"/>
                      <a:pt x="118527" y="541881"/>
                    </a:cubicBezTo>
                    <a:lnTo>
                      <a:pt x="118527" y="496786"/>
                    </a:lnTo>
                    <a:lnTo>
                      <a:pt x="146686" y="496786"/>
                    </a:lnTo>
                    <a:cubicBezTo>
                      <a:pt x="158681" y="496786"/>
                      <a:pt x="170170" y="491994"/>
                      <a:pt x="178624" y="483511"/>
                    </a:cubicBezTo>
                    <a:cubicBezTo>
                      <a:pt x="187078" y="474998"/>
                      <a:pt x="191810" y="463478"/>
                      <a:pt x="191751" y="451483"/>
                    </a:cubicBezTo>
                    <a:lnTo>
                      <a:pt x="191751" y="112812"/>
                    </a:lnTo>
                    <a:cubicBezTo>
                      <a:pt x="191751" y="87928"/>
                      <a:pt x="171570" y="67747"/>
                      <a:pt x="146686" y="67747"/>
                    </a:cubicBezTo>
                    <a:close/>
                    <a:moveTo>
                      <a:pt x="146686" y="451482"/>
                    </a:moveTo>
                    <a:lnTo>
                      <a:pt x="45065" y="451482"/>
                    </a:lnTo>
                    <a:lnTo>
                      <a:pt x="45065" y="112811"/>
                    </a:lnTo>
                    <a:lnTo>
                      <a:pt x="146655" y="112811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" name="New shape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07529" y="1109714"/>
                <a:ext cx="191988" cy="456068"/>
              </a:xfrm>
              <a:custGeom>
                <a:avLst/>
                <a:gdLst/>
                <a:ahLst/>
                <a:cxnLst/>
                <a:rect l="l" t="t" r="r" b="b"/>
                <a:pathLst>
                  <a:path w="191988" h="456067">
                    <a:moveTo>
                      <a:pt x="146685" y="69919"/>
                    </a:moveTo>
                    <a:lnTo>
                      <a:pt x="112811" y="69919"/>
                    </a:lnTo>
                    <a:lnTo>
                      <a:pt x="112811" y="24824"/>
                    </a:lnTo>
                    <a:cubicBezTo>
                      <a:pt x="113437" y="18454"/>
                      <a:pt x="111353" y="12144"/>
                      <a:pt x="107067" y="7411"/>
                    </a:cubicBezTo>
                    <a:cubicBezTo>
                      <a:pt x="102751" y="2678"/>
                      <a:pt x="96678" y="0"/>
                      <a:pt x="90279" y="0"/>
                    </a:cubicBezTo>
                    <a:cubicBezTo>
                      <a:pt x="83909" y="0"/>
                      <a:pt x="77807" y="2678"/>
                      <a:pt x="73521" y="7411"/>
                    </a:cubicBezTo>
                    <a:cubicBezTo>
                      <a:pt x="69205" y="12144"/>
                      <a:pt x="67122" y="18454"/>
                      <a:pt x="67747" y="24824"/>
                    </a:cubicBezTo>
                    <a:lnTo>
                      <a:pt x="67747" y="69919"/>
                    </a:lnTo>
                    <a:lnTo>
                      <a:pt x="45095" y="69919"/>
                    </a:lnTo>
                    <a:cubicBezTo>
                      <a:pt x="20211" y="70128"/>
                      <a:pt x="119" y="90309"/>
                      <a:pt x="0" y="115193"/>
                    </a:cubicBezTo>
                    <a:lnTo>
                      <a:pt x="0" y="340844"/>
                    </a:lnTo>
                    <a:cubicBezTo>
                      <a:pt x="-59" y="352839"/>
                      <a:pt x="4673" y="364359"/>
                      <a:pt x="13126" y="372842"/>
                    </a:cubicBezTo>
                    <a:cubicBezTo>
                      <a:pt x="21610" y="381355"/>
                      <a:pt x="33099" y="386147"/>
                      <a:pt x="45095" y="386147"/>
                    </a:cubicBezTo>
                    <a:lnTo>
                      <a:pt x="67747" y="386147"/>
                    </a:lnTo>
                    <a:lnTo>
                      <a:pt x="67747" y="431213"/>
                    </a:lnTo>
                    <a:cubicBezTo>
                      <a:pt x="67122" y="437582"/>
                      <a:pt x="69205" y="443893"/>
                      <a:pt x="73521" y="448626"/>
                    </a:cubicBezTo>
                    <a:cubicBezTo>
                      <a:pt x="77807" y="453359"/>
                      <a:pt x="83909" y="456067"/>
                      <a:pt x="90279" y="456067"/>
                    </a:cubicBezTo>
                    <a:cubicBezTo>
                      <a:pt x="96679" y="456067"/>
                      <a:pt x="102751" y="453359"/>
                      <a:pt x="107067" y="448626"/>
                    </a:cubicBezTo>
                    <a:cubicBezTo>
                      <a:pt x="111353" y="443893"/>
                      <a:pt x="113437" y="437583"/>
                      <a:pt x="112811" y="431213"/>
                    </a:cubicBezTo>
                    <a:lnTo>
                      <a:pt x="112811" y="386147"/>
                    </a:lnTo>
                    <a:lnTo>
                      <a:pt x="146685" y="386147"/>
                    </a:lnTo>
                    <a:cubicBezTo>
                      <a:pt x="171658" y="386028"/>
                      <a:pt x="191869" y="365817"/>
                      <a:pt x="191988" y="340844"/>
                    </a:cubicBezTo>
                    <a:lnTo>
                      <a:pt x="191988" y="115193"/>
                    </a:lnTo>
                    <a:cubicBezTo>
                      <a:pt x="191869" y="90220"/>
                      <a:pt x="171658" y="70009"/>
                      <a:pt x="146685" y="69919"/>
                    </a:cubicBezTo>
                    <a:close/>
                    <a:moveTo>
                      <a:pt x="146685" y="340849"/>
                    </a:moveTo>
                    <a:lnTo>
                      <a:pt x="45095" y="340849"/>
                    </a:lnTo>
                    <a:lnTo>
                      <a:pt x="45095" y="115198"/>
                    </a:lnTo>
                    <a:lnTo>
                      <a:pt x="146685" y="115198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20" name="Rectangle 19"/>
            <p:cNvSpPr/>
            <p:nvPr>
              <p:custDataLst>
                <p:tags r:id="rId3"/>
              </p:custDataLst>
            </p:nvPr>
          </p:nvSpPr>
          <p:spPr>
            <a:xfrm>
              <a:off x="762000" y="2362200"/>
              <a:ext cx="2438400" cy="6096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Market</a:t>
              </a:r>
              <a:br>
                <a:rPr sz="16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</a:br>
              <a:r>
                <a:rPr sz="16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Analysis </a:t>
              </a:r>
            </a:p>
          </p:txBody>
        </p:sp>
        <p:sp>
          <p:nvSpPr>
            <p:cNvPr id="23" name="New shape"/>
            <p:cNvSpPr/>
            <p:nvPr>
              <p:custDataLst>
                <p:tags r:id="rId4"/>
              </p:custDataLst>
            </p:nvPr>
          </p:nvSpPr>
          <p:spPr>
            <a:xfrm>
              <a:off x="762000" y="3048000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15240" cmpd="sng">
              <a:solidFill>
                <a:srgbClr val="05966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7" name="New shape"/>
            <p:cNvSpPr/>
            <p:nvPr>
              <p:custDataLst>
                <p:tags r:id="rId5"/>
              </p:custDataLst>
            </p:nvPr>
          </p:nvSpPr>
          <p:spPr>
            <a:xfrm>
              <a:off x="4509167" y="1689503"/>
              <a:ext cx="430468" cy="430974"/>
            </a:xfrm>
            <a:custGeom>
              <a:avLst/>
              <a:gdLst/>
              <a:ahLst/>
              <a:cxnLst/>
              <a:rect l="l" t="t" r="r" b="b"/>
              <a:pathLst>
                <a:path w="430467" h="430973">
                  <a:moveTo>
                    <a:pt x="430467" y="315303"/>
                  </a:moveTo>
                  <a:lnTo>
                    <a:pt x="430021" y="315095"/>
                  </a:lnTo>
                  <a:lnTo>
                    <a:pt x="430051" y="15538"/>
                  </a:lnTo>
                  <a:cubicBezTo>
                    <a:pt x="430051" y="6965"/>
                    <a:pt x="423086" y="0"/>
                    <a:pt x="414513" y="0"/>
                  </a:cubicBezTo>
                  <a:lnTo>
                    <a:pt x="15537" y="0"/>
                  </a:lnTo>
                  <a:cubicBezTo>
                    <a:pt x="6965" y="0"/>
                    <a:pt x="0" y="6965"/>
                    <a:pt x="0" y="15538"/>
                  </a:cubicBezTo>
                  <a:lnTo>
                    <a:pt x="0" y="415435"/>
                  </a:lnTo>
                  <a:cubicBezTo>
                    <a:pt x="0" y="424008"/>
                    <a:pt x="6965" y="430973"/>
                    <a:pt x="15537" y="430973"/>
                  </a:cubicBezTo>
                  <a:lnTo>
                    <a:pt x="414482" y="430973"/>
                  </a:lnTo>
                  <a:cubicBezTo>
                    <a:pt x="423055" y="430973"/>
                    <a:pt x="430020" y="424008"/>
                    <a:pt x="430020" y="415435"/>
                  </a:cubicBezTo>
                  <a:lnTo>
                    <a:pt x="430020" y="316139"/>
                  </a:lnTo>
                  <a:close/>
                  <a:moveTo>
                    <a:pt x="418055" y="154095"/>
                  </a:moveTo>
                  <a:lnTo>
                    <a:pt x="387277" y="140194"/>
                  </a:lnTo>
                  <a:cubicBezTo>
                    <a:pt x="382753" y="138140"/>
                    <a:pt x="379092" y="134568"/>
                    <a:pt x="376978" y="130044"/>
                  </a:cubicBezTo>
                  <a:lnTo>
                    <a:pt x="362006" y="98106"/>
                  </a:lnTo>
                  <a:cubicBezTo>
                    <a:pt x="360756" y="95457"/>
                    <a:pt x="359387" y="93224"/>
                    <a:pt x="357780" y="91319"/>
                  </a:cubicBezTo>
                  <a:cubicBezTo>
                    <a:pt x="354684" y="87599"/>
                    <a:pt x="353255" y="82687"/>
                    <a:pt x="353851" y="77895"/>
                  </a:cubicBezTo>
                  <a:cubicBezTo>
                    <a:pt x="354744" y="70722"/>
                    <a:pt x="359863" y="64947"/>
                    <a:pt x="366828" y="63131"/>
                  </a:cubicBezTo>
                  <a:lnTo>
                    <a:pt x="368644" y="62655"/>
                  </a:lnTo>
                  <a:cubicBezTo>
                    <a:pt x="375430" y="60929"/>
                    <a:pt x="382544" y="63369"/>
                    <a:pt x="386801" y="68936"/>
                  </a:cubicBezTo>
                  <a:lnTo>
                    <a:pt x="418055" y="109595"/>
                  </a:lnTo>
                  <a:close/>
                  <a:moveTo>
                    <a:pt x="418055" y="313253"/>
                  </a:moveTo>
                  <a:lnTo>
                    <a:pt x="402667" y="343109"/>
                  </a:lnTo>
                  <a:cubicBezTo>
                    <a:pt x="401298" y="345788"/>
                    <a:pt x="398827" y="347663"/>
                    <a:pt x="395880" y="348288"/>
                  </a:cubicBezTo>
                  <a:cubicBezTo>
                    <a:pt x="392963" y="348913"/>
                    <a:pt x="389957" y="348169"/>
                    <a:pt x="387635" y="346293"/>
                  </a:cubicBezTo>
                  <a:lnTo>
                    <a:pt x="384867" y="344031"/>
                  </a:lnTo>
                  <a:cubicBezTo>
                    <a:pt x="379747" y="339894"/>
                    <a:pt x="373109" y="338257"/>
                    <a:pt x="366681" y="339626"/>
                  </a:cubicBezTo>
                  <a:lnTo>
                    <a:pt x="359388" y="341144"/>
                  </a:lnTo>
                  <a:cubicBezTo>
                    <a:pt x="357661" y="341501"/>
                    <a:pt x="355846" y="341382"/>
                    <a:pt x="354179" y="340817"/>
                  </a:cubicBezTo>
                  <a:lnTo>
                    <a:pt x="332956" y="333554"/>
                  </a:lnTo>
                  <a:cubicBezTo>
                    <a:pt x="330217" y="332631"/>
                    <a:pt x="328015" y="330518"/>
                    <a:pt x="326943" y="327809"/>
                  </a:cubicBezTo>
                  <a:cubicBezTo>
                    <a:pt x="325871" y="325071"/>
                    <a:pt x="326050" y="322035"/>
                    <a:pt x="327419" y="319445"/>
                  </a:cubicBezTo>
                  <a:cubicBezTo>
                    <a:pt x="329741" y="315099"/>
                    <a:pt x="334950" y="313104"/>
                    <a:pt x="339564" y="314801"/>
                  </a:cubicBezTo>
                  <a:lnTo>
                    <a:pt x="350905" y="318968"/>
                  </a:lnTo>
                  <a:cubicBezTo>
                    <a:pt x="355370" y="320605"/>
                    <a:pt x="360311" y="320754"/>
                    <a:pt x="364835" y="319355"/>
                  </a:cubicBezTo>
                  <a:lnTo>
                    <a:pt x="418056" y="303044"/>
                  </a:lnTo>
                  <a:lnTo>
                    <a:pt x="418056" y="313284"/>
                  </a:lnTo>
                  <a:close/>
                  <a:moveTo>
                    <a:pt x="15537" y="11966"/>
                  </a:moveTo>
                  <a:lnTo>
                    <a:pt x="414482" y="11966"/>
                  </a:lnTo>
                  <a:cubicBezTo>
                    <a:pt x="416446" y="11966"/>
                    <a:pt x="418053" y="13574"/>
                    <a:pt x="418053" y="15538"/>
                  </a:cubicBezTo>
                  <a:lnTo>
                    <a:pt x="418053" y="89982"/>
                  </a:lnTo>
                  <a:lnTo>
                    <a:pt x="396294" y="61675"/>
                  </a:lnTo>
                  <a:cubicBezTo>
                    <a:pt x="389091" y="52328"/>
                    <a:pt x="377066" y="48162"/>
                    <a:pt x="365666" y="51108"/>
                  </a:cubicBezTo>
                  <a:lnTo>
                    <a:pt x="363850" y="51585"/>
                  </a:lnTo>
                  <a:cubicBezTo>
                    <a:pt x="352092" y="54621"/>
                    <a:pt x="343490" y="64354"/>
                    <a:pt x="341972" y="76439"/>
                  </a:cubicBezTo>
                  <a:cubicBezTo>
                    <a:pt x="340931" y="84535"/>
                    <a:pt x="343342" y="92780"/>
                    <a:pt x="348581" y="99061"/>
                  </a:cubicBezTo>
                  <a:cubicBezTo>
                    <a:pt x="349503" y="100162"/>
                    <a:pt x="350337" y="101561"/>
                    <a:pt x="351170" y="103258"/>
                  </a:cubicBezTo>
                  <a:lnTo>
                    <a:pt x="366142" y="135196"/>
                  </a:lnTo>
                  <a:cubicBezTo>
                    <a:pt x="369475" y="142281"/>
                    <a:pt x="375220" y="147966"/>
                    <a:pt x="382334" y="151151"/>
                  </a:cubicBezTo>
                  <a:lnTo>
                    <a:pt x="418053" y="167254"/>
                  </a:lnTo>
                  <a:lnTo>
                    <a:pt x="418053" y="244582"/>
                  </a:lnTo>
                  <a:lnTo>
                    <a:pt x="304469" y="158979"/>
                  </a:lnTo>
                  <a:cubicBezTo>
                    <a:pt x="296165" y="152728"/>
                    <a:pt x="291729" y="142787"/>
                    <a:pt x="292682" y="132398"/>
                  </a:cubicBezTo>
                  <a:lnTo>
                    <a:pt x="293515" y="123081"/>
                  </a:lnTo>
                  <a:cubicBezTo>
                    <a:pt x="295242" y="103794"/>
                    <a:pt x="283633" y="85934"/>
                    <a:pt x="265328" y="79683"/>
                  </a:cubicBezTo>
                  <a:lnTo>
                    <a:pt x="260029" y="77867"/>
                  </a:lnTo>
                  <a:cubicBezTo>
                    <a:pt x="248123" y="73819"/>
                    <a:pt x="235175" y="75278"/>
                    <a:pt x="224489" y="81916"/>
                  </a:cubicBezTo>
                  <a:lnTo>
                    <a:pt x="177400" y="111175"/>
                  </a:lnTo>
                  <a:cubicBezTo>
                    <a:pt x="167696" y="117217"/>
                    <a:pt x="155194" y="117128"/>
                    <a:pt x="145580" y="110937"/>
                  </a:cubicBezTo>
                  <a:lnTo>
                    <a:pt x="142127" y="108704"/>
                  </a:lnTo>
                  <a:lnTo>
                    <a:pt x="153557" y="88910"/>
                  </a:lnTo>
                  <a:lnTo>
                    <a:pt x="155045" y="85784"/>
                  </a:lnTo>
                  <a:lnTo>
                    <a:pt x="155283" y="85219"/>
                  </a:lnTo>
                  <a:cubicBezTo>
                    <a:pt x="157040" y="80159"/>
                    <a:pt x="157933" y="74831"/>
                    <a:pt x="157933" y="69413"/>
                  </a:cubicBezTo>
                  <a:cubicBezTo>
                    <a:pt x="157933" y="42922"/>
                    <a:pt x="136383" y="21372"/>
                    <a:pt x="109861" y="21372"/>
                  </a:cubicBezTo>
                  <a:cubicBezTo>
                    <a:pt x="83369" y="21372"/>
                    <a:pt x="61790" y="42922"/>
                    <a:pt x="61790" y="69413"/>
                  </a:cubicBezTo>
                  <a:cubicBezTo>
                    <a:pt x="61790" y="74831"/>
                    <a:pt x="62682" y="80129"/>
                    <a:pt x="64439" y="85219"/>
                  </a:cubicBezTo>
                  <a:lnTo>
                    <a:pt x="65927" y="88463"/>
                  </a:lnTo>
                  <a:lnTo>
                    <a:pt x="80304" y="113377"/>
                  </a:lnTo>
                  <a:cubicBezTo>
                    <a:pt x="70541" y="121652"/>
                    <a:pt x="65004" y="134183"/>
                    <a:pt x="65480" y="146983"/>
                  </a:cubicBezTo>
                  <a:lnTo>
                    <a:pt x="65629" y="150882"/>
                  </a:lnTo>
                  <a:cubicBezTo>
                    <a:pt x="66076" y="162818"/>
                    <a:pt x="59408" y="173891"/>
                    <a:pt x="48633" y="179040"/>
                  </a:cubicBezTo>
                  <a:lnTo>
                    <a:pt x="11932" y="196572"/>
                  </a:lnTo>
                  <a:lnTo>
                    <a:pt x="11932" y="15536"/>
                  </a:lnTo>
                  <a:cubicBezTo>
                    <a:pt x="11932" y="13572"/>
                    <a:pt x="13539" y="11964"/>
                    <a:pt x="15504" y="11964"/>
                  </a:cubicBezTo>
                  <a:close/>
                  <a:moveTo>
                    <a:pt x="76675" y="83166"/>
                  </a:moveTo>
                  <a:lnTo>
                    <a:pt x="75663" y="81023"/>
                  </a:lnTo>
                  <a:cubicBezTo>
                    <a:pt x="74412" y="77302"/>
                    <a:pt x="73758" y="73403"/>
                    <a:pt x="73758" y="69444"/>
                  </a:cubicBezTo>
                  <a:cubicBezTo>
                    <a:pt x="73758" y="49561"/>
                    <a:pt x="89950" y="33368"/>
                    <a:pt x="109834" y="33368"/>
                  </a:cubicBezTo>
                  <a:cubicBezTo>
                    <a:pt x="129747" y="33368"/>
                    <a:pt x="145910" y="49561"/>
                    <a:pt x="145910" y="69444"/>
                  </a:cubicBezTo>
                  <a:cubicBezTo>
                    <a:pt x="145910" y="73403"/>
                    <a:pt x="145255" y="77302"/>
                    <a:pt x="144005" y="81023"/>
                  </a:cubicBezTo>
                  <a:lnTo>
                    <a:pt x="142993" y="83166"/>
                  </a:lnTo>
                  <a:lnTo>
                    <a:pt x="110936" y="138679"/>
                  </a:lnTo>
                  <a:cubicBezTo>
                    <a:pt x="110638" y="139215"/>
                    <a:pt x="110162" y="139334"/>
                    <a:pt x="109804" y="139334"/>
                  </a:cubicBezTo>
                  <a:cubicBezTo>
                    <a:pt x="109447" y="139334"/>
                    <a:pt x="109001" y="139215"/>
                    <a:pt x="108673" y="138679"/>
                  </a:cubicBezTo>
                  <a:lnTo>
                    <a:pt x="76616" y="83166"/>
                  </a:lnTo>
                  <a:close/>
                  <a:moveTo>
                    <a:pt x="11964" y="415436"/>
                  </a:moveTo>
                  <a:lnTo>
                    <a:pt x="11964" y="367513"/>
                  </a:lnTo>
                  <a:lnTo>
                    <a:pt x="73013" y="350606"/>
                  </a:lnTo>
                  <a:cubicBezTo>
                    <a:pt x="77954" y="349237"/>
                    <a:pt x="83342" y="349921"/>
                    <a:pt x="87777" y="352451"/>
                  </a:cubicBezTo>
                  <a:lnTo>
                    <a:pt x="117542" y="369448"/>
                  </a:lnTo>
                  <a:cubicBezTo>
                    <a:pt x="125520" y="374002"/>
                    <a:pt x="135045" y="374835"/>
                    <a:pt x="143677" y="371740"/>
                  </a:cubicBezTo>
                  <a:lnTo>
                    <a:pt x="227466" y="341706"/>
                  </a:lnTo>
                  <a:cubicBezTo>
                    <a:pt x="230145" y="340754"/>
                    <a:pt x="233032" y="340397"/>
                    <a:pt x="235860" y="340665"/>
                  </a:cubicBezTo>
                  <a:lnTo>
                    <a:pt x="240325" y="341111"/>
                  </a:lnTo>
                  <a:cubicBezTo>
                    <a:pt x="246100" y="341677"/>
                    <a:pt x="251279" y="344742"/>
                    <a:pt x="254524" y="349565"/>
                  </a:cubicBezTo>
                  <a:cubicBezTo>
                    <a:pt x="257798" y="354416"/>
                    <a:pt x="258721" y="360399"/>
                    <a:pt x="257083" y="365995"/>
                  </a:cubicBezTo>
                  <a:cubicBezTo>
                    <a:pt x="254166" y="375907"/>
                    <a:pt x="256280" y="386622"/>
                    <a:pt x="262768" y="394659"/>
                  </a:cubicBezTo>
                  <a:lnTo>
                    <a:pt x="282444" y="419037"/>
                  </a:lnTo>
                  <a:lnTo>
                    <a:pt x="15538" y="419037"/>
                  </a:lnTo>
                  <a:cubicBezTo>
                    <a:pt x="13573" y="419037"/>
                    <a:pt x="11966" y="417429"/>
                    <a:pt x="11966" y="415465"/>
                  </a:cubicBezTo>
                  <a:close/>
                  <a:moveTo>
                    <a:pt x="418057" y="415436"/>
                  </a:moveTo>
                  <a:cubicBezTo>
                    <a:pt x="418057" y="417401"/>
                    <a:pt x="416449" y="419008"/>
                    <a:pt x="414485" y="419008"/>
                  </a:cubicBezTo>
                  <a:lnTo>
                    <a:pt x="297807" y="419008"/>
                  </a:lnTo>
                  <a:lnTo>
                    <a:pt x="272060" y="387099"/>
                  </a:lnTo>
                  <a:cubicBezTo>
                    <a:pt x="268042" y="382129"/>
                    <a:pt x="266732" y="375491"/>
                    <a:pt x="268548" y="369359"/>
                  </a:cubicBezTo>
                  <a:cubicBezTo>
                    <a:pt x="271197" y="360310"/>
                    <a:pt x="269709" y="350666"/>
                    <a:pt x="264440" y="342838"/>
                  </a:cubicBezTo>
                  <a:cubicBezTo>
                    <a:pt x="259172" y="335039"/>
                    <a:pt x="250807" y="330068"/>
                    <a:pt x="241462" y="329175"/>
                  </a:cubicBezTo>
                  <a:lnTo>
                    <a:pt x="236997" y="328729"/>
                  </a:lnTo>
                  <a:cubicBezTo>
                    <a:pt x="232412" y="328282"/>
                    <a:pt x="227740" y="328878"/>
                    <a:pt x="223424" y="330425"/>
                  </a:cubicBezTo>
                  <a:lnTo>
                    <a:pt x="139634" y="360459"/>
                  </a:lnTo>
                  <a:cubicBezTo>
                    <a:pt x="134306" y="362364"/>
                    <a:pt x="128412" y="361858"/>
                    <a:pt x="123501" y="359030"/>
                  </a:cubicBezTo>
                  <a:lnTo>
                    <a:pt x="93736" y="342034"/>
                  </a:lnTo>
                  <a:cubicBezTo>
                    <a:pt x="86533" y="337926"/>
                    <a:pt x="77812" y="336825"/>
                    <a:pt x="69834" y="339057"/>
                  </a:cubicBezTo>
                  <a:lnTo>
                    <a:pt x="11970" y="355071"/>
                  </a:lnTo>
                  <a:lnTo>
                    <a:pt x="11970" y="209819"/>
                  </a:lnTo>
                  <a:lnTo>
                    <a:pt x="53820" y="189816"/>
                  </a:lnTo>
                  <a:cubicBezTo>
                    <a:pt x="68912" y="182613"/>
                    <a:pt x="78228" y="167135"/>
                    <a:pt x="77603" y="150406"/>
                  </a:cubicBezTo>
                  <a:lnTo>
                    <a:pt x="77454" y="146507"/>
                  </a:lnTo>
                  <a:cubicBezTo>
                    <a:pt x="77127" y="138083"/>
                    <a:pt x="80460" y="129838"/>
                    <a:pt x="86443" y="123975"/>
                  </a:cubicBezTo>
                  <a:lnTo>
                    <a:pt x="98350" y="144632"/>
                  </a:lnTo>
                  <a:cubicBezTo>
                    <a:pt x="100761" y="148799"/>
                    <a:pt x="105047" y="151270"/>
                    <a:pt x="109839" y="151270"/>
                  </a:cubicBezTo>
                  <a:cubicBezTo>
                    <a:pt x="114631" y="151270"/>
                    <a:pt x="118947" y="148799"/>
                    <a:pt x="121329" y="144632"/>
                  </a:cubicBezTo>
                  <a:lnTo>
                    <a:pt x="136092" y="119063"/>
                  </a:lnTo>
                  <a:lnTo>
                    <a:pt x="139069" y="120998"/>
                  </a:lnTo>
                  <a:cubicBezTo>
                    <a:pt x="152552" y="129659"/>
                    <a:pt x="170084" y="129808"/>
                    <a:pt x="183688" y="121325"/>
                  </a:cubicBezTo>
                  <a:lnTo>
                    <a:pt x="230777" y="92066"/>
                  </a:lnTo>
                  <a:cubicBezTo>
                    <a:pt x="238397" y="87333"/>
                    <a:pt x="247624" y="86261"/>
                    <a:pt x="256108" y="89179"/>
                  </a:cubicBezTo>
                  <a:lnTo>
                    <a:pt x="261406" y="90994"/>
                  </a:lnTo>
                  <a:cubicBezTo>
                    <a:pt x="274472" y="95459"/>
                    <a:pt x="282748" y="108199"/>
                    <a:pt x="281527" y="121980"/>
                  </a:cubicBezTo>
                  <a:lnTo>
                    <a:pt x="280694" y="131297"/>
                  </a:lnTo>
                  <a:cubicBezTo>
                    <a:pt x="279384" y="145822"/>
                    <a:pt x="285575" y="159753"/>
                    <a:pt x="297214" y="168504"/>
                  </a:cubicBezTo>
                  <a:lnTo>
                    <a:pt x="418029" y="259525"/>
                  </a:lnTo>
                  <a:lnTo>
                    <a:pt x="418029" y="290452"/>
                  </a:lnTo>
                  <a:lnTo>
                    <a:pt x="361296" y="307834"/>
                  </a:lnTo>
                  <a:cubicBezTo>
                    <a:pt x="359242" y="308459"/>
                    <a:pt x="357010" y="308400"/>
                    <a:pt x="354985" y="307656"/>
                  </a:cubicBezTo>
                  <a:lnTo>
                    <a:pt x="343644" y="303489"/>
                  </a:lnTo>
                  <a:cubicBezTo>
                    <a:pt x="333435" y="299738"/>
                    <a:pt x="321915" y="304143"/>
                    <a:pt x="316796" y="313758"/>
                  </a:cubicBezTo>
                  <a:cubicBezTo>
                    <a:pt x="313760" y="319443"/>
                    <a:pt x="313373" y="326140"/>
                    <a:pt x="315754" y="332153"/>
                  </a:cubicBezTo>
                  <a:cubicBezTo>
                    <a:pt x="318106" y="338136"/>
                    <a:pt x="322958" y="342750"/>
                    <a:pt x="329030" y="344834"/>
                  </a:cubicBezTo>
                  <a:lnTo>
                    <a:pt x="350253" y="352097"/>
                  </a:lnTo>
                  <a:cubicBezTo>
                    <a:pt x="353944" y="353347"/>
                    <a:pt x="357933" y="353615"/>
                    <a:pt x="361772" y="352811"/>
                  </a:cubicBezTo>
                  <a:lnTo>
                    <a:pt x="369065" y="351293"/>
                  </a:lnTo>
                  <a:cubicBezTo>
                    <a:pt x="371982" y="350698"/>
                    <a:pt x="374988" y="351412"/>
                    <a:pt x="377280" y="353287"/>
                  </a:cubicBezTo>
                  <a:lnTo>
                    <a:pt x="380048" y="355550"/>
                  </a:lnTo>
                  <a:cubicBezTo>
                    <a:pt x="383977" y="358734"/>
                    <a:pt x="388828" y="360431"/>
                    <a:pt x="393770" y="360431"/>
                  </a:cubicBezTo>
                  <a:cubicBezTo>
                    <a:pt x="395259" y="360431"/>
                    <a:pt x="396776" y="360282"/>
                    <a:pt x="398295" y="359955"/>
                  </a:cubicBezTo>
                  <a:cubicBezTo>
                    <a:pt x="404754" y="358586"/>
                    <a:pt x="410231" y="354448"/>
                    <a:pt x="413267" y="348554"/>
                  </a:cubicBezTo>
                  <a:lnTo>
                    <a:pt x="417999" y="339387"/>
                  </a:lnTo>
                  <a:lnTo>
                    <a:pt x="417999" y="415438"/>
                  </a:lnTo>
                  <a:close/>
                  <a:moveTo>
                    <a:pt x="253777" y="243331"/>
                  </a:moveTo>
                  <a:cubicBezTo>
                    <a:pt x="253509" y="242646"/>
                    <a:pt x="253390" y="241902"/>
                    <a:pt x="253479" y="241158"/>
                  </a:cubicBezTo>
                  <a:lnTo>
                    <a:pt x="254581" y="229817"/>
                  </a:lnTo>
                  <a:cubicBezTo>
                    <a:pt x="255355" y="221751"/>
                    <a:pt x="250265" y="214339"/>
                    <a:pt x="242466" y="212196"/>
                  </a:cubicBezTo>
                  <a:lnTo>
                    <a:pt x="241782" y="212017"/>
                  </a:lnTo>
                  <a:cubicBezTo>
                    <a:pt x="236484" y="210559"/>
                    <a:pt x="230828" y="211809"/>
                    <a:pt x="226661" y="215381"/>
                  </a:cubicBezTo>
                  <a:lnTo>
                    <a:pt x="219100" y="221810"/>
                  </a:lnTo>
                  <a:cubicBezTo>
                    <a:pt x="217731" y="222971"/>
                    <a:pt x="215886" y="223239"/>
                    <a:pt x="214278" y="222524"/>
                  </a:cubicBezTo>
                  <a:cubicBezTo>
                    <a:pt x="209129" y="220262"/>
                    <a:pt x="203265" y="220739"/>
                    <a:pt x="198562" y="223834"/>
                  </a:cubicBezTo>
                  <a:cubicBezTo>
                    <a:pt x="193859" y="226900"/>
                    <a:pt x="191031" y="232109"/>
                    <a:pt x="191031" y="237764"/>
                  </a:cubicBezTo>
                  <a:lnTo>
                    <a:pt x="191031" y="243688"/>
                  </a:lnTo>
                  <a:cubicBezTo>
                    <a:pt x="191031" y="248301"/>
                    <a:pt x="192966" y="252766"/>
                    <a:pt x="196360" y="255892"/>
                  </a:cubicBezTo>
                  <a:lnTo>
                    <a:pt x="207521" y="266221"/>
                  </a:lnTo>
                  <a:cubicBezTo>
                    <a:pt x="208652" y="267262"/>
                    <a:pt x="209188" y="268810"/>
                    <a:pt x="208950" y="270328"/>
                  </a:cubicBezTo>
                  <a:lnTo>
                    <a:pt x="207224" y="281848"/>
                  </a:lnTo>
                  <a:cubicBezTo>
                    <a:pt x="206420" y="287176"/>
                    <a:pt x="208295" y="292593"/>
                    <a:pt x="212194" y="296343"/>
                  </a:cubicBezTo>
                  <a:cubicBezTo>
                    <a:pt x="215290" y="299320"/>
                    <a:pt x="219428" y="300927"/>
                    <a:pt x="223654" y="300927"/>
                  </a:cubicBezTo>
                  <a:cubicBezTo>
                    <a:pt x="224726" y="300927"/>
                    <a:pt x="225797" y="300808"/>
                    <a:pt x="226869" y="300629"/>
                  </a:cubicBezTo>
                  <a:lnTo>
                    <a:pt x="238567" y="298308"/>
                  </a:lnTo>
                  <a:cubicBezTo>
                    <a:pt x="245175" y="296998"/>
                    <a:pt x="250295" y="291878"/>
                    <a:pt x="251604" y="285270"/>
                  </a:cubicBezTo>
                  <a:lnTo>
                    <a:pt x="256932" y="258541"/>
                  </a:lnTo>
                  <a:cubicBezTo>
                    <a:pt x="257557" y="255386"/>
                    <a:pt x="257260" y="252112"/>
                    <a:pt x="256069" y="249105"/>
                  </a:cubicBezTo>
                  <a:lnTo>
                    <a:pt x="253777" y="243390"/>
                  </a:lnTo>
                  <a:close/>
                  <a:moveTo>
                    <a:pt x="245175" y="256100"/>
                  </a:moveTo>
                  <a:lnTo>
                    <a:pt x="239847" y="282830"/>
                  </a:lnTo>
                  <a:cubicBezTo>
                    <a:pt x="239490" y="284675"/>
                    <a:pt x="238061" y="286104"/>
                    <a:pt x="236215" y="286461"/>
                  </a:cubicBezTo>
                  <a:lnTo>
                    <a:pt x="224517" y="288783"/>
                  </a:lnTo>
                  <a:cubicBezTo>
                    <a:pt x="223029" y="289081"/>
                    <a:pt x="221541" y="288634"/>
                    <a:pt x="220439" y="287592"/>
                  </a:cubicBezTo>
                  <a:cubicBezTo>
                    <a:pt x="219338" y="286521"/>
                    <a:pt x="218832" y="285062"/>
                    <a:pt x="219040" y="283544"/>
                  </a:cubicBezTo>
                  <a:lnTo>
                    <a:pt x="220767" y="272025"/>
                  </a:lnTo>
                  <a:cubicBezTo>
                    <a:pt x="221570" y="266578"/>
                    <a:pt x="219636" y="261101"/>
                    <a:pt x="215617" y="257350"/>
                  </a:cubicBezTo>
                  <a:lnTo>
                    <a:pt x="204456" y="247022"/>
                  </a:lnTo>
                  <a:cubicBezTo>
                    <a:pt x="203503" y="246158"/>
                    <a:pt x="202967" y="244908"/>
                    <a:pt x="202967" y="243599"/>
                  </a:cubicBezTo>
                  <a:lnTo>
                    <a:pt x="202967" y="237675"/>
                  </a:lnTo>
                  <a:cubicBezTo>
                    <a:pt x="202967" y="235413"/>
                    <a:pt x="204426" y="234193"/>
                    <a:pt x="205081" y="233776"/>
                  </a:cubicBezTo>
                  <a:cubicBezTo>
                    <a:pt x="205497" y="233508"/>
                    <a:pt x="206420" y="233002"/>
                    <a:pt x="207581" y="233002"/>
                  </a:cubicBezTo>
                  <a:cubicBezTo>
                    <a:pt x="208146" y="233002"/>
                    <a:pt x="208772" y="233121"/>
                    <a:pt x="209426" y="233389"/>
                  </a:cubicBezTo>
                  <a:cubicBezTo>
                    <a:pt x="215201" y="235919"/>
                    <a:pt x="222017" y="234937"/>
                    <a:pt x="226840" y="230829"/>
                  </a:cubicBezTo>
                  <a:lnTo>
                    <a:pt x="234400" y="224400"/>
                  </a:lnTo>
                  <a:cubicBezTo>
                    <a:pt x="235561" y="223417"/>
                    <a:pt x="237139" y="223060"/>
                    <a:pt x="238597" y="223477"/>
                  </a:cubicBezTo>
                  <a:lnTo>
                    <a:pt x="239282" y="223656"/>
                  </a:lnTo>
                  <a:cubicBezTo>
                    <a:pt x="241455" y="224251"/>
                    <a:pt x="242883" y="226335"/>
                    <a:pt x="242645" y="228567"/>
                  </a:cubicBezTo>
                  <a:lnTo>
                    <a:pt x="241544" y="239908"/>
                  </a:lnTo>
                  <a:cubicBezTo>
                    <a:pt x="241306" y="242527"/>
                    <a:pt x="241663" y="245206"/>
                    <a:pt x="242645" y="247676"/>
                  </a:cubicBezTo>
                  <a:lnTo>
                    <a:pt x="244937" y="253391"/>
                  </a:lnTo>
                  <a:cubicBezTo>
                    <a:pt x="245264" y="254225"/>
                    <a:pt x="245354" y="255148"/>
                    <a:pt x="245175" y="256041"/>
                  </a:cubicBezTo>
                  <a:close/>
                  <a:moveTo>
                    <a:pt x="213385" y="189633"/>
                  </a:moveTo>
                  <a:cubicBezTo>
                    <a:pt x="214873" y="194485"/>
                    <a:pt x="218683" y="198206"/>
                    <a:pt x="223565" y="199575"/>
                  </a:cubicBezTo>
                  <a:lnTo>
                    <a:pt x="226154" y="200290"/>
                  </a:lnTo>
                  <a:cubicBezTo>
                    <a:pt x="227494" y="200677"/>
                    <a:pt x="228833" y="200825"/>
                    <a:pt x="230143" y="200825"/>
                  </a:cubicBezTo>
                  <a:cubicBezTo>
                    <a:pt x="236364" y="200825"/>
                    <a:pt x="242108" y="196867"/>
                    <a:pt x="244193" y="190675"/>
                  </a:cubicBezTo>
                  <a:lnTo>
                    <a:pt x="251693" y="168084"/>
                  </a:lnTo>
                  <a:cubicBezTo>
                    <a:pt x="252378" y="166000"/>
                    <a:pt x="252616" y="163768"/>
                    <a:pt x="252348" y="161595"/>
                  </a:cubicBezTo>
                  <a:lnTo>
                    <a:pt x="250622" y="147337"/>
                  </a:lnTo>
                  <a:cubicBezTo>
                    <a:pt x="250295" y="144718"/>
                    <a:pt x="249312" y="142247"/>
                    <a:pt x="247705" y="140164"/>
                  </a:cubicBezTo>
                  <a:cubicBezTo>
                    <a:pt x="244699" y="136175"/>
                    <a:pt x="239907" y="134002"/>
                    <a:pt x="234935" y="134329"/>
                  </a:cubicBezTo>
                  <a:cubicBezTo>
                    <a:pt x="229965" y="134657"/>
                    <a:pt x="225499" y="137455"/>
                    <a:pt x="223029" y="141801"/>
                  </a:cubicBezTo>
                  <a:lnTo>
                    <a:pt x="210439" y="164066"/>
                  </a:lnTo>
                  <a:cubicBezTo>
                    <a:pt x="208444" y="167608"/>
                    <a:pt x="207968" y="171834"/>
                    <a:pt x="209159" y="175733"/>
                  </a:cubicBezTo>
                  <a:lnTo>
                    <a:pt x="213415" y="189604"/>
                  </a:lnTo>
                  <a:close/>
                  <a:moveTo>
                    <a:pt x="220826" y="170018"/>
                  </a:moveTo>
                  <a:lnTo>
                    <a:pt x="233417" y="147753"/>
                  </a:lnTo>
                  <a:cubicBezTo>
                    <a:pt x="234072" y="146592"/>
                    <a:pt x="235114" y="146354"/>
                    <a:pt x="235679" y="146324"/>
                  </a:cubicBezTo>
                  <a:lnTo>
                    <a:pt x="235887" y="146324"/>
                  </a:lnTo>
                  <a:cubicBezTo>
                    <a:pt x="236483" y="146324"/>
                    <a:pt x="237406" y="146503"/>
                    <a:pt x="238120" y="147455"/>
                  </a:cubicBezTo>
                  <a:cubicBezTo>
                    <a:pt x="238418" y="147872"/>
                    <a:pt x="238626" y="148349"/>
                    <a:pt x="238686" y="148855"/>
                  </a:cubicBezTo>
                  <a:lnTo>
                    <a:pt x="240412" y="163112"/>
                  </a:lnTo>
                  <a:cubicBezTo>
                    <a:pt x="240472" y="163529"/>
                    <a:pt x="240412" y="163976"/>
                    <a:pt x="240293" y="164362"/>
                  </a:cubicBezTo>
                  <a:lnTo>
                    <a:pt x="232792" y="186954"/>
                  </a:lnTo>
                  <a:cubicBezTo>
                    <a:pt x="232316" y="188383"/>
                    <a:pt x="230798" y="189216"/>
                    <a:pt x="229339" y="188800"/>
                  </a:cubicBezTo>
                  <a:lnTo>
                    <a:pt x="226750" y="188085"/>
                  </a:lnTo>
                  <a:cubicBezTo>
                    <a:pt x="225827" y="187817"/>
                    <a:pt x="225083" y="187103"/>
                    <a:pt x="224785" y="186180"/>
                  </a:cubicBezTo>
                  <a:lnTo>
                    <a:pt x="220529" y="172310"/>
                  </a:lnTo>
                  <a:cubicBezTo>
                    <a:pt x="220290" y="171565"/>
                    <a:pt x="220380" y="170732"/>
                    <a:pt x="220767" y="170047"/>
                  </a:cubicBezTo>
                  <a:close/>
                  <a:moveTo>
                    <a:pt x="109864" y="90008"/>
                  </a:moveTo>
                  <a:cubicBezTo>
                    <a:pt x="120282" y="90008"/>
                    <a:pt x="128795" y="81554"/>
                    <a:pt x="128854" y="71136"/>
                  </a:cubicBezTo>
                  <a:cubicBezTo>
                    <a:pt x="128914" y="60659"/>
                    <a:pt x="120460" y="52086"/>
                    <a:pt x="109983" y="52027"/>
                  </a:cubicBezTo>
                  <a:lnTo>
                    <a:pt x="109864" y="52027"/>
                  </a:lnTo>
                  <a:cubicBezTo>
                    <a:pt x="99446" y="52027"/>
                    <a:pt x="90933" y="60481"/>
                    <a:pt x="90873" y="70899"/>
                  </a:cubicBezTo>
                  <a:cubicBezTo>
                    <a:pt x="90814" y="81376"/>
                    <a:pt x="99267" y="89949"/>
                    <a:pt x="109745" y="90008"/>
                  </a:cubicBezTo>
                  <a:close/>
                  <a:moveTo>
                    <a:pt x="102839" y="70958"/>
                  </a:moveTo>
                  <a:cubicBezTo>
                    <a:pt x="102869" y="67088"/>
                    <a:pt x="105995" y="63993"/>
                    <a:pt x="109864" y="63993"/>
                  </a:cubicBezTo>
                  <a:lnTo>
                    <a:pt x="109923" y="63993"/>
                  </a:lnTo>
                  <a:cubicBezTo>
                    <a:pt x="113793" y="64023"/>
                    <a:pt x="116918" y="67178"/>
                    <a:pt x="116889" y="71047"/>
                  </a:cubicBezTo>
                  <a:cubicBezTo>
                    <a:pt x="116859" y="74917"/>
                    <a:pt x="113734" y="78012"/>
                    <a:pt x="109864" y="78012"/>
                  </a:cubicBezTo>
                  <a:lnTo>
                    <a:pt x="109804" y="78012"/>
                  </a:lnTo>
                  <a:cubicBezTo>
                    <a:pt x="105935" y="77983"/>
                    <a:pt x="102810" y="74827"/>
                    <a:pt x="102839" y="70958"/>
                  </a:cubicBezTo>
                  <a:close/>
                  <a:moveTo>
                    <a:pt x="362186" y="190821"/>
                  </a:moveTo>
                  <a:lnTo>
                    <a:pt x="369092" y="183915"/>
                  </a:lnTo>
                  <a:lnTo>
                    <a:pt x="362186" y="177009"/>
                  </a:lnTo>
                  <a:cubicBezTo>
                    <a:pt x="359835" y="174658"/>
                    <a:pt x="359835" y="170878"/>
                    <a:pt x="362186" y="168556"/>
                  </a:cubicBezTo>
                  <a:cubicBezTo>
                    <a:pt x="364537" y="166204"/>
                    <a:pt x="368318" y="166204"/>
                    <a:pt x="370640" y="168556"/>
                  </a:cubicBezTo>
                  <a:lnTo>
                    <a:pt x="377545" y="175461"/>
                  </a:lnTo>
                  <a:lnTo>
                    <a:pt x="384451" y="168556"/>
                  </a:lnTo>
                  <a:cubicBezTo>
                    <a:pt x="386802" y="166204"/>
                    <a:pt x="390583" y="166204"/>
                    <a:pt x="392905" y="168556"/>
                  </a:cubicBezTo>
                  <a:cubicBezTo>
                    <a:pt x="395256" y="170907"/>
                    <a:pt x="395256" y="174687"/>
                    <a:pt x="392905" y="177009"/>
                  </a:cubicBezTo>
                  <a:lnTo>
                    <a:pt x="385999" y="183915"/>
                  </a:lnTo>
                  <a:lnTo>
                    <a:pt x="392905" y="190821"/>
                  </a:lnTo>
                  <a:cubicBezTo>
                    <a:pt x="395256" y="193172"/>
                    <a:pt x="395256" y="196952"/>
                    <a:pt x="392905" y="199274"/>
                  </a:cubicBezTo>
                  <a:cubicBezTo>
                    <a:pt x="391744" y="200435"/>
                    <a:pt x="390196" y="201030"/>
                    <a:pt x="388678" y="201030"/>
                  </a:cubicBezTo>
                  <a:cubicBezTo>
                    <a:pt x="387160" y="201030"/>
                    <a:pt x="385612" y="200435"/>
                    <a:pt x="384451" y="199274"/>
                  </a:cubicBezTo>
                  <a:lnTo>
                    <a:pt x="377545" y="192369"/>
                  </a:lnTo>
                  <a:lnTo>
                    <a:pt x="370640" y="199274"/>
                  </a:lnTo>
                  <a:cubicBezTo>
                    <a:pt x="369479" y="200435"/>
                    <a:pt x="367931" y="201030"/>
                    <a:pt x="366413" y="201030"/>
                  </a:cubicBezTo>
                  <a:cubicBezTo>
                    <a:pt x="364895" y="201030"/>
                    <a:pt x="363347" y="200435"/>
                    <a:pt x="362186" y="199274"/>
                  </a:cubicBezTo>
                  <a:cubicBezTo>
                    <a:pt x="359835" y="196923"/>
                    <a:pt x="359835" y="193143"/>
                    <a:pt x="362186" y="190821"/>
                  </a:cubicBez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Rectangle 27"/>
            <p:cNvSpPr/>
            <p:nvPr>
              <p:custDataLst>
                <p:tags r:id="rId6"/>
              </p:custDataLst>
            </p:nvPr>
          </p:nvSpPr>
          <p:spPr>
            <a:xfrm>
              <a:off x="3505200" y="2362200"/>
              <a:ext cx="2438400" cy="6096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6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Regional</a:t>
              </a:r>
              <a:br>
                <a:rPr sz="16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</a:br>
              <a:r>
                <a:rPr sz="16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Performance </a:t>
              </a:r>
            </a:p>
          </p:txBody>
        </p:sp>
        <p:sp>
          <p:nvSpPr>
            <p:cNvPr id="36" name="New shape"/>
            <p:cNvSpPr/>
            <p:nvPr>
              <p:custDataLst>
                <p:tags r:id="rId7"/>
              </p:custDataLst>
            </p:nvPr>
          </p:nvSpPr>
          <p:spPr>
            <a:xfrm>
              <a:off x="3505200" y="3048000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15240" cmpd="sng">
              <a:solidFill>
                <a:srgbClr val="05966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7" name="Rectangle 36"/>
            <p:cNvSpPr/>
            <p:nvPr>
              <p:custDataLst>
                <p:tags r:id="rId8"/>
              </p:custDataLst>
            </p:nvPr>
          </p:nvSpPr>
          <p:spPr>
            <a:xfrm>
              <a:off x="3505200" y="3200400"/>
              <a:ext cx="2438400" cy="1905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Identify top micro-markets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Compare housing demand across locations </a:t>
              </a:r>
            </a:p>
            <a:p>
              <a:pPr marL="127000" lvl="1" indent="-127000">
                <a:buChar char="•"/>
              </a:pPr>
              <a:endParaRPr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40" name="New shape"/>
            <p:cNvSpPr/>
            <p:nvPr>
              <p:custDataLst>
                <p:tags r:id="rId9"/>
              </p:custDataLst>
            </p:nvPr>
          </p:nvSpPr>
          <p:spPr>
            <a:xfrm>
              <a:off x="7145658" y="1553551"/>
              <a:ext cx="643892" cy="704824"/>
            </a:xfrm>
            <a:custGeom>
              <a:avLst/>
              <a:gdLst/>
              <a:ahLst/>
              <a:cxnLst/>
              <a:rect l="l" t="t" r="r" b="b"/>
              <a:pathLst>
                <a:path w="643891" h="704824">
                  <a:moveTo>
                    <a:pt x="643886" y="284324"/>
                  </a:moveTo>
                  <a:cubicBezTo>
                    <a:pt x="643826" y="267001"/>
                    <a:pt x="640254" y="249886"/>
                    <a:pt x="633408" y="234020"/>
                  </a:cubicBezTo>
                  <a:cubicBezTo>
                    <a:pt x="615043" y="193390"/>
                    <a:pt x="610310" y="147906"/>
                    <a:pt x="619865" y="104358"/>
                  </a:cubicBezTo>
                  <a:cubicBezTo>
                    <a:pt x="625431" y="55483"/>
                    <a:pt x="552565" y="79921"/>
                    <a:pt x="535512" y="94416"/>
                  </a:cubicBezTo>
                  <a:lnTo>
                    <a:pt x="535541" y="94446"/>
                  </a:lnTo>
                  <a:cubicBezTo>
                    <a:pt x="533189" y="72003"/>
                    <a:pt x="534648" y="49351"/>
                    <a:pt x="539887" y="27443"/>
                  </a:cubicBezTo>
                  <a:cubicBezTo>
                    <a:pt x="541970" y="18663"/>
                    <a:pt x="538935" y="9495"/>
                    <a:pt x="532059" y="3690"/>
                  </a:cubicBezTo>
                  <a:cubicBezTo>
                    <a:pt x="525154" y="-2113"/>
                    <a:pt x="515598" y="-3542"/>
                    <a:pt x="507294" y="0"/>
                  </a:cubicBezTo>
                  <a:cubicBezTo>
                    <a:pt x="436274" y="32206"/>
                    <a:pt x="387432" y="99387"/>
                    <a:pt x="378645" y="176867"/>
                  </a:cubicBezTo>
                  <a:cubicBezTo>
                    <a:pt x="373943" y="168354"/>
                    <a:pt x="364536" y="163562"/>
                    <a:pt x="354863" y="164722"/>
                  </a:cubicBezTo>
                  <a:cubicBezTo>
                    <a:pt x="345189" y="165854"/>
                    <a:pt x="337182" y="172759"/>
                    <a:pt x="334592" y="182165"/>
                  </a:cubicBezTo>
                  <a:cubicBezTo>
                    <a:pt x="332598" y="189934"/>
                    <a:pt x="330693" y="198060"/>
                    <a:pt x="328966" y="206454"/>
                  </a:cubicBezTo>
                  <a:lnTo>
                    <a:pt x="72866" y="206424"/>
                  </a:lnTo>
                  <a:cubicBezTo>
                    <a:pt x="32772" y="206335"/>
                    <a:pt x="178" y="238720"/>
                    <a:pt x="0" y="278815"/>
                  </a:cubicBezTo>
                  <a:lnTo>
                    <a:pt x="0" y="562187"/>
                  </a:lnTo>
                  <a:cubicBezTo>
                    <a:pt x="119" y="602341"/>
                    <a:pt x="32712" y="634845"/>
                    <a:pt x="72866" y="634815"/>
                  </a:cubicBezTo>
                  <a:lnTo>
                    <a:pt x="215741" y="634815"/>
                  </a:lnTo>
                  <a:lnTo>
                    <a:pt x="256014" y="694346"/>
                  </a:lnTo>
                  <a:cubicBezTo>
                    <a:pt x="260449" y="700894"/>
                    <a:pt x="267831" y="704824"/>
                    <a:pt x="275749" y="704824"/>
                  </a:cubicBezTo>
                  <a:cubicBezTo>
                    <a:pt x="283636" y="704824"/>
                    <a:pt x="291018" y="700894"/>
                    <a:pt x="295453" y="694346"/>
                  </a:cubicBezTo>
                  <a:lnTo>
                    <a:pt x="335756" y="634815"/>
                  </a:lnTo>
                  <a:lnTo>
                    <a:pt x="478394" y="634815"/>
                  </a:lnTo>
                  <a:cubicBezTo>
                    <a:pt x="518578" y="634845"/>
                    <a:pt x="551171" y="602341"/>
                    <a:pt x="551260" y="562187"/>
                  </a:cubicBezTo>
                  <a:lnTo>
                    <a:pt x="551260" y="436488"/>
                  </a:lnTo>
                  <a:cubicBezTo>
                    <a:pt x="579955" y="423034"/>
                    <a:pt x="604036" y="401423"/>
                    <a:pt x="620525" y="374367"/>
                  </a:cubicBezTo>
                  <a:cubicBezTo>
                    <a:pt x="636985" y="347310"/>
                    <a:pt x="645112" y="315967"/>
                    <a:pt x="643891" y="284329"/>
                  </a:cubicBezTo>
                  <a:close/>
                  <a:moveTo>
                    <a:pt x="397219" y="246582"/>
                  </a:moveTo>
                  <a:lnTo>
                    <a:pt x="397188" y="246582"/>
                  </a:lnTo>
                  <a:cubicBezTo>
                    <a:pt x="404868" y="248546"/>
                    <a:pt x="413024" y="246611"/>
                    <a:pt x="418977" y="241403"/>
                  </a:cubicBezTo>
                  <a:cubicBezTo>
                    <a:pt x="424931" y="236194"/>
                    <a:pt x="427937" y="228366"/>
                    <a:pt x="426984" y="220507"/>
                  </a:cubicBezTo>
                  <a:cubicBezTo>
                    <a:pt x="422728" y="192230"/>
                    <a:pt x="426032" y="163327"/>
                    <a:pt x="436539" y="136748"/>
                  </a:cubicBezTo>
                  <a:cubicBezTo>
                    <a:pt x="447047" y="110137"/>
                    <a:pt x="464399" y="86801"/>
                    <a:pt x="486814" y="69061"/>
                  </a:cubicBezTo>
                  <a:cubicBezTo>
                    <a:pt x="483212" y="100404"/>
                    <a:pt x="502708" y="186813"/>
                    <a:pt x="546166" y="148355"/>
                  </a:cubicBezTo>
                  <a:cubicBezTo>
                    <a:pt x="552119" y="141003"/>
                    <a:pt x="559502" y="134871"/>
                    <a:pt x="567836" y="130346"/>
                  </a:cubicBezTo>
                  <a:cubicBezTo>
                    <a:pt x="565246" y="172286"/>
                    <a:pt x="572718" y="214227"/>
                    <a:pt x="589625" y="252716"/>
                  </a:cubicBezTo>
                  <a:cubicBezTo>
                    <a:pt x="602812" y="289982"/>
                    <a:pt x="595608" y="331385"/>
                    <a:pt x="570634" y="362048"/>
                  </a:cubicBezTo>
                  <a:cubicBezTo>
                    <a:pt x="574117" y="312310"/>
                    <a:pt x="525093" y="270310"/>
                    <a:pt x="501221" y="230839"/>
                  </a:cubicBezTo>
                  <a:cubicBezTo>
                    <a:pt x="496696" y="224618"/>
                    <a:pt x="489493" y="220986"/>
                    <a:pt x="481814" y="220986"/>
                  </a:cubicBezTo>
                  <a:cubicBezTo>
                    <a:pt x="474134" y="221016"/>
                    <a:pt x="466931" y="224707"/>
                    <a:pt x="462436" y="230928"/>
                  </a:cubicBezTo>
                  <a:lnTo>
                    <a:pt x="410584" y="304002"/>
                  </a:lnTo>
                  <a:lnTo>
                    <a:pt x="410584" y="303973"/>
                  </a:lnTo>
                  <a:cubicBezTo>
                    <a:pt x="397964" y="321832"/>
                    <a:pt x="392100" y="343590"/>
                    <a:pt x="394034" y="365349"/>
                  </a:cubicBezTo>
                  <a:cubicBezTo>
                    <a:pt x="365846" y="328827"/>
                    <a:pt x="364864" y="282093"/>
                    <a:pt x="372008" y="235870"/>
                  </a:cubicBezTo>
                  <a:cubicBezTo>
                    <a:pt x="379955" y="240454"/>
                    <a:pt x="388408" y="244026"/>
                    <a:pt x="397189" y="246586"/>
                  </a:cubicBezTo>
                  <a:close/>
                  <a:moveTo>
                    <a:pt x="446272" y="378354"/>
                  </a:moveTo>
                  <a:lnTo>
                    <a:pt x="446242" y="378325"/>
                  </a:lnTo>
                  <a:cubicBezTo>
                    <a:pt x="438533" y="363353"/>
                    <a:pt x="439753" y="345345"/>
                    <a:pt x="449427" y="331563"/>
                  </a:cubicBezTo>
                  <a:lnTo>
                    <a:pt x="481931" y="285754"/>
                  </a:lnTo>
                  <a:cubicBezTo>
                    <a:pt x="501845" y="316651"/>
                    <a:pt x="537117" y="346506"/>
                    <a:pt x="517561" y="379754"/>
                  </a:cubicBezTo>
                  <a:cubicBezTo>
                    <a:pt x="510268" y="392791"/>
                    <a:pt x="496398" y="400739"/>
                    <a:pt x="481485" y="400441"/>
                  </a:cubicBezTo>
                  <a:cubicBezTo>
                    <a:pt x="466542" y="400143"/>
                    <a:pt x="452999" y="391631"/>
                    <a:pt x="446242" y="378325"/>
                  </a:cubicBezTo>
                  <a:close/>
                  <a:moveTo>
                    <a:pt x="503660" y="562217"/>
                  </a:moveTo>
                  <a:lnTo>
                    <a:pt x="503630" y="562188"/>
                  </a:lnTo>
                  <a:cubicBezTo>
                    <a:pt x="503541" y="576058"/>
                    <a:pt x="492259" y="587251"/>
                    <a:pt x="478389" y="587190"/>
                  </a:cubicBezTo>
                  <a:lnTo>
                    <a:pt x="323132" y="587190"/>
                  </a:lnTo>
                  <a:cubicBezTo>
                    <a:pt x="315214" y="587190"/>
                    <a:pt x="307832" y="591119"/>
                    <a:pt x="303397" y="597668"/>
                  </a:cubicBezTo>
                  <a:lnTo>
                    <a:pt x="275715" y="638536"/>
                  </a:lnTo>
                  <a:lnTo>
                    <a:pt x="248063" y="597668"/>
                  </a:lnTo>
                  <a:lnTo>
                    <a:pt x="248093" y="597668"/>
                  </a:lnTo>
                  <a:cubicBezTo>
                    <a:pt x="243658" y="591119"/>
                    <a:pt x="236276" y="587190"/>
                    <a:pt x="228358" y="587190"/>
                  </a:cubicBezTo>
                  <a:lnTo>
                    <a:pt x="72865" y="587190"/>
                  </a:lnTo>
                  <a:cubicBezTo>
                    <a:pt x="59053" y="587071"/>
                    <a:pt x="47862" y="575968"/>
                    <a:pt x="47624" y="562188"/>
                  </a:cubicBezTo>
                  <a:lnTo>
                    <a:pt x="47624" y="278815"/>
                  </a:lnTo>
                  <a:cubicBezTo>
                    <a:pt x="47951" y="265093"/>
                    <a:pt x="59142" y="254109"/>
                    <a:pt x="72865" y="254050"/>
                  </a:cubicBezTo>
                  <a:lnTo>
                    <a:pt x="321018" y="254050"/>
                  </a:lnTo>
                  <a:cubicBezTo>
                    <a:pt x="309112" y="371413"/>
                    <a:pt x="375280" y="459584"/>
                    <a:pt x="503631" y="447971"/>
                  </a:cubicBezTo>
                  <a:close/>
                  <a:moveTo>
                    <a:pt x="275745" y="444374"/>
                  </a:moveTo>
                  <a:lnTo>
                    <a:pt x="275716" y="444315"/>
                  </a:lnTo>
                  <a:cubicBezTo>
                    <a:pt x="262887" y="443868"/>
                    <a:pt x="252707" y="433361"/>
                    <a:pt x="252707" y="420502"/>
                  </a:cubicBezTo>
                  <a:cubicBezTo>
                    <a:pt x="252707" y="407673"/>
                    <a:pt x="262887" y="397136"/>
                    <a:pt x="275716" y="396690"/>
                  </a:cubicBezTo>
                  <a:cubicBezTo>
                    <a:pt x="288545" y="397136"/>
                    <a:pt x="298725" y="407673"/>
                    <a:pt x="298725" y="420502"/>
                  </a:cubicBezTo>
                  <a:cubicBezTo>
                    <a:pt x="298725" y="433361"/>
                    <a:pt x="288545" y="443898"/>
                    <a:pt x="275716" y="444315"/>
                  </a:cubicBezTo>
                  <a:close/>
                  <a:moveTo>
                    <a:pt x="179719" y="444374"/>
                  </a:moveTo>
                  <a:lnTo>
                    <a:pt x="179689" y="444315"/>
                  </a:lnTo>
                  <a:cubicBezTo>
                    <a:pt x="166860" y="443868"/>
                    <a:pt x="156710" y="433361"/>
                    <a:pt x="156710" y="420502"/>
                  </a:cubicBezTo>
                  <a:cubicBezTo>
                    <a:pt x="156710" y="407673"/>
                    <a:pt x="166860" y="397136"/>
                    <a:pt x="179689" y="396690"/>
                  </a:cubicBezTo>
                  <a:cubicBezTo>
                    <a:pt x="192547" y="397136"/>
                    <a:pt x="202727" y="407673"/>
                    <a:pt x="202727" y="420502"/>
                  </a:cubicBezTo>
                  <a:cubicBezTo>
                    <a:pt x="202727" y="433361"/>
                    <a:pt x="192547" y="443898"/>
                    <a:pt x="179689" y="444315"/>
                  </a:cubicBez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1" name="Rectangle 40"/>
            <p:cNvSpPr/>
            <p:nvPr>
              <p:custDataLst>
                <p:tags r:id="rId10"/>
              </p:custDataLst>
            </p:nvPr>
          </p:nvSpPr>
          <p:spPr>
            <a:xfrm>
              <a:off x="6248400" y="2362200"/>
              <a:ext cx="2438400" cy="6096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Buyer Insights</a:t>
              </a:r>
              <a:endParaRPr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60" name="New shape"/>
            <p:cNvSpPr/>
            <p:nvPr>
              <p:custDataLst>
                <p:tags r:id="rId11"/>
              </p:custDataLst>
            </p:nvPr>
          </p:nvSpPr>
          <p:spPr>
            <a:xfrm>
              <a:off x="6248400" y="3048000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15240" cmpd="sng">
              <a:solidFill>
                <a:srgbClr val="05966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" name="Rectangle 60"/>
            <p:cNvSpPr/>
            <p:nvPr>
              <p:custDataLst>
                <p:tags r:id="rId12"/>
              </p:custDataLst>
            </p:nvPr>
          </p:nvSpPr>
          <p:spPr>
            <a:xfrm>
              <a:off x="6248400" y="3200400"/>
              <a:ext cx="2438400" cy="1905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spcAft>
                  <a:spcPts val="450"/>
                </a:spcAft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Analyze buyer type distribution</a:t>
              </a:r>
            </a:p>
            <a:p>
              <a:pPr marL="127000" lvl="1" indent="-127000">
                <a:spcAft>
                  <a:spcPts val="450"/>
                </a:spcAft>
                <a:buChar char="•"/>
              </a:pPr>
              <a:endParaRPr lang="en-GB"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  <a:p>
              <a:pPr marL="127000" lvl="1" indent="-127000">
                <a:spcAft>
                  <a:spcPts val="450"/>
                </a:spcAft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Identify dominant buyer segments</a:t>
              </a:r>
              <a:endParaRPr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grpSp>
          <p:nvGrpSpPr>
            <p:cNvPr id="62" name="Group 61"/>
            <p:cNvGrpSpPr/>
            <p:nvPr>
              <p:custDataLst>
                <p:tags r:id="rId13"/>
              </p:custDataLst>
            </p:nvPr>
          </p:nvGrpSpPr>
          <p:grpSpPr>
            <a:xfrm>
              <a:off x="9895999" y="1558528"/>
              <a:ext cx="624363" cy="692706"/>
              <a:chOff x="9260999" y="923528"/>
              <a:chExt cx="624363" cy="692706"/>
            </a:xfrm>
          </p:grpSpPr>
          <p:sp>
            <p:nvSpPr>
              <p:cNvPr id="63" name="New shape"/>
              <p:cNvSpPr/>
              <p:nvPr>
                <p:custDataLst>
                  <p:tags r:id="rId35"/>
                </p:custDataLst>
              </p:nvPr>
            </p:nvSpPr>
            <p:spPr>
              <a:xfrm>
                <a:off x="9260999" y="923528"/>
                <a:ext cx="624363" cy="692706"/>
              </a:xfrm>
              <a:custGeom>
                <a:avLst/>
                <a:gdLst/>
                <a:ahLst/>
                <a:cxnLst/>
                <a:rect l="l" t="t" r="r" b="b"/>
                <a:pathLst>
                  <a:path w="624363" h="692705">
                    <a:moveTo>
                      <a:pt x="624363" y="156210"/>
                    </a:moveTo>
                    <a:lnTo>
                      <a:pt x="622696" y="125015"/>
                    </a:lnTo>
                    <a:cubicBezTo>
                      <a:pt x="622458" y="120491"/>
                      <a:pt x="619838" y="116681"/>
                      <a:pt x="615791" y="114776"/>
                    </a:cubicBezTo>
                    <a:lnTo>
                      <a:pt x="586025" y="101203"/>
                    </a:lnTo>
                    <a:cubicBezTo>
                      <a:pt x="574833" y="96202"/>
                      <a:pt x="565308" y="89773"/>
                      <a:pt x="557926" y="82391"/>
                    </a:cubicBezTo>
                    <a:cubicBezTo>
                      <a:pt x="550306" y="75009"/>
                      <a:pt x="544591" y="65960"/>
                      <a:pt x="540543" y="55721"/>
                    </a:cubicBezTo>
                    <a:lnTo>
                      <a:pt x="529351" y="28098"/>
                    </a:lnTo>
                    <a:cubicBezTo>
                      <a:pt x="527922" y="24288"/>
                      <a:pt x="524350" y="21431"/>
                      <a:pt x="520303" y="20716"/>
                    </a:cubicBezTo>
                    <a:lnTo>
                      <a:pt x="489822" y="15716"/>
                    </a:lnTo>
                    <a:cubicBezTo>
                      <a:pt x="429338" y="5715"/>
                      <a:pt x="369569" y="476"/>
                      <a:pt x="312181" y="0"/>
                    </a:cubicBezTo>
                    <a:cubicBezTo>
                      <a:pt x="251459" y="238"/>
                      <a:pt x="191452" y="5000"/>
                      <a:pt x="133587" y="15954"/>
                    </a:cubicBezTo>
                    <a:lnTo>
                      <a:pt x="103822" y="21669"/>
                    </a:lnTo>
                    <a:cubicBezTo>
                      <a:pt x="99774" y="22383"/>
                      <a:pt x="96440" y="25003"/>
                      <a:pt x="95012" y="28813"/>
                    </a:cubicBezTo>
                    <a:lnTo>
                      <a:pt x="84057" y="55959"/>
                    </a:lnTo>
                    <a:cubicBezTo>
                      <a:pt x="80009" y="66198"/>
                      <a:pt x="74294" y="75009"/>
                      <a:pt x="66675" y="82391"/>
                    </a:cubicBezTo>
                    <a:cubicBezTo>
                      <a:pt x="59293" y="89773"/>
                      <a:pt x="49768" y="96202"/>
                      <a:pt x="38575" y="101203"/>
                    </a:cubicBezTo>
                    <a:lnTo>
                      <a:pt x="8810" y="114776"/>
                    </a:lnTo>
                    <a:cubicBezTo>
                      <a:pt x="4762" y="116443"/>
                      <a:pt x="1904" y="120491"/>
                      <a:pt x="1666" y="125015"/>
                    </a:cubicBezTo>
                    <a:lnTo>
                      <a:pt x="0" y="156210"/>
                    </a:lnTo>
                    <a:cubicBezTo>
                      <a:pt x="-3095" y="214788"/>
                      <a:pt x="-952" y="267414"/>
                      <a:pt x="6429" y="316944"/>
                    </a:cubicBezTo>
                    <a:cubicBezTo>
                      <a:pt x="14525" y="370998"/>
                      <a:pt x="29050" y="420766"/>
                      <a:pt x="49768" y="464820"/>
                    </a:cubicBezTo>
                    <a:cubicBezTo>
                      <a:pt x="96678" y="564118"/>
                      <a:pt x="176212" y="637460"/>
                      <a:pt x="285987" y="682942"/>
                    </a:cubicBezTo>
                    <a:lnTo>
                      <a:pt x="307657" y="691753"/>
                    </a:lnTo>
                    <a:cubicBezTo>
                      <a:pt x="309085" y="692229"/>
                      <a:pt x="310753" y="692705"/>
                      <a:pt x="312181" y="692705"/>
                    </a:cubicBezTo>
                    <a:cubicBezTo>
                      <a:pt x="313610" y="692705"/>
                      <a:pt x="315277" y="692467"/>
                      <a:pt x="316706" y="691753"/>
                    </a:cubicBezTo>
                    <a:lnTo>
                      <a:pt x="338375" y="682942"/>
                    </a:lnTo>
                    <a:cubicBezTo>
                      <a:pt x="448388" y="637698"/>
                      <a:pt x="527922" y="564356"/>
                      <a:pt x="574595" y="464820"/>
                    </a:cubicBezTo>
                    <a:cubicBezTo>
                      <a:pt x="595312" y="421005"/>
                      <a:pt x="609838" y="371236"/>
                      <a:pt x="617934" y="316944"/>
                    </a:cubicBezTo>
                    <a:cubicBezTo>
                      <a:pt x="625554" y="267414"/>
                      <a:pt x="627697" y="214788"/>
                      <a:pt x="624363" y="156210"/>
                    </a:cubicBezTo>
                    <a:close/>
                    <a:moveTo>
                      <a:pt x="594597" y="313610"/>
                    </a:moveTo>
                    <a:cubicBezTo>
                      <a:pt x="586978" y="365521"/>
                      <a:pt x="572928" y="412908"/>
                      <a:pt x="553163" y="454818"/>
                    </a:cubicBezTo>
                    <a:cubicBezTo>
                      <a:pt x="508872" y="548639"/>
                      <a:pt x="433625" y="617934"/>
                      <a:pt x="329326" y="661035"/>
                    </a:cubicBezTo>
                    <a:lnTo>
                      <a:pt x="312419" y="667940"/>
                    </a:lnTo>
                    <a:lnTo>
                      <a:pt x="295275" y="661035"/>
                    </a:lnTo>
                    <a:cubicBezTo>
                      <a:pt x="190975" y="617934"/>
                      <a:pt x="115728" y="548639"/>
                      <a:pt x="71437" y="454818"/>
                    </a:cubicBezTo>
                    <a:cubicBezTo>
                      <a:pt x="51672" y="412908"/>
                      <a:pt x="37862" y="365521"/>
                      <a:pt x="30003" y="313610"/>
                    </a:cubicBezTo>
                    <a:cubicBezTo>
                      <a:pt x="22859" y="265509"/>
                      <a:pt x="20954" y="214312"/>
                      <a:pt x="23812" y="157638"/>
                    </a:cubicBezTo>
                    <a:lnTo>
                      <a:pt x="25003" y="133588"/>
                    </a:lnTo>
                    <a:lnTo>
                      <a:pt x="48100" y="123110"/>
                    </a:lnTo>
                    <a:cubicBezTo>
                      <a:pt x="61912" y="116919"/>
                      <a:pt x="73818" y="108823"/>
                      <a:pt x="83343" y="99536"/>
                    </a:cubicBezTo>
                    <a:cubicBezTo>
                      <a:pt x="93106" y="89773"/>
                      <a:pt x="100726" y="78105"/>
                      <a:pt x="106203" y="65008"/>
                    </a:cubicBezTo>
                    <a:lnTo>
                      <a:pt x="114775" y="43815"/>
                    </a:lnTo>
                    <a:lnTo>
                      <a:pt x="138112" y="39528"/>
                    </a:lnTo>
                    <a:cubicBezTo>
                      <a:pt x="194309" y="29051"/>
                      <a:pt x="252888" y="24050"/>
                      <a:pt x="312181" y="24050"/>
                    </a:cubicBezTo>
                    <a:cubicBezTo>
                      <a:pt x="368379" y="24288"/>
                      <a:pt x="426719" y="29527"/>
                      <a:pt x="486012" y="39290"/>
                    </a:cubicBezTo>
                    <a:lnTo>
                      <a:pt x="509825" y="43338"/>
                    </a:lnTo>
                    <a:lnTo>
                      <a:pt x="518397" y="64769"/>
                    </a:lnTo>
                    <a:cubicBezTo>
                      <a:pt x="523637" y="77866"/>
                      <a:pt x="531256" y="89535"/>
                      <a:pt x="541257" y="99298"/>
                    </a:cubicBezTo>
                    <a:cubicBezTo>
                      <a:pt x="550782" y="108823"/>
                      <a:pt x="562688" y="116681"/>
                      <a:pt x="576500" y="122872"/>
                    </a:cubicBezTo>
                    <a:lnTo>
                      <a:pt x="599598" y="133350"/>
                    </a:lnTo>
                    <a:lnTo>
                      <a:pt x="600788" y="157400"/>
                    </a:lnTo>
                    <a:cubicBezTo>
                      <a:pt x="603646" y="214550"/>
                      <a:pt x="601741" y="265509"/>
                      <a:pt x="594597" y="31361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4" name="New shape"/>
              <p:cNvSpPr/>
              <p:nvPr>
                <p:custDataLst>
                  <p:tags r:id="rId36"/>
                </p:custDataLst>
              </p:nvPr>
            </p:nvSpPr>
            <p:spPr>
              <a:xfrm>
                <a:off x="9308624" y="971391"/>
                <a:ext cx="529590" cy="593408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593407">
                    <a:moveTo>
                      <a:pt x="529113" y="108585"/>
                    </a:moveTo>
                    <a:cubicBezTo>
                      <a:pt x="528875" y="104060"/>
                      <a:pt x="526256" y="100250"/>
                      <a:pt x="522207" y="98345"/>
                    </a:cubicBezTo>
                    <a:lnTo>
                      <a:pt x="518874" y="96916"/>
                    </a:lnTo>
                    <a:cubicBezTo>
                      <a:pt x="502443" y="89535"/>
                      <a:pt x="488156" y="80010"/>
                      <a:pt x="476725" y="68579"/>
                    </a:cubicBezTo>
                    <a:cubicBezTo>
                      <a:pt x="464581" y="56673"/>
                      <a:pt x="455056" y="42148"/>
                      <a:pt x="448627" y="25955"/>
                    </a:cubicBezTo>
                    <a:lnTo>
                      <a:pt x="447437" y="23098"/>
                    </a:lnTo>
                    <a:cubicBezTo>
                      <a:pt x="445769" y="19288"/>
                      <a:pt x="442435" y="16430"/>
                      <a:pt x="438387" y="15716"/>
                    </a:cubicBezTo>
                    <a:lnTo>
                      <a:pt x="434340" y="15001"/>
                    </a:lnTo>
                    <a:cubicBezTo>
                      <a:pt x="376475" y="5238"/>
                      <a:pt x="319325" y="238"/>
                      <a:pt x="264318" y="0"/>
                    </a:cubicBezTo>
                    <a:lnTo>
                      <a:pt x="260032" y="0"/>
                    </a:lnTo>
                    <a:cubicBezTo>
                      <a:pt x="203596" y="0"/>
                      <a:pt x="147875" y="5000"/>
                      <a:pt x="94535" y="15001"/>
                    </a:cubicBezTo>
                    <a:lnTo>
                      <a:pt x="90725" y="15716"/>
                    </a:lnTo>
                    <a:cubicBezTo>
                      <a:pt x="86677" y="16430"/>
                      <a:pt x="83343" y="19288"/>
                      <a:pt x="81915" y="23098"/>
                    </a:cubicBezTo>
                    <a:lnTo>
                      <a:pt x="80724" y="25717"/>
                    </a:lnTo>
                    <a:cubicBezTo>
                      <a:pt x="74294" y="42148"/>
                      <a:pt x="64769" y="56435"/>
                      <a:pt x="52625" y="68341"/>
                    </a:cubicBezTo>
                    <a:cubicBezTo>
                      <a:pt x="40957" y="79771"/>
                      <a:pt x="26907" y="89535"/>
                      <a:pt x="10477" y="96916"/>
                    </a:cubicBezTo>
                    <a:lnTo>
                      <a:pt x="7143" y="98345"/>
                    </a:lnTo>
                    <a:cubicBezTo>
                      <a:pt x="3095" y="100012"/>
                      <a:pt x="475" y="104060"/>
                      <a:pt x="237" y="108585"/>
                    </a:cubicBezTo>
                    <a:lnTo>
                      <a:pt x="0" y="110966"/>
                    </a:lnTo>
                    <a:cubicBezTo>
                      <a:pt x="-3095" y="166211"/>
                      <a:pt x="-952" y="215741"/>
                      <a:pt x="5953" y="262175"/>
                    </a:cubicBezTo>
                    <a:cubicBezTo>
                      <a:pt x="13334" y="311705"/>
                      <a:pt x="26431" y="356949"/>
                      <a:pt x="45243" y="396716"/>
                    </a:cubicBezTo>
                    <a:cubicBezTo>
                      <a:pt x="86915" y="485060"/>
                      <a:pt x="158115" y="550306"/>
                      <a:pt x="256698" y="591026"/>
                    </a:cubicBezTo>
                    <a:cubicBezTo>
                      <a:pt x="256698" y="591026"/>
                      <a:pt x="256698" y="591026"/>
                      <a:pt x="256698" y="591026"/>
                    </a:cubicBezTo>
                    <a:lnTo>
                      <a:pt x="260270" y="592454"/>
                    </a:lnTo>
                    <a:cubicBezTo>
                      <a:pt x="261699" y="592931"/>
                      <a:pt x="263128" y="593407"/>
                      <a:pt x="264794" y="593407"/>
                    </a:cubicBezTo>
                    <a:cubicBezTo>
                      <a:pt x="266223" y="593407"/>
                      <a:pt x="267890" y="593169"/>
                      <a:pt x="269319" y="592454"/>
                    </a:cubicBezTo>
                    <a:lnTo>
                      <a:pt x="272891" y="591026"/>
                    </a:lnTo>
                    <a:cubicBezTo>
                      <a:pt x="371475" y="550306"/>
                      <a:pt x="442674" y="485060"/>
                      <a:pt x="484346" y="396716"/>
                    </a:cubicBezTo>
                    <a:cubicBezTo>
                      <a:pt x="503157" y="356949"/>
                      <a:pt x="516254" y="311705"/>
                      <a:pt x="523637" y="262175"/>
                    </a:cubicBezTo>
                    <a:cubicBezTo>
                      <a:pt x="530542" y="215503"/>
                      <a:pt x="532447" y="166211"/>
                      <a:pt x="529590" y="110966"/>
                    </a:cubicBezTo>
                    <a:lnTo>
                      <a:pt x="529113" y="108585"/>
                    </a:lnTo>
                    <a:close/>
                    <a:moveTo>
                      <a:pt x="499824" y="258841"/>
                    </a:moveTo>
                    <a:cubicBezTo>
                      <a:pt x="492680" y="305990"/>
                      <a:pt x="480297" y="349091"/>
                      <a:pt x="462438" y="386714"/>
                    </a:cubicBezTo>
                    <a:cubicBezTo>
                      <a:pt x="423624" y="469106"/>
                      <a:pt x="356949" y="530304"/>
                      <a:pt x="264556" y="568642"/>
                    </a:cubicBezTo>
                    <a:cubicBezTo>
                      <a:pt x="172163" y="530304"/>
                      <a:pt x="105727" y="469106"/>
                      <a:pt x="66675" y="386714"/>
                    </a:cubicBezTo>
                    <a:cubicBezTo>
                      <a:pt x="48815" y="349091"/>
                      <a:pt x="36432" y="305990"/>
                      <a:pt x="29288" y="258841"/>
                    </a:cubicBezTo>
                    <a:cubicBezTo>
                      <a:pt x="22859" y="215264"/>
                      <a:pt x="20954" y="168830"/>
                      <a:pt x="23335" y="117157"/>
                    </a:cubicBezTo>
                    <a:cubicBezTo>
                      <a:pt x="40957" y="108823"/>
                      <a:pt x="56435" y="98107"/>
                      <a:pt x="69056" y="85486"/>
                    </a:cubicBezTo>
                    <a:cubicBezTo>
                      <a:pt x="82629" y="71913"/>
                      <a:pt x="93344" y="56197"/>
                      <a:pt x="101203" y="38100"/>
                    </a:cubicBezTo>
                    <a:cubicBezTo>
                      <a:pt x="152400" y="28813"/>
                      <a:pt x="205740" y="24050"/>
                      <a:pt x="259794" y="24050"/>
                    </a:cubicBezTo>
                    <a:lnTo>
                      <a:pt x="263842" y="24050"/>
                    </a:lnTo>
                    <a:cubicBezTo>
                      <a:pt x="316706" y="24288"/>
                      <a:pt x="371712" y="29051"/>
                      <a:pt x="427672" y="38338"/>
                    </a:cubicBezTo>
                    <a:cubicBezTo>
                      <a:pt x="435292" y="56197"/>
                      <a:pt x="446246" y="72151"/>
                      <a:pt x="459819" y="85725"/>
                    </a:cubicBezTo>
                    <a:cubicBezTo>
                      <a:pt x="472678" y="98345"/>
                      <a:pt x="487918" y="109061"/>
                      <a:pt x="505538" y="117395"/>
                    </a:cubicBezTo>
                    <a:cubicBezTo>
                      <a:pt x="508396" y="168592"/>
                      <a:pt x="506253" y="215026"/>
                      <a:pt x="499824" y="258841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5" name="New shape"/>
              <p:cNvSpPr/>
              <p:nvPr>
                <p:custDataLst>
                  <p:tags r:id="rId37"/>
                </p:custDataLst>
              </p:nvPr>
            </p:nvSpPr>
            <p:spPr>
              <a:xfrm>
                <a:off x="9436736" y="1153319"/>
                <a:ext cx="273606" cy="227409"/>
              </a:xfrm>
              <a:custGeom>
                <a:avLst/>
                <a:gdLst/>
                <a:ahLst/>
                <a:cxnLst/>
                <a:rect l="l" t="t" r="r" b="b"/>
                <a:pathLst>
                  <a:path w="273605" h="227409">
                    <a:moveTo>
                      <a:pt x="233839" y="3571"/>
                    </a:moveTo>
                    <a:cubicBezTo>
                      <a:pt x="231695" y="1428"/>
                      <a:pt x="228600" y="0"/>
                      <a:pt x="225504" y="0"/>
                    </a:cubicBezTo>
                    <a:lnTo>
                      <a:pt x="225504" y="0"/>
                    </a:lnTo>
                    <a:cubicBezTo>
                      <a:pt x="222408" y="0"/>
                      <a:pt x="219313" y="1190"/>
                      <a:pt x="217170" y="3571"/>
                    </a:cubicBezTo>
                    <a:lnTo>
                      <a:pt x="101679" y="119062"/>
                    </a:lnTo>
                    <a:lnTo>
                      <a:pt x="56674" y="73342"/>
                    </a:lnTo>
                    <a:cubicBezTo>
                      <a:pt x="54530" y="71199"/>
                      <a:pt x="51435" y="69770"/>
                      <a:pt x="48339" y="69770"/>
                    </a:cubicBezTo>
                    <a:cubicBezTo>
                      <a:pt x="48339" y="69770"/>
                      <a:pt x="48339" y="69770"/>
                      <a:pt x="48339" y="69770"/>
                    </a:cubicBezTo>
                    <a:cubicBezTo>
                      <a:pt x="45243" y="69770"/>
                      <a:pt x="42148" y="70961"/>
                      <a:pt x="40005" y="73104"/>
                    </a:cubicBezTo>
                    <a:lnTo>
                      <a:pt x="238" y="112395"/>
                    </a:lnTo>
                    <a:cubicBezTo>
                      <a:pt x="-4523" y="116919"/>
                      <a:pt x="-4523" y="124539"/>
                      <a:pt x="0" y="129301"/>
                    </a:cubicBezTo>
                    <a:lnTo>
                      <a:pt x="92630" y="223837"/>
                    </a:lnTo>
                    <a:cubicBezTo>
                      <a:pt x="94774" y="226218"/>
                      <a:pt x="98583" y="227171"/>
                      <a:pt x="101203" y="227409"/>
                    </a:cubicBezTo>
                    <a:cubicBezTo>
                      <a:pt x="104299" y="227409"/>
                      <a:pt x="107394" y="226218"/>
                      <a:pt x="109537" y="223837"/>
                    </a:cubicBezTo>
                    <a:lnTo>
                      <a:pt x="273605" y="59769"/>
                    </a:lnTo>
                    <a:cubicBezTo>
                      <a:pt x="278130" y="55245"/>
                      <a:pt x="278368" y="47625"/>
                      <a:pt x="273605" y="42862"/>
                    </a:cubicBezTo>
                    <a:lnTo>
                      <a:pt x="233839" y="3571"/>
                    </a:lnTo>
                    <a:close/>
                    <a:moveTo>
                      <a:pt x="100965" y="198834"/>
                    </a:moveTo>
                    <a:lnTo>
                      <a:pt x="25003" y="121205"/>
                    </a:lnTo>
                    <a:lnTo>
                      <a:pt x="47863" y="98583"/>
                    </a:lnTo>
                    <a:lnTo>
                      <a:pt x="92868" y="144303"/>
                    </a:lnTo>
                    <a:cubicBezTo>
                      <a:pt x="95012" y="146446"/>
                      <a:pt x="98107" y="147875"/>
                      <a:pt x="101203" y="147875"/>
                    </a:cubicBezTo>
                    <a:cubicBezTo>
                      <a:pt x="101203" y="147875"/>
                      <a:pt x="101203" y="147875"/>
                      <a:pt x="101203" y="147875"/>
                    </a:cubicBezTo>
                    <a:cubicBezTo>
                      <a:pt x="104299" y="147875"/>
                      <a:pt x="107394" y="146685"/>
                      <a:pt x="109537" y="144303"/>
                    </a:cubicBezTo>
                    <a:lnTo>
                      <a:pt x="225028" y="28575"/>
                    </a:lnTo>
                    <a:lnTo>
                      <a:pt x="247650" y="51435"/>
                    </a:lnTo>
                    <a:lnTo>
                      <a:pt x="100965" y="198834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66" name="Rectangle 65"/>
            <p:cNvSpPr/>
            <p:nvPr>
              <p:custDataLst>
                <p:tags r:id="rId14"/>
              </p:custDataLst>
            </p:nvPr>
          </p:nvSpPr>
          <p:spPr>
            <a:xfrm>
              <a:off x="8991600" y="2362200"/>
              <a:ext cx="2438400" cy="6096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Trend Analysis</a:t>
              </a:r>
              <a:r>
                <a:rPr sz="16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 </a:t>
              </a:r>
            </a:p>
          </p:txBody>
        </p:sp>
        <p:sp>
          <p:nvSpPr>
            <p:cNvPr id="67" name="New shape"/>
            <p:cNvSpPr/>
            <p:nvPr>
              <p:custDataLst>
                <p:tags r:id="rId15"/>
              </p:custDataLst>
            </p:nvPr>
          </p:nvSpPr>
          <p:spPr>
            <a:xfrm>
              <a:off x="8991600" y="3048000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15240" cmpd="sng">
              <a:solidFill>
                <a:srgbClr val="05966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8" name="Rectangle 67"/>
            <p:cNvSpPr/>
            <p:nvPr>
              <p:custDataLst>
                <p:tags r:id="rId16"/>
              </p:custDataLst>
            </p:nvPr>
          </p:nvSpPr>
          <p:spPr>
            <a:xfrm>
              <a:off x="8991600" y="3200400"/>
              <a:ext cx="2438400" cy="1905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Track price trends over time</a:t>
              </a:r>
            </a:p>
            <a:p>
              <a:pPr marL="127000" lvl="1" indent="-127000">
                <a:buChar char="•"/>
              </a:pPr>
              <a:endParaRPr lang="en-GB" sz="1600" dirty="0">
                <a:solidFill>
                  <a:srgbClr val="000000"/>
                </a:solidFill>
                <a:ea typeface="+mn-ea"/>
                <a:cs typeface="+mn-lt"/>
              </a:endParaRP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Analyze project growth by quarter</a:t>
              </a:r>
              <a:endParaRPr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69" name="New shape"/>
            <p:cNvSpPr/>
            <p:nvPr>
              <p:custDataLst>
                <p:tags r:id="rId17"/>
              </p:custDataLst>
            </p:nvPr>
          </p:nvSpPr>
          <p:spPr>
            <a:xfrm>
              <a:off x="762000" y="54864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60960" y="0"/>
                  </a:moveTo>
                  <a:lnTo>
                    <a:pt x="10607040" y="0"/>
                  </a:lnTo>
                  <a:cubicBezTo>
                    <a:pt x="10640708" y="0"/>
                    <a:pt x="10668000" y="27292"/>
                    <a:pt x="10668000" y="60960"/>
                  </a:cubicBezTo>
                  <a:lnTo>
                    <a:pt x="10668000" y="701040"/>
                  </a:lnTo>
                  <a:cubicBezTo>
                    <a:pt x="10668000" y="734707"/>
                    <a:pt x="10640708" y="762000"/>
                    <a:pt x="10607040" y="762000"/>
                  </a:cubicBezTo>
                  <a:lnTo>
                    <a:pt x="60960" y="762000"/>
                  </a:lnTo>
                  <a:cubicBezTo>
                    <a:pt x="27292" y="762000"/>
                    <a:pt x="0" y="734707"/>
                    <a:pt x="0" y="701040"/>
                  </a:cubicBezTo>
                  <a:lnTo>
                    <a:pt x="0" y="60960"/>
                  </a:lnTo>
                  <a:cubicBezTo>
                    <a:pt x="0" y="27292"/>
                    <a:pt x="27292" y="0"/>
                    <a:pt x="60960" y="0"/>
                  </a:cubicBez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70" name="Group 69"/>
            <p:cNvGrpSpPr/>
            <p:nvPr>
              <p:custDataLst>
                <p:tags r:id="rId18"/>
              </p:custDataLst>
            </p:nvPr>
          </p:nvGrpSpPr>
          <p:grpSpPr>
            <a:xfrm>
              <a:off x="1046355" y="5634536"/>
              <a:ext cx="422640" cy="465726"/>
              <a:chOff x="411355" y="4999535"/>
              <a:chExt cx="422640" cy="465726"/>
            </a:xfrm>
          </p:grpSpPr>
          <p:sp>
            <p:nvSpPr>
              <p:cNvPr id="71" name="New shape"/>
              <p:cNvSpPr/>
              <p:nvPr>
                <p:custDataLst>
                  <p:tags r:id="rId20"/>
                </p:custDataLst>
              </p:nvPr>
            </p:nvSpPr>
            <p:spPr>
              <a:xfrm>
                <a:off x="691893" y="5347829"/>
                <a:ext cx="94011" cy="24503"/>
              </a:xfrm>
              <a:custGeom>
                <a:avLst/>
                <a:gdLst/>
                <a:ahLst/>
                <a:cxnLst/>
                <a:rect l="l" t="t" r="r" b="b"/>
                <a:pathLst>
                  <a:path w="94010" h="24503">
                    <a:moveTo>
                      <a:pt x="81759" y="24503"/>
                    </a:moveTo>
                    <a:lnTo>
                      <a:pt x="12251" y="24503"/>
                    </a:lnTo>
                    <a:cubicBezTo>
                      <a:pt x="5500" y="24503"/>
                      <a:pt x="0" y="19002"/>
                      <a:pt x="0" y="12251"/>
                    </a:cubicBezTo>
                    <a:cubicBezTo>
                      <a:pt x="0" y="5500"/>
                      <a:pt x="5500" y="0"/>
                      <a:pt x="12251" y="0"/>
                    </a:cubicBezTo>
                    <a:lnTo>
                      <a:pt x="81759" y="0"/>
                    </a:lnTo>
                    <a:cubicBezTo>
                      <a:pt x="88509" y="0"/>
                      <a:pt x="94010" y="5500"/>
                      <a:pt x="94010" y="12251"/>
                    </a:cubicBezTo>
                    <a:cubicBezTo>
                      <a:pt x="94010" y="19002"/>
                      <a:pt x="88510" y="24503"/>
                      <a:pt x="81759" y="2450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2" name="New shape"/>
              <p:cNvSpPr/>
              <p:nvPr>
                <p:custDataLst>
                  <p:tags r:id="rId21"/>
                </p:custDataLst>
              </p:nvPr>
            </p:nvSpPr>
            <p:spPr>
              <a:xfrm>
                <a:off x="524625" y="4999535"/>
                <a:ext cx="309371" cy="425471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425470">
                    <a:moveTo>
                      <a:pt x="297118" y="425470"/>
                    </a:moveTo>
                    <a:lnTo>
                      <a:pt x="124094" y="425470"/>
                    </a:lnTo>
                    <a:cubicBezTo>
                      <a:pt x="117343" y="425470"/>
                      <a:pt x="111842" y="419970"/>
                      <a:pt x="111842" y="413218"/>
                    </a:cubicBezTo>
                    <a:cubicBezTo>
                      <a:pt x="111842" y="406467"/>
                      <a:pt x="117343" y="400967"/>
                      <a:pt x="124094" y="400967"/>
                    </a:cubicBezTo>
                    <a:lnTo>
                      <a:pt x="284866" y="400967"/>
                    </a:lnTo>
                    <a:lnTo>
                      <a:pt x="284866" y="24503"/>
                    </a:lnTo>
                    <a:lnTo>
                      <a:pt x="24503" y="24503"/>
                    </a:lnTo>
                    <a:lnTo>
                      <a:pt x="24503" y="130933"/>
                    </a:lnTo>
                    <a:cubicBezTo>
                      <a:pt x="24503" y="137683"/>
                      <a:pt x="19002" y="143185"/>
                      <a:pt x="12251" y="143185"/>
                    </a:cubicBezTo>
                    <a:cubicBezTo>
                      <a:pt x="5500" y="143185"/>
                      <a:pt x="0" y="137684"/>
                      <a:pt x="0" y="130933"/>
                    </a:cubicBezTo>
                    <a:lnTo>
                      <a:pt x="0" y="12251"/>
                    </a:lnTo>
                    <a:cubicBezTo>
                      <a:pt x="0" y="5500"/>
                      <a:pt x="5500" y="0"/>
                      <a:pt x="12251" y="0"/>
                    </a:cubicBezTo>
                    <a:lnTo>
                      <a:pt x="297119" y="0"/>
                    </a:lnTo>
                    <a:cubicBezTo>
                      <a:pt x="303870" y="0"/>
                      <a:pt x="309370" y="5500"/>
                      <a:pt x="309370" y="12251"/>
                    </a:cubicBezTo>
                    <a:lnTo>
                      <a:pt x="309370" y="413219"/>
                    </a:lnTo>
                    <a:cubicBezTo>
                      <a:pt x="309370" y="419969"/>
                      <a:pt x="303870" y="425470"/>
                      <a:pt x="297119" y="4254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3" name="New shape"/>
              <p:cNvSpPr/>
              <p:nvPr>
                <p:custDataLst>
                  <p:tags r:id="rId22"/>
                </p:custDataLst>
              </p:nvPr>
            </p:nvSpPr>
            <p:spPr>
              <a:xfrm>
                <a:off x="460612" y="5231402"/>
                <a:ext cx="156936" cy="201524"/>
              </a:xfrm>
              <a:custGeom>
                <a:avLst/>
                <a:gdLst/>
                <a:ahLst/>
                <a:cxnLst/>
                <a:rect l="l" t="t" r="r" b="b"/>
                <a:pathLst>
                  <a:path w="156935" h="201523">
                    <a:moveTo>
                      <a:pt x="101845" y="201439"/>
                    </a:moveTo>
                    <a:cubicBezTo>
                      <a:pt x="89343" y="201439"/>
                      <a:pt x="77592" y="193688"/>
                      <a:pt x="73092" y="181353"/>
                    </a:cubicBezTo>
                    <a:cubicBezTo>
                      <a:pt x="68925" y="169769"/>
                      <a:pt x="60340" y="161101"/>
                      <a:pt x="49339" y="157017"/>
                    </a:cubicBezTo>
                    <a:cubicBezTo>
                      <a:pt x="26336" y="148432"/>
                      <a:pt x="8334" y="130264"/>
                      <a:pt x="0" y="107261"/>
                    </a:cubicBezTo>
                    <a:cubicBezTo>
                      <a:pt x="-15751" y="64005"/>
                      <a:pt x="6584" y="15831"/>
                      <a:pt x="49839" y="0"/>
                    </a:cubicBezTo>
                    <a:cubicBezTo>
                      <a:pt x="92678" y="-15668"/>
                      <a:pt x="140683" y="6167"/>
                      <a:pt x="156935" y="48755"/>
                    </a:cubicBezTo>
                    <a:cubicBezTo>
                      <a:pt x="165853" y="72008"/>
                      <a:pt x="163936" y="97845"/>
                      <a:pt x="151685" y="119596"/>
                    </a:cubicBezTo>
                    <a:cubicBezTo>
                      <a:pt x="145850" y="129931"/>
                      <a:pt x="144851" y="142183"/>
                      <a:pt x="148851" y="153184"/>
                    </a:cubicBezTo>
                    <a:cubicBezTo>
                      <a:pt x="154769" y="169603"/>
                      <a:pt x="146601" y="187188"/>
                      <a:pt x="130766" y="192939"/>
                    </a:cubicBezTo>
                    <a:lnTo>
                      <a:pt x="112180" y="199690"/>
                    </a:lnTo>
                    <a:cubicBezTo>
                      <a:pt x="108763" y="200940"/>
                      <a:pt x="105179" y="201523"/>
                      <a:pt x="101762" y="201523"/>
                    </a:cubicBezTo>
                    <a:close/>
                    <a:moveTo>
                      <a:pt x="78592" y="19331"/>
                    </a:moveTo>
                    <a:cubicBezTo>
                      <a:pt x="71842" y="19331"/>
                      <a:pt x="65007" y="20498"/>
                      <a:pt x="58340" y="22915"/>
                    </a:cubicBezTo>
                    <a:cubicBezTo>
                      <a:pt x="27752" y="34166"/>
                      <a:pt x="11917" y="68171"/>
                      <a:pt x="23085" y="98839"/>
                    </a:cubicBezTo>
                    <a:cubicBezTo>
                      <a:pt x="29003" y="115174"/>
                      <a:pt x="41754" y="128010"/>
                      <a:pt x="58006" y="134093"/>
                    </a:cubicBezTo>
                    <a:cubicBezTo>
                      <a:pt x="75675" y="140678"/>
                      <a:pt x="89510" y="154680"/>
                      <a:pt x="95928" y="172432"/>
                    </a:cubicBezTo>
                    <a:cubicBezTo>
                      <a:pt x="96845" y="175015"/>
                      <a:pt x="98428" y="176016"/>
                      <a:pt x="99261" y="176432"/>
                    </a:cubicBezTo>
                    <a:cubicBezTo>
                      <a:pt x="100095" y="176849"/>
                      <a:pt x="101845" y="177349"/>
                      <a:pt x="103929" y="176599"/>
                    </a:cubicBezTo>
                    <a:lnTo>
                      <a:pt x="122515" y="169848"/>
                    </a:lnTo>
                    <a:cubicBezTo>
                      <a:pt x="124598" y="169098"/>
                      <a:pt x="125515" y="167598"/>
                      <a:pt x="125932" y="166681"/>
                    </a:cubicBezTo>
                    <a:cubicBezTo>
                      <a:pt x="126348" y="165764"/>
                      <a:pt x="126848" y="164097"/>
                      <a:pt x="126098" y="162014"/>
                    </a:cubicBezTo>
                    <a:cubicBezTo>
                      <a:pt x="119431" y="143761"/>
                      <a:pt x="121098" y="124092"/>
                      <a:pt x="130432" y="107506"/>
                    </a:cubicBezTo>
                    <a:cubicBezTo>
                      <a:pt x="139100" y="92087"/>
                      <a:pt x="140433" y="73835"/>
                      <a:pt x="134099" y="57333"/>
                    </a:cubicBezTo>
                    <a:cubicBezTo>
                      <a:pt x="125098" y="33830"/>
                      <a:pt x="102512" y="19245"/>
                      <a:pt x="78594" y="1924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4" name="New shape"/>
              <p:cNvSpPr/>
              <p:nvPr>
                <p:custDataLst>
                  <p:tags r:id="rId23"/>
                </p:custDataLst>
              </p:nvPr>
            </p:nvSpPr>
            <p:spPr>
              <a:xfrm>
                <a:off x="530954" y="5373916"/>
                <a:ext cx="41922" cy="30671"/>
              </a:xfrm>
              <a:custGeom>
                <a:avLst/>
                <a:gdLst/>
                <a:ahLst/>
                <a:cxnLst/>
                <a:rect l="l" t="t" r="r" b="b"/>
                <a:pathLst>
                  <a:path w="41922" h="30670">
                    <a:moveTo>
                      <a:pt x="11501" y="30670"/>
                    </a:moveTo>
                    <a:cubicBezTo>
                      <a:pt x="6500" y="30670"/>
                      <a:pt x="1833" y="27586"/>
                      <a:pt x="0" y="22586"/>
                    </a:cubicBezTo>
                    <a:cubicBezTo>
                      <a:pt x="-2333" y="16252"/>
                      <a:pt x="1000" y="9168"/>
                      <a:pt x="7334" y="6917"/>
                    </a:cubicBezTo>
                    <a:lnTo>
                      <a:pt x="26253" y="0"/>
                    </a:lnTo>
                    <a:cubicBezTo>
                      <a:pt x="32587" y="-2333"/>
                      <a:pt x="39671" y="999"/>
                      <a:pt x="41922" y="7334"/>
                    </a:cubicBezTo>
                    <a:cubicBezTo>
                      <a:pt x="44255" y="13668"/>
                      <a:pt x="40921" y="20752"/>
                      <a:pt x="34587" y="23002"/>
                    </a:cubicBezTo>
                    <a:lnTo>
                      <a:pt x="15668" y="29920"/>
                    </a:lnTo>
                    <a:cubicBezTo>
                      <a:pt x="14251" y="30420"/>
                      <a:pt x="12834" y="30670"/>
                      <a:pt x="11501" y="306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5" name="New shape"/>
              <p:cNvSpPr/>
              <p:nvPr>
                <p:custDataLst>
                  <p:tags r:id="rId24"/>
                </p:custDataLst>
              </p:nvPr>
            </p:nvSpPr>
            <p:spPr>
              <a:xfrm>
                <a:off x="555208" y="5425589"/>
                <a:ext cx="66758" cy="39672"/>
              </a:xfrm>
              <a:custGeom>
                <a:avLst/>
                <a:gdLst/>
                <a:ahLst/>
                <a:cxnLst/>
                <a:rect l="l" t="t" r="r" b="b"/>
                <a:pathLst>
                  <a:path w="66758" h="39671">
                    <a:moveTo>
                      <a:pt x="11501" y="39671"/>
                    </a:moveTo>
                    <a:cubicBezTo>
                      <a:pt x="6500" y="39671"/>
                      <a:pt x="1833" y="36588"/>
                      <a:pt x="0" y="31587"/>
                    </a:cubicBezTo>
                    <a:cubicBezTo>
                      <a:pt x="-2333" y="25253"/>
                      <a:pt x="1000" y="18169"/>
                      <a:pt x="7334" y="15918"/>
                    </a:cubicBezTo>
                    <a:lnTo>
                      <a:pt x="51089" y="0"/>
                    </a:lnTo>
                    <a:cubicBezTo>
                      <a:pt x="57423" y="-2333"/>
                      <a:pt x="64507" y="1000"/>
                      <a:pt x="66758" y="7334"/>
                    </a:cubicBezTo>
                    <a:cubicBezTo>
                      <a:pt x="69091" y="13668"/>
                      <a:pt x="65758" y="20752"/>
                      <a:pt x="59423" y="23002"/>
                    </a:cubicBezTo>
                    <a:lnTo>
                      <a:pt x="15668" y="38921"/>
                    </a:lnTo>
                    <a:cubicBezTo>
                      <a:pt x="14251" y="39422"/>
                      <a:pt x="12834" y="39671"/>
                      <a:pt x="11501" y="3967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6" name="New shape"/>
              <p:cNvSpPr/>
              <p:nvPr>
                <p:custDataLst>
                  <p:tags r:id="rId25"/>
                </p:custDataLst>
              </p:nvPr>
            </p:nvSpPr>
            <p:spPr>
              <a:xfrm>
                <a:off x="484783" y="5180142"/>
                <a:ext cx="31004" cy="45756"/>
              </a:xfrm>
              <a:custGeom>
                <a:avLst/>
                <a:gdLst/>
                <a:ahLst/>
                <a:cxnLst/>
                <a:rect l="l" t="t" r="r" b="b"/>
                <a:pathLst>
                  <a:path w="31003" h="45755">
                    <a:moveTo>
                      <a:pt x="19502" y="45755"/>
                    </a:moveTo>
                    <a:cubicBezTo>
                      <a:pt x="14501" y="45755"/>
                      <a:pt x="9834" y="42671"/>
                      <a:pt x="8000" y="37671"/>
                    </a:cubicBezTo>
                    <a:lnTo>
                      <a:pt x="0" y="15668"/>
                    </a:lnTo>
                    <a:cubicBezTo>
                      <a:pt x="-2333" y="9334"/>
                      <a:pt x="1000" y="2250"/>
                      <a:pt x="7334" y="0"/>
                    </a:cubicBezTo>
                    <a:cubicBezTo>
                      <a:pt x="13668" y="-2333"/>
                      <a:pt x="20752" y="999"/>
                      <a:pt x="23002" y="7334"/>
                    </a:cubicBezTo>
                    <a:lnTo>
                      <a:pt x="31003" y="29336"/>
                    </a:lnTo>
                    <a:cubicBezTo>
                      <a:pt x="33337" y="35671"/>
                      <a:pt x="30003" y="42755"/>
                      <a:pt x="23669" y="45005"/>
                    </a:cubicBezTo>
                    <a:cubicBezTo>
                      <a:pt x="22252" y="45505"/>
                      <a:pt x="20919" y="45755"/>
                      <a:pt x="19502" y="4575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7" name="New shape"/>
              <p:cNvSpPr/>
              <p:nvPr>
                <p:custDataLst>
                  <p:tags r:id="rId26"/>
                </p:custDataLst>
              </p:nvPr>
            </p:nvSpPr>
            <p:spPr>
              <a:xfrm>
                <a:off x="623302" y="5254322"/>
                <a:ext cx="42589" cy="30837"/>
              </a:xfrm>
              <a:custGeom>
                <a:avLst/>
                <a:gdLst/>
                <a:ahLst/>
                <a:cxnLst/>
                <a:rect l="l" t="t" r="r" b="b"/>
                <a:pathLst>
                  <a:path w="42588" h="30836">
                    <a:moveTo>
                      <a:pt x="11501" y="30836"/>
                    </a:moveTo>
                    <a:cubicBezTo>
                      <a:pt x="6500" y="30836"/>
                      <a:pt x="1833" y="27752"/>
                      <a:pt x="0" y="22752"/>
                    </a:cubicBezTo>
                    <a:cubicBezTo>
                      <a:pt x="-2333" y="16418"/>
                      <a:pt x="1000" y="9334"/>
                      <a:pt x="7334" y="7084"/>
                    </a:cubicBezTo>
                    <a:lnTo>
                      <a:pt x="26920" y="0"/>
                    </a:lnTo>
                    <a:cubicBezTo>
                      <a:pt x="33254" y="-2333"/>
                      <a:pt x="40338" y="999"/>
                      <a:pt x="42588" y="7334"/>
                    </a:cubicBezTo>
                    <a:cubicBezTo>
                      <a:pt x="44839" y="13668"/>
                      <a:pt x="41588" y="20752"/>
                      <a:pt x="35254" y="23002"/>
                    </a:cubicBezTo>
                    <a:lnTo>
                      <a:pt x="15668" y="30086"/>
                    </a:lnTo>
                    <a:cubicBezTo>
                      <a:pt x="14251" y="30586"/>
                      <a:pt x="12918" y="30836"/>
                      <a:pt x="11501" y="3083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8" name="New shape"/>
              <p:cNvSpPr/>
              <p:nvPr>
                <p:custDataLst>
                  <p:tags r:id="rId27"/>
                </p:custDataLst>
              </p:nvPr>
            </p:nvSpPr>
            <p:spPr>
              <a:xfrm>
                <a:off x="411355" y="5331994"/>
                <a:ext cx="41005" cy="30337"/>
              </a:xfrm>
              <a:custGeom>
                <a:avLst/>
                <a:gdLst/>
                <a:ahLst/>
                <a:cxnLst/>
                <a:rect l="l" t="t" r="r" b="b"/>
                <a:pathLst>
                  <a:path w="41005" h="30337">
                    <a:moveTo>
                      <a:pt x="11501" y="30336"/>
                    </a:moveTo>
                    <a:cubicBezTo>
                      <a:pt x="6500" y="30336"/>
                      <a:pt x="1833" y="27253"/>
                      <a:pt x="0" y="22252"/>
                    </a:cubicBezTo>
                    <a:cubicBezTo>
                      <a:pt x="-2333" y="15918"/>
                      <a:pt x="1000" y="8834"/>
                      <a:pt x="7334" y="6584"/>
                    </a:cubicBezTo>
                    <a:lnTo>
                      <a:pt x="25336" y="0"/>
                    </a:lnTo>
                    <a:cubicBezTo>
                      <a:pt x="31670" y="-2333"/>
                      <a:pt x="38754" y="999"/>
                      <a:pt x="41005" y="7334"/>
                    </a:cubicBezTo>
                    <a:cubicBezTo>
                      <a:pt x="43338" y="13668"/>
                      <a:pt x="40005" y="20752"/>
                      <a:pt x="33670" y="23002"/>
                    </a:cubicBezTo>
                    <a:lnTo>
                      <a:pt x="15668" y="29586"/>
                    </a:lnTo>
                    <a:cubicBezTo>
                      <a:pt x="14251" y="30087"/>
                      <a:pt x="12834" y="30337"/>
                      <a:pt x="11501" y="3033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9" name="New shape"/>
              <p:cNvSpPr/>
              <p:nvPr>
                <p:custDataLst>
                  <p:tags r:id="rId28"/>
                </p:custDataLst>
              </p:nvPr>
            </p:nvSpPr>
            <p:spPr>
              <a:xfrm>
                <a:off x="623800" y="5341748"/>
                <a:ext cx="37588" cy="30504"/>
              </a:xfrm>
              <a:custGeom>
                <a:avLst/>
                <a:gdLst/>
                <a:ahLst/>
                <a:cxnLst/>
                <a:rect l="l" t="t" r="r" b="b"/>
                <a:pathLst>
                  <a:path w="37588" h="30503">
                    <a:moveTo>
                      <a:pt x="26503" y="30504"/>
                    </a:moveTo>
                    <a:cubicBezTo>
                      <a:pt x="24753" y="30504"/>
                      <a:pt x="23002" y="30171"/>
                      <a:pt x="21336" y="29337"/>
                    </a:cubicBezTo>
                    <a:lnTo>
                      <a:pt x="5917" y="22169"/>
                    </a:lnTo>
                    <a:cubicBezTo>
                      <a:pt x="-249" y="19336"/>
                      <a:pt x="-2833" y="12001"/>
                      <a:pt x="0" y="5917"/>
                    </a:cubicBezTo>
                    <a:cubicBezTo>
                      <a:pt x="2833" y="-249"/>
                      <a:pt x="10167" y="-2833"/>
                      <a:pt x="16252" y="0"/>
                    </a:cubicBezTo>
                    <a:lnTo>
                      <a:pt x="31670" y="7167"/>
                    </a:lnTo>
                    <a:cubicBezTo>
                      <a:pt x="37837" y="10001"/>
                      <a:pt x="40421" y="17335"/>
                      <a:pt x="37588" y="23419"/>
                    </a:cubicBezTo>
                    <a:cubicBezTo>
                      <a:pt x="35504" y="27837"/>
                      <a:pt x="31087" y="30503"/>
                      <a:pt x="26503" y="3050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0" name="New shape"/>
              <p:cNvSpPr/>
              <p:nvPr>
                <p:custDataLst>
                  <p:tags r:id="rId29"/>
                </p:custDataLst>
              </p:nvPr>
            </p:nvSpPr>
            <p:spPr>
              <a:xfrm>
                <a:off x="415856" y="5244736"/>
                <a:ext cx="41672" cy="32421"/>
              </a:xfrm>
              <a:custGeom>
                <a:avLst/>
                <a:gdLst/>
                <a:ahLst/>
                <a:cxnLst/>
                <a:rect l="l" t="t" r="r" b="b"/>
                <a:pathLst>
                  <a:path w="41671" h="32420">
                    <a:moveTo>
                      <a:pt x="30586" y="32420"/>
                    </a:moveTo>
                    <a:cubicBezTo>
                      <a:pt x="28836" y="32420"/>
                      <a:pt x="27086" y="32087"/>
                      <a:pt x="25419" y="31253"/>
                    </a:cubicBezTo>
                    <a:lnTo>
                      <a:pt x="5917" y="22169"/>
                    </a:lnTo>
                    <a:cubicBezTo>
                      <a:pt x="-249" y="19336"/>
                      <a:pt x="-2833" y="12001"/>
                      <a:pt x="0" y="5917"/>
                    </a:cubicBezTo>
                    <a:cubicBezTo>
                      <a:pt x="2833" y="-249"/>
                      <a:pt x="10167" y="-2833"/>
                      <a:pt x="16252" y="0"/>
                    </a:cubicBezTo>
                    <a:lnTo>
                      <a:pt x="35754" y="9084"/>
                    </a:lnTo>
                    <a:cubicBezTo>
                      <a:pt x="41921" y="11917"/>
                      <a:pt x="44505" y="19251"/>
                      <a:pt x="41671" y="25336"/>
                    </a:cubicBezTo>
                    <a:cubicBezTo>
                      <a:pt x="39588" y="29753"/>
                      <a:pt x="35170" y="32420"/>
                      <a:pt x="30587" y="3242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1" name="New shape"/>
              <p:cNvSpPr/>
              <p:nvPr>
                <p:custDataLst>
                  <p:tags r:id="rId30"/>
                </p:custDataLst>
              </p:nvPr>
            </p:nvSpPr>
            <p:spPr>
              <a:xfrm>
                <a:off x="569877" y="5185146"/>
                <a:ext cx="31921" cy="44256"/>
              </a:xfrm>
              <a:custGeom>
                <a:avLst/>
                <a:gdLst/>
                <a:ahLst/>
                <a:cxnLst/>
                <a:rect l="l" t="t" r="r" b="b"/>
                <a:pathLst>
                  <a:path w="31919" h="44256">
                    <a:moveTo>
                      <a:pt x="11084" y="44256"/>
                    </a:moveTo>
                    <a:cubicBezTo>
                      <a:pt x="9334" y="44256"/>
                      <a:pt x="7584" y="43922"/>
                      <a:pt x="5917" y="43089"/>
                    </a:cubicBezTo>
                    <a:cubicBezTo>
                      <a:pt x="-249" y="40255"/>
                      <a:pt x="-2833" y="32921"/>
                      <a:pt x="0" y="26837"/>
                    </a:cubicBezTo>
                    <a:lnTo>
                      <a:pt x="9751" y="5917"/>
                    </a:lnTo>
                    <a:cubicBezTo>
                      <a:pt x="12584" y="-249"/>
                      <a:pt x="19835" y="-2833"/>
                      <a:pt x="26003" y="0"/>
                    </a:cubicBezTo>
                    <a:cubicBezTo>
                      <a:pt x="32171" y="2833"/>
                      <a:pt x="34754" y="10167"/>
                      <a:pt x="31920" y="16252"/>
                    </a:cubicBezTo>
                    <a:lnTo>
                      <a:pt x="22169" y="37171"/>
                    </a:lnTo>
                    <a:cubicBezTo>
                      <a:pt x="20086" y="41588"/>
                      <a:pt x="15668" y="44255"/>
                      <a:pt x="11085" y="4425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2" name="New shape"/>
              <p:cNvSpPr/>
              <p:nvPr>
                <p:custDataLst>
                  <p:tags r:id="rId31"/>
                </p:custDataLst>
              </p:nvPr>
            </p:nvSpPr>
            <p:spPr>
              <a:xfrm>
                <a:off x="475449" y="5394089"/>
                <a:ext cx="28920" cy="37755"/>
              </a:xfrm>
              <a:custGeom>
                <a:avLst/>
                <a:gdLst/>
                <a:ahLst/>
                <a:cxnLst/>
                <a:rect l="l" t="t" r="r" b="b"/>
                <a:pathLst>
                  <a:path w="28920" h="37754">
                    <a:moveTo>
                      <a:pt x="11084" y="37754"/>
                    </a:moveTo>
                    <a:cubicBezTo>
                      <a:pt x="9334" y="37754"/>
                      <a:pt x="7584" y="37421"/>
                      <a:pt x="5917" y="36588"/>
                    </a:cubicBezTo>
                    <a:cubicBezTo>
                      <a:pt x="-249" y="33754"/>
                      <a:pt x="-2833" y="26420"/>
                      <a:pt x="0" y="20335"/>
                    </a:cubicBezTo>
                    <a:lnTo>
                      <a:pt x="6750" y="5917"/>
                    </a:lnTo>
                    <a:cubicBezTo>
                      <a:pt x="9584" y="-249"/>
                      <a:pt x="16835" y="-2833"/>
                      <a:pt x="23002" y="0"/>
                    </a:cubicBezTo>
                    <a:cubicBezTo>
                      <a:pt x="29170" y="2833"/>
                      <a:pt x="31753" y="10167"/>
                      <a:pt x="28920" y="16252"/>
                    </a:cubicBezTo>
                    <a:lnTo>
                      <a:pt x="22169" y="30670"/>
                    </a:lnTo>
                    <a:cubicBezTo>
                      <a:pt x="20086" y="35087"/>
                      <a:pt x="15668" y="37754"/>
                      <a:pt x="11085" y="3775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3" name="New shape"/>
              <p:cNvSpPr/>
              <p:nvPr>
                <p:custDataLst>
                  <p:tags r:id="rId32"/>
                </p:custDataLst>
              </p:nvPr>
            </p:nvSpPr>
            <p:spPr>
              <a:xfrm>
                <a:off x="619799" y="5058459"/>
                <a:ext cx="119016" cy="24503"/>
              </a:xfrm>
              <a:custGeom>
                <a:avLst/>
                <a:gdLst/>
                <a:ahLst/>
                <a:cxnLst/>
                <a:rect l="l" t="t" r="r" b="b"/>
                <a:pathLst>
                  <a:path w="119016" h="24503">
                    <a:moveTo>
                      <a:pt x="106764" y="24503"/>
                    </a:moveTo>
                    <a:lnTo>
                      <a:pt x="12251" y="24503"/>
                    </a:lnTo>
                    <a:cubicBezTo>
                      <a:pt x="5500" y="24503"/>
                      <a:pt x="0" y="19002"/>
                      <a:pt x="0" y="12251"/>
                    </a:cubicBezTo>
                    <a:cubicBezTo>
                      <a:pt x="0" y="5500"/>
                      <a:pt x="5500" y="0"/>
                      <a:pt x="12251" y="0"/>
                    </a:cubicBezTo>
                    <a:lnTo>
                      <a:pt x="106764" y="0"/>
                    </a:lnTo>
                    <a:cubicBezTo>
                      <a:pt x="113515" y="0"/>
                      <a:pt x="119016" y="5500"/>
                      <a:pt x="119016" y="12251"/>
                    </a:cubicBezTo>
                    <a:cubicBezTo>
                      <a:pt x="119016" y="19002"/>
                      <a:pt x="113516" y="24503"/>
                      <a:pt x="106764" y="2450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4" name="New shape"/>
              <p:cNvSpPr/>
              <p:nvPr>
                <p:custDataLst>
                  <p:tags r:id="rId33"/>
                </p:custDataLst>
              </p:nvPr>
            </p:nvSpPr>
            <p:spPr>
              <a:xfrm>
                <a:off x="572710" y="5098384"/>
                <a:ext cx="213194" cy="24503"/>
              </a:xfrm>
              <a:custGeom>
                <a:avLst/>
                <a:gdLst/>
                <a:ahLst/>
                <a:cxnLst/>
                <a:rect l="l" t="t" r="r" b="b"/>
                <a:pathLst>
                  <a:path w="213193" h="24503">
                    <a:moveTo>
                      <a:pt x="200941" y="24503"/>
                    </a:moveTo>
                    <a:lnTo>
                      <a:pt x="12251" y="24503"/>
                    </a:lnTo>
                    <a:cubicBezTo>
                      <a:pt x="5500" y="24503"/>
                      <a:pt x="0" y="19002"/>
                      <a:pt x="0" y="12251"/>
                    </a:cubicBezTo>
                    <a:cubicBezTo>
                      <a:pt x="0" y="5500"/>
                      <a:pt x="5500" y="0"/>
                      <a:pt x="12251" y="0"/>
                    </a:cubicBezTo>
                    <a:lnTo>
                      <a:pt x="200941" y="0"/>
                    </a:lnTo>
                    <a:cubicBezTo>
                      <a:pt x="207692" y="0"/>
                      <a:pt x="213193" y="5500"/>
                      <a:pt x="213193" y="12251"/>
                    </a:cubicBezTo>
                    <a:cubicBezTo>
                      <a:pt x="213193" y="19002"/>
                      <a:pt x="207693" y="24503"/>
                      <a:pt x="200941" y="2450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5" name="New shape"/>
              <p:cNvSpPr/>
              <p:nvPr>
                <p:custDataLst>
                  <p:tags r:id="rId34"/>
                </p:custDataLst>
              </p:nvPr>
            </p:nvSpPr>
            <p:spPr>
              <a:xfrm>
                <a:off x="572710" y="5138304"/>
                <a:ext cx="213194" cy="24503"/>
              </a:xfrm>
              <a:custGeom>
                <a:avLst/>
                <a:gdLst/>
                <a:ahLst/>
                <a:cxnLst/>
                <a:rect l="l" t="t" r="r" b="b"/>
                <a:pathLst>
                  <a:path w="213193" h="24503">
                    <a:moveTo>
                      <a:pt x="200941" y="24503"/>
                    </a:moveTo>
                    <a:lnTo>
                      <a:pt x="12251" y="24503"/>
                    </a:lnTo>
                    <a:cubicBezTo>
                      <a:pt x="5500" y="24503"/>
                      <a:pt x="0" y="19002"/>
                      <a:pt x="0" y="12251"/>
                    </a:cubicBezTo>
                    <a:cubicBezTo>
                      <a:pt x="0" y="5500"/>
                      <a:pt x="5500" y="0"/>
                      <a:pt x="12251" y="0"/>
                    </a:cubicBezTo>
                    <a:lnTo>
                      <a:pt x="200941" y="0"/>
                    </a:lnTo>
                    <a:cubicBezTo>
                      <a:pt x="207692" y="0"/>
                      <a:pt x="213193" y="5500"/>
                      <a:pt x="213193" y="12251"/>
                    </a:cubicBezTo>
                    <a:cubicBezTo>
                      <a:pt x="213193" y="19002"/>
                      <a:pt x="207693" y="24503"/>
                      <a:pt x="200941" y="2450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86" name="Rectangle 85"/>
            <p:cNvSpPr/>
            <p:nvPr>
              <p:custDataLst>
                <p:tags r:id="rId19"/>
              </p:custDataLst>
            </p:nvPr>
          </p:nvSpPr>
          <p:spPr>
            <a:xfrm>
              <a:off x="1676400" y="5486400"/>
              <a:ext cx="9525000" cy="7620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dirty="0">
                  <a:solidFill>
                    <a:srgbClr val="FFFFFF"/>
                  </a:solidFill>
                  <a:ea typeface="+mn-ea"/>
                  <a:cs typeface="+mn-lt"/>
                </a:rPr>
                <a:t>These objectives collectively provide a comprehensive understanding of Bengaluru’s luxury housing market, highlighting trends in pricing, demand, developer performance, and buyer behavior.</a:t>
              </a:r>
              <a:endParaRPr sz="1600" dirty="0">
                <a:solidFill>
                  <a:srgbClr val="FFFFFF"/>
                </a:solidFill>
                <a:latin typeface="+mn-lt"/>
                <a:ea typeface="+mn-ea"/>
                <a:cs typeface="+mn-lt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DF1A6D5-D86E-78AC-4F65-FA91A20D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56" y="3061901"/>
            <a:ext cx="24384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Evaluate total number of projects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Analyze pricing trends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2D76176-E011-2CE8-0F9A-1F7CE5030CE3}"/>
              </a:ext>
            </a:extLst>
          </p:cNvPr>
          <p:cNvGrpSpPr/>
          <p:nvPr/>
        </p:nvGrpSpPr>
        <p:grpSpPr>
          <a:xfrm>
            <a:off x="381000" y="275008"/>
            <a:ext cx="11429400" cy="6058736"/>
            <a:chOff x="381000" y="275008"/>
            <a:chExt cx="11429400" cy="6058736"/>
          </a:xfrm>
        </p:grpSpPr>
        <p:sp>
          <p:nvSpPr>
            <p:cNvPr id="124" name="Title 1"/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381000" y="275008"/>
              <a:ext cx="11429400" cy="78875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Tools &amp; Technologies</a:t>
              </a:r>
            </a:p>
          </p:txBody>
        </p:sp>
        <p:sp>
          <p:nvSpPr>
            <p:cNvPr id="125" name="New shape"/>
            <p:cNvSpPr/>
            <p:nvPr>
              <p:custDataLst>
                <p:tags r:id="rId2"/>
              </p:custDataLst>
            </p:nvPr>
          </p:nvSpPr>
          <p:spPr>
            <a:xfrm>
              <a:off x="426720" y="1295400"/>
              <a:ext cx="3581400" cy="2438400"/>
            </a:xfrm>
            <a:custGeom>
              <a:avLst/>
              <a:gdLst/>
              <a:ahLst/>
              <a:cxnLst/>
              <a:rect l="l" t="t" r="r" b="b"/>
              <a:pathLst>
                <a:path w="3581400" h="2438400">
                  <a:moveTo>
                    <a:pt x="30479" y="0"/>
                  </a:moveTo>
                  <a:lnTo>
                    <a:pt x="3550920" y="0"/>
                  </a:lnTo>
                  <a:cubicBezTo>
                    <a:pt x="3567753" y="0"/>
                    <a:pt x="3581400" y="13646"/>
                    <a:pt x="3581400" y="30480"/>
                  </a:cubicBezTo>
                  <a:lnTo>
                    <a:pt x="3581400" y="2407920"/>
                  </a:lnTo>
                  <a:cubicBezTo>
                    <a:pt x="3581400" y="2424754"/>
                    <a:pt x="3567753" y="2438400"/>
                    <a:pt x="3550920" y="2438400"/>
                  </a:cubicBezTo>
                  <a:lnTo>
                    <a:pt x="30479" y="2438400"/>
                  </a:lnTo>
                  <a:cubicBezTo>
                    <a:pt x="13646" y="2438400"/>
                    <a:pt x="0" y="2424754"/>
                    <a:pt x="0" y="24079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79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126" name="Group 125"/>
            <p:cNvGrpSpPr/>
            <p:nvPr>
              <p:custDataLst>
                <p:tags r:id="rId3"/>
              </p:custDataLst>
            </p:nvPr>
          </p:nvGrpSpPr>
          <p:grpSpPr>
            <a:xfrm>
              <a:off x="581647" y="1447800"/>
              <a:ext cx="360705" cy="365760"/>
              <a:chOff x="-53353" y="812800"/>
              <a:chExt cx="360705" cy="365760"/>
            </a:xfrm>
          </p:grpSpPr>
          <p:sp>
            <p:nvSpPr>
              <p:cNvPr id="127" name="New shape"/>
              <p:cNvSpPr/>
              <p:nvPr>
                <p:custDataLst>
                  <p:tags r:id="rId88"/>
                </p:custDataLst>
              </p:nvPr>
            </p:nvSpPr>
            <p:spPr>
              <a:xfrm>
                <a:off x="271984" y="812800"/>
                <a:ext cx="35369" cy="35321"/>
              </a:xfrm>
              <a:custGeom>
                <a:avLst/>
                <a:gdLst/>
                <a:ahLst/>
                <a:cxnLst/>
                <a:rect l="l" t="t" r="r" b="b"/>
                <a:pathLst>
                  <a:path w="35368" h="35321">
                    <a:moveTo>
                      <a:pt x="14813" y="26067"/>
                    </a:moveTo>
                    <a:lnTo>
                      <a:pt x="35368" y="26067"/>
                    </a:lnTo>
                    <a:lnTo>
                      <a:pt x="35368" y="18277"/>
                    </a:lnTo>
                    <a:lnTo>
                      <a:pt x="17091" y="18364"/>
                    </a:lnTo>
                    <a:lnTo>
                      <a:pt x="17091" y="0"/>
                    </a:lnTo>
                    <a:lnTo>
                      <a:pt x="9436" y="0"/>
                    </a:lnTo>
                    <a:lnTo>
                      <a:pt x="9436" y="20555"/>
                    </a:lnTo>
                    <a:lnTo>
                      <a:pt x="0" y="29944"/>
                    </a:lnTo>
                    <a:lnTo>
                      <a:pt x="5424" y="35321"/>
                    </a:lnTo>
                    <a:lnTo>
                      <a:pt x="14813" y="26067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8" name="New shape"/>
              <p:cNvSpPr/>
              <p:nvPr>
                <p:custDataLst>
                  <p:tags r:id="rId89"/>
                </p:custDataLst>
              </p:nvPr>
            </p:nvSpPr>
            <p:spPr>
              <a:xfrm>
                <a:off x="-17208" y="1114618"/>
                <a:ext cx="27801" cy="27801"/>
              </a:xfrm>
              <a:custGeom>
                <a:avLst/>
                <a:gdLst/>
                <a:ahLst/>
                <a:cxnLst/>
                <a:rect l="l" t="t" r="r" b="b"/>
                <a:pathLst>
                  <a:path w="27800" h="27800">
                    <a:moveTo>
                      <a:pt x="8844" y="0"/>
                    </a:moveTo>
                    <a:cubicBezTo>
                      <a:pt x="6334" y="-2417"/>
                      <a:pt x="2410" y="-2417"/>
                      <a:pt x="0" y="0"/>
                    </a:cubicBezTo>
                    <a:cubicBezTo>
                      <a:pt x="-2417" y="2509"/>
                      <a:pt x="-2366" y="6426"/>
                      <a:pt x="0" y="8840"/>
                    </a:cubicBezTo>
                    <a:lnTo>
                      <a:pt x="18961" y="27801"/>
                    </a:lnTo>
                    <a:cubicBezTo>
                      <a:pt x="21470" y="30167"/>
                      <a:pt x="25387" y="30167"/>
                      <a:pt x="27801" y="27801"/>
                    </a:cubicBezTo>
                    <a:cubicBezTo>
                      <a:pt x="30219" y="25292"/>
                      <a:pt x="30219" y="21375"/>
                      <a:pt x="27801" y="18961"/>
                    </a:cubicBezTo>
                    <a:lnTo>
                      <a:pt x="8844" y="0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9" name="New shape"/>
              <p:cNvSpPr/>
              <p:nvPr>
                <p:custDataLst>
                  <p:tags r:id="rId90"/>
                </p:custDataLst>
              </p:nvPr>
            </p:nvSpPr>
            <p:spPr>
              <a:xfrm>
                <a:off x="-33572" y="1130934"/>
                <a:ext cx="27849" cy="27845"/>
              </a:xfrm>
              <a:custGeom>
                <a:avLst/>
                <a:gdLst/>
                <a:ahLst/>
                <a:cxnLst/>
                <a:rect l="l" t="t" r="r" b="b"/>
                <a:pathLst>
                  <a:path w="27847" h="27845">
                    <a:moveTo>
                      <a:pt x="8796" y="0"/>
                    </a:moveTo>
                    <a:cubicBezTo>
                      <a:pt x="6426" y="-2417"/>
                      <a:pt x="2461" y="-2417"/>
                      <a:pt x="0" y="87"/>
                    </a:cubicBezTo>
                    <a:cubicBezTo>
                      <a:pt x="-2410" y="2457"/>
                      <a:pt x="-2410" y="6378"/>
                      <a:pt x="47" y="8884"/>
                    </a:cubicBezTo>
                    <a:lnTo>
                      <a:pt x="19052" y="27845"/>
                    </a:lnTo>
                    <a:cubicBezTo>
                      <a:pt x="21473" y="30262"/>
                      <a:pt x="25387" y="30262"/>
                      <a:pt x="27848" y="27757"/>
                    </a:cubicBezTo>
                    <a:cubicBezTo>
                      <a:pt x="30266" y="25343"/>
                      <a:pt x="30266" y="21422"/>
                      <a:pt x="27761" y="19052"/>
                    </a:cubicBezTo>
                    <a:lnTo>
                      <a:pt x="8796" y="0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0" name="New shape"/>
              <p:cNvSpPr/>
              <p:nvPr>
                <p:custDataLst>
                  <p:tags r:id="rId91"/>
                </p:custDataLst>
              </p:nvPr>
            </p:nvSpPr>
            <p:spPr>
              <a:xfrm>
                <a:off x="-50390" y="1148520"/>
                <a:ext cx="27304" cy="27355"/>
              </a:xfrm>
              <a:custGeom>
                <a:avLst/>
                <a:gdLst/>
                <a:ahLst/>
                <a:cxnLst/>
                <a:rect l="l" t="t" r="r" b="b"/>
                <a:pathLst>
                  <a:path w="27303" h="27355">
                    <a:moveTo>
                      <a:pt x="22059" y="27355"/>
                    </a:moveTo>
                    <a:cubicBezTo>
                      <a:pt x="23931" y="27622"/>
                      <a:pt x="25888" y="27080"/>
                      <a:pt x="27304" y="25665"/>
                    </a:cubicBezTo>
                    <a:cubicBezTo>
                      <a:pt x="29721" y="23156"/>
                      <a:pt x="29721" y="19238"/>
                      <a:pt x="27304" y="16821"/>
                    </a:cubicBezTo>
                    <a:lnTo>
                      <a:pt x="10394" y="0"/>
                    </a:lnTo>
                    <a:cubicBezTo>
                      <a:pt x="7977" y="-2457"/>
                      <a:pt x="4008" y="-2457"/>
                      <a:pt x="1598" y="0"/>
                    </a:cubicBezTo>
                    <a:cubicBezTo>
                      <a:pt x="0" y="1602"/>
                      <a:pt x="-541" y="3833"/>
                      <a:pt x="0" y="5877"/>
                    </a:cubicBezTo>
                    <a:lnTo>
                      <a:pt x="5336" y="22289"/>
                    </a:lnTo>
                    <a:lnTo>
                      <a:pt x="22059" y="27355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1" name="New shape"/>
              <p:cNvSpPr/>
              <p:nvPr>
                <p:custDataLst>
                  <p:tags r:id="rId92"/>
                </p:custDataLst>
              </p:nvPr>
            </p:nvSpPr>
            <p:spPr>
              <a:xfrm>
                <a:off x="-53353" y="842514"/>
                <a:ext cx="357421" cy="336046"/>
              </a:xfrm>
              <a:custGeom>
                <a:avLst/>
                <a:gdLst/>
                <a:ahLst/>
                <a:cxnLst/>
                <a:rect l="l" t="t" r="r" b="b"/>
                <a:pathLst>
                  <a:path w="357420" h="336045">
                    <a:moveTo>
                      <a:pt x="280669" y="71692"/>
                    </a:moveTo>
                    <a:lnTo>
                      <a:pt x="270867" y="81582"/>
                    </a:lnTo>
                    <a:cubicBezTo>
                      <a:pt x="267769" y="85002"/>
                      <a:pt x="265856" y="89512"/>
                      <a:pt x="265856" y="94526"/>
                    </a:cubicBezTo>
                    <a:cubicBezTo>
                      <a:pt x="265856" y="99859"/>
                      <a:pt x="268047" y="104643"/>
                      <a:pt x="271507" y="108155"/>
                    </a:cubicBezTo>
                    <a:lnTo>
                      <a:pt x="328068" y="164676"/>
                    </a:lnTo>
                    <a:cubicBezTo>
                      <a:pt x="346213" y="182817"/>
                      <a:pt x="357420" y="207927"/>
                      <a:pt x="357420" y="235596"/>
                    </a:cubicBezTo>
                    <a:cubicBezTo>
                      <a:pt x="357424" y="291060"/>
                      <a:pt x="312527" y="336045"/>
                      <a:pt x="257107" y="336045"/>
                    </a:cubicBezTo>
                    <a:cubicBezTo>
                      <a:pt x="201639" y="336045"/>
                      <a:pt x="156698" y="291060"/>
                      <a:pt x="156698" y="235593"/>
                    </a:cubicBezTo>
                    <a:lnTo>
                      <a:pt x="156929" y="98539"/>
                    </a:lnTo>
                    <a:cubicBezTo>
                      <a:pt x="156929" y="64490"/>
                      <a:pt x="129351" y="36916"/>
                      <a:pt x="95258" y="36916"/>
                    </a:cubicBezTo>
                    <a:cubicBezTo>
                      <a:pt x="61257" y="36916"/>
                      <a:pt x="33682" y="64490"/>
                      <a:pt x="33682" y="98539"/>
                    </a:cubicBezTo>
                    <a:cubicBezTo>
                      <a:pt x="33682" y="115539"/>
                      <a:pt x="40518" y="130945"/>
                      <a:pt x="51733" y="142159"/>
                    </a:cubicBezTo>
                    <a:lnTo>
                      <a:pt x="97676" y="188055"/>
                    </a:lnTo>
                    <a:cubicBezTo>
                      <a:pt x="107109" y="197440"/>
                      <a:pt x="112895" y="210432"/>
                      <a:pt x="112895" y="224741"/>
                    </a:cubicBezTo>
                    <a:cubicBezTo>
                      <a:pt x="112895" y="239101"/>
                      <a:pt x="107105" y="252089"/>
                      <a:pt x="97676" y="261434"/>
                    </a:cubicBezTo>
                    <a:lnTo>
                      <a:pt x="74066" y="284996"/>
                    </a:lnTo>
                    <a:lnTo>
                      <a:pt x="51184" y="262023"/>
                    </a:lnTo>
                    <a:lnTo>
                      <a:pt x="75247" y="238369"/>
                    </a:lnTo>
                    <a:cubicBezTo>
                      <a:pt x="78349" y="234905"/>
                      <a:pt x="80214" y="230351"/>
                      <a:pt x="80214" y="225377"/>
                    </a:cubicBezTo>
                    <a:cubicBezTo>
                      <a:pt x="80214" y="220136"/>
                      <a:pt x="78078" y="215216"/>
                      <a:pt x="74615" y="211745"/>
                    </a:cubicBezTo>
                    <a:lnTo>
                      <a:pt x="25295" y="163074"/>
                    </a:lnTo>
                    <a:cubicBezTo>
                      <a:pt x="9619" y="146168"/>
                      <a:pt x="0" y="123425"/>
                      <a:pt x="0" y="98539"/>
                    </a:cubicBezTo>
                    <a:cubicBezTo>
                      <a:pt x="0" y="46082"/>
                      <a:pt x="42570" y="3650"/>
                      <a:pt x="94984" y="3650"/>
                    </a:cubicBezTo>
                    <a:cubicBezTo>
                      <a:pt x="147397" y="3650"/>
                      <a:pt x="189877" y="46085"/>
                      <a:pt x="189877" y="98539"/>
                    </a:cubicBezTo>
                    <a:lnTo>
                      <a:pt x="189785" y="235593"/>
                    </a:lnTo>
                    <a:cubicBezTo>
                      <a:pt x="189785" y="272831"/>
                      <a:pt x="219913" y="302907"/>
                      <a:pt x="257107" y="302907"/>
                    </a:cubicBezTo>
                    <a:cubicBezTo>
                      <a:pt x="294254" y="302907"/>
                      <a:pt x="324421" y="272827"/>
                      <a:pt x="324421" y="235593"/>
                    </a:cubicBezTo>
                    <a:cubicBezTo>
                      <a:pt x="324421" y="217085"/>
                      <a:pt x="316857" y="200268"/>
                      <a:pt x="304645" y="188055"/>
                    </a:cubicBezTo>
                    <a:lnTo>
                      <a:pt x="248490" y="131538"/>
                    </a:lnTo>
                    <a:cubicBezTo>
                      <a:pt x="239060" y="122101"/>
                      <a:pt x="233270" y="109204"/>
                      <a:pt x="233270" y="94892"/>
                    </a:cubicBezTo>
                    <a:cubicBezTo>
                      <a:pt x="233270" y="80536"/>
                      <a:pt x="239060" y="67544"/>
                      <a:pt x="248490" y="58115"/>
                    </a:cubicBezTo>
                    <a:lnTo>
                      <a:pt x="262714" y="43847"/>
                    </a:lnTo>
                    <a:cubicBezTo>
                      <a:pt x="263628" y="42984"/>
                      <a:pt x="264126" y="41707"/>
                      <a:pt x="264126" y="40387"/>
                    </a:cubicBezTo>
                    <a:cubicBezTo>
                      <a:pt x="264126" y="39246"/>
                      <a:pt x="263808" y="38148"/>
                      <a:pt x="263080" y="37289"/>
                    </a:cubicBezTo>
                    <a:lnTo>
                      <a:pt x="255516" y="28532"/>
                    </a:lnTo>
                    <a:cubicBezTo>
                      <a:pt x="254605" y="27303"/>
                      <a:pt x="254104" y="25800"/>
                      <a:pt x="254104" y="24110"/>
                    </a:cubicBezTo>
                    <a:cubicBezTo>
                      <a:pt x="254104" y="24110"/>
                      <a:pt x="248998" y="11305"/>
                      <a:pt x="295716" y="0"/>
                    </a:cubicBezTo>
                    <a:cubicBezTo>
                      <a:pt x="302370" y="-1591"/>
                      <a:pt x="310025" y="-1133"/>
                      <a:pt x="315175" y="3968"/>
                    </a:cubicBezTo>
                    <a:lnTo>
                      <a:pt x="327296" y="14454"/>
                    </a:lnTo>
                    <a:cubicBezTo>
                      <a:pt x="332267" y="19696"/>
                      <a:pt x="332585" y="27347"/>
                      <a:pt x="330807" y="34008"/>
                    </a:cubicBezTo>
                    <a:cubicBezTo>
                      <a:pt x="318507" y="80452"/>
                      <a:pt x="305830" y="75119"/>
                      <a:pt x="305830" y="75119"/>
                    </a:cubicBezTo>
                    <a:cubicBezTo>
                      <a:pt x="304147" y="75072"/>
                      <a:pt x="302640" y="74523"/>
                      <a:pt x="301411" y="73616"/>
                    </a:cubicBezTo>
                    <a:lnTo>
                      <a:pt x="292842" y="65822"/>
                    </a:lnTo>
                    <a:cubicBezTo>
                      <a:pt x="291975" y="65094"/>
                      <a:pt x="290929" y="64732"/>
                      <a:pt x="289784" y="64681"/>
                    </a:cubicBezTo>
                    <a:cubicBezTo>
                      <a:pt x="288467" y="64637"/>
                      <a:pt x="287139" y="65182"/>
                      <a:pt x="286276" y="66048"/>
                    </a:cubicBezTo>
                    <a:lnTo>
                      <a:pt x="280669" y="71692"/>
                    </a:lnTo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132" name="Rectangle 131"/>
            <p:cNvSpPr/>
            <p:nvPr>
              <p:custDataLst>
                <p:tags r:id="rId4"/>
              </p:custDataLst>
            </p:nvPr>
          </p:nvSpPr>
          <p:spPr>
            <a:xfrm>
              <a:off x="1021080" y="1447800"/>
              <a:ext cx="2819400" cy="36576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6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Python</a:t>
              </a:r>
            </a:p>
          </p:txBody>
        </p:sp>
        <p:sp>
          <p:nvSpPr>
            <p:cNvPr id="133" name="Rectangle 132"/>
            <p:cNvSpPr/>
            <p:nvPr>
              <p:custDataLst>
                <p:tags r:id="rId5"/>
              </p:custDataLst>
            </p:nvPr>
          </p:nvSpPr>
          <p:spPr>
            <a:xfrm>
              <a:off x="579120" y="1920240"/>
              <a:ext cx="3276600" cy="16764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Core language for data cleaning and preprocessing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Handles CSV data loading and transformation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Used for data preparation before database storage </a:t>
              </a:r>
              <a:endParaRPr lang="en-GB"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134" name="New shape"/>
            <p:cNvSpPr/>
            <p:nvPr>
              <p:custDataLst>
                <p:tags r:id="rId6"/>
              </p:custDataLst>
            </p:nvPr>
          </p:nvSpPr>
          <p:spPr>
            <a:xfrm>
              <a:off x="4175760" y="1295400"/>
              <a:ext cx="3581400" cy="2438400"/>
            </a:xfrm>
            <a:custGeom>
              <a:avLst/>
              <a:gdLst/>
              <a:ahLst/>
              <a:cxnLst/>
              <a:rect l="l" t="t" r="r" b="b"/>
              <a:pathLst>
                <a:path w="3581398" h="2438400">
                  <a:moveTo>
                    <a:pt x="30479" y="0"/>
                  </a:moveTo>
                  <a:lnTo>
                    <a:pt x="3550920" y="0"/>
                  </a:lnTo>
                  <a:cubicBezTo>
                    <a:pt x="3567754" y="0"/>
                    <a:pt x="3581399" y="13646"/>
                    <a:pt x="3581399" y="30480"/>
                  </a:cubicBezTo>
                  <a:lnTo>
                    <a:pt x="3581399" y="2407920"/>
                  </a:lnTo>
                  <a:cubicBezTo>
                    <a:pt x="3581399" y="2424754"/>
                    <a:pt x="3567754" y="2438400"/>
                    <a:pt x="3550920" y="2438400"/>
                  </a:cubicBezTo>
                  <a:lnTo>
                    <a:pt x="30479" y="2438400"/>
                  </a:lnTo>
                  <a:cubicBezTo>
                    <a:pt x="13646" y="2438400"/>
                    <a:pt x="0" y="2424754"/>
                    <a:pt x="0" y="24079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79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135" name="Group 134"/>
            <p:cNvGrpSpPr/>
            <p:nvPr>
              <p:custDataLst>
                <p:tags r:id="rId7"/>
              </p:custDataLst>
            </p:nvPr>
          </p:nvGrpSpPr>
          <p:grpSpPr>
            <a:xfrm>
              <a:off x="4368394" y="1645310"/>
              <a:ext cx="285293" cy="113386"/>
              <a:chOff x="3733394" y="1010310"/>
              <a:chExt cx="285293" cy="113386"/>
            </a:xfrm>
          </p:grpSpPr>
          <p:sp>
            <p:nvSpPr>
              <p:cNvPr id="136" name="New shape"/>
              <p:cNvSpPr/>
              <p:nvPr>
                <p:custDataLst>
                  <p:tags r:id="rId85"/>
                </p:custDataLst>
              </p:nvPr>
            </p:nvSpPr>
            <p:spPr>
              <a:xfrm>
                <a:off x="3733394" y="1010310"/>
                <a:ext cx="285293" cy="40234"/>
              </a:xfrm>
              <a:custGeom>
                <a:avLst/>
                <a:gdLst/>
                <a:ahLst/>
                <a:cxnLst/>
                <a:rect l="l" t="t" r="r" b="b"/>
                <a:pathLst>
                  <a:path w="285292" h="40233">
                    <a:moveTo>
                      <a:pt x="7315" y="40233"/>
                    </a:moveTo>
                    <a:lnTo>
                      <a:pt x="7315" y="7315"/>
                    </a:lnTo>
                    <a:lnTo>
                      <a:pt x="277977" y="7315"/>
                    </a:lnTo>
                    <a:lnTo>
                      <a:pt x="277977" y="40233"/>
                    </a:lnTo>
                    <a:lnTo>
                      <a:pt x="285292" y="40233"/>
                    </a:lnTo>
                    <a:lnTo>
                      <a:pt x="285292" y="0"/>
                    </a:lnTo>
                    <a:lnTo>
                      <a:pt x="0" y="0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7" name="New shape"/>
              <p:cNvSpPr/>
              <p:nvPr>
                <p:custDataLst>
                  <p:tags r:id="rId86"/>
                </p:custDataLst>
              </p:nvPr>
            </p:nvSpPr>
            <p:spPr>
              <a:xfrm>
                <a:off x="3762654" y="1013968"/>
                <a:ext cx="7315" cy="109728"/>
              </a:xfrm>
              <a:custGeom>
                <a:avLst/>
                <a:gdLst/>
                <a:ahLst/>
                <a:cxnLst/>
                <a:rect l="l" t="t" r="r" b="b"/>
                <a:pathLst>
                  <a:path w="7314" h="109727">
                    <a:moveTo>
                      <a:pt x="7315" y="109727"/>
                    </a:moveTo>
                    <a:lnTo>
                      <a:pt x="7315" y="0"/>
                    </a:lnTo>
                    <a:lnTo>
                      <a:pt x="0" y="0"/>
                    </a:lnTo>
                    <a:lnTo>
                      <a:pt x="0" y="109727"/>
                    </a:lnTo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8" name="New shape"/>
              <p:cNvSpPr/>
              <p:nvPr>
                <p:custDataLst>
                  <p:tags r:id="rId87"/>
                </p:custDataLst>
              </p:nvPr>
            </p:nvSpPr>
            <p:spPr>
              <a:xfrm>
                <a:off x="3985768" y="1013968"/>
                <a:ext cx="7315" cy="109728"/>
              </a:xfrm>
              <a:custGeom>
                <a:avLst/>
                <a:gdLst/>
                <a:ahLst/>
                <a:cxnLst/>
                <a:rect l="l" t="t" r="r" b="b"/>
                <a:pathLst>
                  <a:path w="7314" h="109727">
                    <a:moveTo>
                      <a:pt x="7315" y="109727"/>
                    </a:moveTo>
                    <a:lnTo>
                      <a:pt x="7315" y="0"/>
                    </a:lnTo>
                    <a:lnTo>
                      <a:pt x="0" y="0"/>
                    </a:lnTo>
                    <a:lnTo>
                      <a:pt x="0" y="109727"/>
                    </a:lnTo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139" name="Rectangle 138"/>
            <p:cNvSpPr/>
            <p:nvPr>
              <p:custDataLst>
                <p:tags r:id="rId8"/>
              </p:custDataLst>
            </p:nvPr>
          </p:nvSpPr>
          <p:spPr>
            <a:xfrm>
              <a:off x="4770120" y="1447800"/>
              <a:ext cx="2819400" cy="36576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6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Pandas &amp; NumPy</a:t>
              </a:r>
            </a:p>
          </p:txBody>
        </p:sp>
        <p:sp>
          <p:nvSpPr>
            <p:cNvPr id="140" name="Rectangle 139"/>
            <p:cNvSpPr/>
            <p:nvPr>
              <p:custDataLst>
                <p:tags r:id="rId9"/>
              </p:custDataLst>
            </p:nvPr>
          </p:nvSpPr>
          <p:spPr>
            <a:xfrm>
              <a:off x="4328160" y="1920240"/>
              <a:ext cx="3276600" cy="16764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Data cleaning, transformation, and aggregation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Efficient handling of large housing datasets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Supports feature engineering and data analysis </a:t>
              </a:r>
              <a:endParaRPr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141" name="New shape"/>
            <p:cNvSpPr/>
            <p:nvPr>
              <p:custDataLst>
                <p:tags r:id="rId10"/>
              </p:custDataLst>
            </p:nvPr>
          </p:nvSpPr>
          <p:spPr>
            <a:xfrm>
              <a:off x="7924800" y="1295400"/>
              <a:ext cx="3581400" cy="2438400"/>
            </a:xfrm>
            <a:custGeom>
              <a:avLst/>
              <a:gdLst/>
              <a:ahLst/>
              <a:cxnLst/>
              <a:rect l="l" t="t" r="r" b="b"/>
              <a:pathLst>
                <a:path w="3581400" h="2438400">
                  <a:moveTo>
                    <a:pt x="30480" y="0"/>
                  </a:moveTo>
                  <a:lnTo>
                    <a:pt x="3550920" y="0"/>
                  </a:lnTo>
                  <a:cubicBezTo>
                    <a:pt x="3567753" y="0"/>
                    <a:pt x="3581400" y="13646"/>
                    <a:pt x="3581400" y="30480"/>
                  </a:cubicBezTo>
                  <a:lnTo>
                    <a:pt x="3581400" y="2407920"/>
                  </a:lnTo>
                  <a:cubicBezTo>
                    <a:pt x="3581400" y="2424754"/>
                    <a:pt x="3567753" y="2438400"/>
                    <a:pt x="3550920" y="2438400"/>
                  </a:cubicBezTo>
                  <a:lnTo>
                    <a:pt x="30480" y="2438400"/>
                  </a:lnTo>
                  <a:cubicBezTo>
                    <a:pt x="13646" y="2438400"/>
                    <a:pt x="0" y="2424754"/>
                    <a:pt x="0" y="24079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2" name="New shape"/>
            <p:cNvSpPr/>
            <p:nvPr>
              <p:custDataLst>
                <p:tags r:id="rId11"/>
              </p:custDataLst>
            </p:nvPr>
          </p:nvSpPr>
          <p:spPr>
            <a:xfrm>
              <a:off x="8098210" y="1449347"/>
              <a:ext cx="322831" cy="362271"/>
            </a:xfrm>
            <a:custGeom>
              <a:avLst/>
              <a:gdLst/>
              <a:ahLst/>
              <a:cxnLst/>
              <a:rect l="l" t="t" r="r" b="b"/>
              <a:pathLst>
                <a:path w="322830" h="362270">
                  <a:moveTo>
                    <a:pt x="322724" y="80796"/>
                  </a:moveTo>
                  <a:cubicBezTo>
                    <a:pt x="322709" y="80704"/>
                    <a:pt x="322695" y="80613"/>
                    <a:pt x="322680" y="80522"/>
                  </a:cubicBezTo>
                  <a:cubicBezTo>
                    <a:pt x="322614" y="80105"/>
                    <a:pt x="322526" y="79688"/>
                    <a:pt x="322413" y="79278"/>
                  </a:cubicBezTo>
                  <a:cubicBezTo>
                    <a:pt x="322391" y="79209"/>
                    <a:pt x="322373" y="79135"/>
                    <a:pt x="322354" y="79066"/>
                  </a:cubicBezTo>
                  <a:cubicBezTo>
                    <a:pt x="322219" y="78609"/>
                    <a:pt x="322054" y="78162"/>
                    <a:pt x="321860" y="77720"/>
                  </a:cubicBezTo>
                  <a:cubicBezTo>
                    <a:pt x="321817" y="77632"/>
                    <a:pt x="321773" y="77544"/>
                    <a:pt x="321729" y="77457"/>
                  </a:cubicBezTo>
                  <a:cubicBezTo>
                    <a:pt x="321626" y="77237"/>
                    <a:pt x="321524" y="77018"/>
                    <a:pt x="321407" y="76802"/>
                  </a:cubicBezTo>
                  <a:cubicBezTo>
                    <a:pt x="321338" y="76681"/>
                    <a:pt x="321261" y="76571"/>
                    <a:pt x="321188" y="76454"/>
                  </a:cubicBezTo>
                  <a:cubicBezTo>
                    <a:pt x="321118" y="76337"/>
                    <a:pt x="321053" y="76228"/>
                    <a:pt x="320975" y="76110"/>
                  </a:cubicBezTo>
                  <a:cubicBezTo>
                    <a:pt x="320738" y="75745"/>
                    <a:pt x="320482" y="75394"/>
                    <a:pt x="320211" y="75064"/>
                  </a:cubicBezTo>
                  <a:cubicBezTo>
                    <a:pt x="320189" y="75039"/>
                    <a:pt x="320168" y="75006"/>
                    <a:pt x="320145" y="74980"/>
                  </a:cubicBezTo>
                  <a:cubicBezTo>
                    <a:pt x="319827" y="74604"/>
                    <a:pt x="319487" y="74260"/>
                    <a:pt x="319136" y="73934"/>
                  </a:cubicBezTo>
                  <a:cubicBezTo>
                    <a:pt x="319066" y="73872"/>
                    <a:pt x="318997" y="73814"/>
                    <a:pt x="318920" y="73755"/>
                  </a:cubicBezTo>
                  <a:cubicBezTo>
                    <a:pt x="318606" y="73477"/>
                    <a:pt x="318276" y="73225"/>
                    <a:pt x="317933" y="72987"/>
                  </a:cubicBezTo>
                  <a:cubicBezTo>
                    <a:pt x="317863" y="72939"/>
                    <a:pt x="317801" y="72892"/>
                    <a:pt x="317731" y="72844"/>
                  </a:cubicBezTo>
                  <a:cubicBezTo>
                    <a:pt x="317329" y="72577"/>
                    <a:pt x="316905" y="72339"/>
                    <a:pt x="316477" y="72127"/>
                  </a:cubicBezTo>
                  <a:cubicBezTo>
                    <a:pt x="316448" y="72116"/>
                    <a:pt x="316422" y="72094"/>
                    <a:pt x="316400" y="72080"/>
                  </a:cubicBezTo>
                  <a:lnTo>
                    <a:pt x="241353" y="36038"/>
                  </a:lnTo>
                  <a:lnTo>
                    <a:pt x="166321" y="0"/>
                  </a:lnTo>
                  <a:cubicBezTo>
                    <a:pt x="163220" y="-1488"/>
                    <a:pt x="159613" y="-1488"/>
                    <a:pt x="156508" y="0"/>
                  </a:cubicBezTo>
                  <a:lnTo>
                    <a:pt x="81465" y="36041"/>
                  </a:lnTo>
                  <a:lnTo>
                    <a:pt x="6422" y="72080"/>
                  </a:lnTo>
                  <a:cubicBezTo>
                    <a:pt x="6397" y="72091"/>
                    <a:pt x="6371" y="72109"/>
                    <a:pt x="6346" y="72124"/>
                  </a:cubicBezTo>
                  <a:cubicBezTo>
                    <a:pt x="5910" y="72339"/>
                    <a:pt x="5489" y="72577"/>
                    <a:pt x="5084" y="72844"/>
                  </a:cubicBezTo>
                  <a:cubicBezTo>
                    <a:pt x="5014" y="72888"/>
                    <a:pt x="4952" y="72936"/>
                    <a:pt x="4882" y="72983"/>
                  </a:cubicBezTo>
                  <a:cubicBezTo>
                    <a:pt x="4542" y="73217"/>
                    <a:pt x="4213" y="73473"/>
                    <a:pt x="3895" y="73751"/>
                  </a:cubicBezTo>
                  <a:cubicBezTo>
                    <a:pt x="3822" y="73814"/>
                    <a:pt x="3748" y="73872"/>
                    <a:pt x="3679" y="73934"/>
                  </a:cubicBezTo>
                  <a:cubicBezTo>
                    <a:pt x="3328" y="74256"/>
                    <a:pt x="2988" y="74600"/>
                    <a:pt x="2673" y="74973"/>
                  </a:cubicBezTo>
                  <a:cubicBezTo>
                    <a:pt x="2644" y="75010"/>
                    <a:pt x="2618" y="75046"/>
                    <a:pt x="2589" y="75083"/>
                  </a:cubicBezTo>
                  <a:cubicBezTo>
                    <a:pt x="2326" y="75405"/>
                    <a:pt x="2077" y="75748"/>
                    <a:pt x="1843" y="76100"/>
                  </a:cubicBezTo>
                  <a:cubicBezTo>
                    <a:pt x="1777" y="76224"/>
                    <a:pt x="1704" y="76341"/>
                    <a:pt x="1630" y="76462"/>
                  </a:cubicBezTo>
                  <a:cubicBezTo>
                    <a:pt x="1561" y="76575"/>
                    <a:pt x="1484" y="76685"/>
                    <a:pt x="1419" y="76802"/>
                  </a:cubicBezTo>
                  <a:cubicBezTo>
                    <a:pt x="1302" y="77014"/>
                    <a:pt x="1206" y="77226"/>
                    <a:pt x="1107" y="77442"/>
                  </a:cubicBezTo>
                  <a:cubicBezTo>
                    <a:pt x="1060" y="77537"/>
                    <a:pt x="1009" y="77628"/>
                    <a:pt x="965" y="77727"/>
                  </a:cubicBezTo>
                  <a:cubicBezTo>
                    <a:pt x="771" y="78166"/>
                    <a:pt x="606" y="78612"/>
                    <a:pt x="475" y="79062"/>
                  </a:cubicBezTo>
                  <a:cubicBezTo>
                    <a:pt x="453" y="79139"/>
                    <a:pt x="434" y="79219"/>
                    <a:pt x="413" y="79300"/>
                  </a:cubicBezTo>
                  <a:cubicBezTo>
                    <a:pt x="303" y="79702"/>
                    <a:pt x="211" y="80108"/>
                    <a:pt x="149" y="80514"/>
                  </a:cubicBezTo>
                  <a:cubicBezTo>
                    <a:pt x="134" y="80613"/>
                    <a:pt x="117" y="80708"/>
                    <a:pt x="102" y="80807"/>
                  </a:cubicBezTo>
                  <a:cubicBezTo>
                    <a:pt x="36" y="81297"/>
                    <a:pt x="0" y="81787"/>
                    <a:pt x="0" y="82274"/>
                  </a:cubicBezTo>
                  <a:cubicBezTo>
                    <a:pt x="0" y="82281"/>
                    <a:pt x="0" y="82292"/>
                    <a:pt x="0" y="82299"/>
                  </a:cubicBezTo>
                  <a:lnTo>
                    <a:pt x="0" y="174628"/>
                  </a:lnTo>
                  <a:lnTo>
                    <a:pt x="0" y="175008"/>
                  </a:lnTo>
                  <a:lnTo>
                    <a:pt x="0" y="267334"/>
                  </a:lnTo>
                  <a:cubicBezTo>
                    <a:pt x="0" y="271452"/>
                    <a:pt x="2234" y="275249"/>
                    <a:pt x="5837" y="277246"/>
                  </a:cubicBezTo>
                  <a:lnTo>
                    <a:pt x="78726" y="317666"/>
                  </a:lnTo>
                  <a:cubicBezTo>
                    <a:pt x="79377" y="318262"/>
                    <a:pt x="80090" y="318800"/>
                    <a:pt x="80880" y="319242"/>
                  </a:cubicBezTo>
                  <a:lnTo>
                    <a:pt x="155919" y="360847"/>
                  </a:lnTo>
                  <a:cubicBezTo>
                    <a:pt x="155923" y="360851"/>
                    <a:pt x="155926" y="360855"/>
                    <a:pt x="155933" y="360855"/>
                  </a:cubicBezTo>
                  <a:cubicBezTo>
                    <a:pt x="156333" y="361081"/>
                    <a:pt x="156750" y="361272"/>
                    <a:pt x="157174" y="361444"/>
                  </a:cubicBezTo>
                  <a:cubicBezTo>
                    <a:pt x="157246" y="361473"/>
                    <a:pt x="157316" y="361498"/>
                    <a:pt x="157389" y="361520"/>
                  </a:cubicBezTo>
                  <a:cubicBezTo>
                    <a:pt x="157726" y="361648"/>
                    <a:pt x="158077" y="361758"/>
                    <a:pt x="158432" y="361864"/>
                  </a:cubicBezTo>
                  <a:cubicBezTo>
                    <a:pt x="158542" y="361893"/>
                    <a:pt x="158659" y="361923"/>
                    <a:pt x="158768" y="361948"/>
                  </a:cubicBezTo>
                  <a:cubicBezTo>
                    <a:pt x="159094" y="362025"/>
                    <a:pt x="159423" y="362087"/>
                    <a:pt x="159760" y="362138"/>
                  </a:cubicBezTo>
                  <a:cubicBezTo>
                    <a:pt x="159870" y="362153"/>
                    <a:pt x="159983" y="362175"/>
                    <a:pt x="160093" y="362190"/>
                  </a:cubicBezTo>
                  <a:cubicBezTo>
                    <a:pt x="160528" y="362241"/>
                    <a:pt x="160963" y="362270"/>
                    <a:pt x="161409" y="362270"/>
                  </a:cubicBezTo>
                  <a:cubicBezTo>
                    <a:pt x="161856" y="362270"/>
                    <a:pt x="162294" y="362237"/>
                    <a:pt x="162726" y="362190"/>
                  </a:cubicBezTo>
                  <a:cubicBezTo>
                    <a:pt x="162839" y="362175"/>
                    <a:pt x="162949" y="362153"/>
                    <a:pt x="163062" y="362138"/>
                  </a:cubicBezTo>
                  <a:cubicBezTo>
                    <a:pt x="163399" y="362087"/>
                    <a:pt x="163732" y="362029"/>
                    <a:pt x="164054" y="361948"/>
                  </a:cubicBezTo>
                  <a:cubicBezTo>
                    <a:pt x="164163" y="361919"/>
                    <a:pt x="164280" y="361890"/>
                    <a:pt x="164390" y="361864"/>
                  </a:cubicBezTo>
                  <a:cubicBezTo>
                    <a:pt x="164748" y="361762"/>
                    <a:pt x="165093" y="361648"/>
                    <a:pt x="165436" y="361520"/>
                  </a:cubicBezTo>
                  <a:cubicBezTo>
                    <a:pt x="165506" y="361495"/>
                    <a:pt x="165579" y="361469"/>
                    <a:pt x="165652" y="361444"/>
                  </a:cubicBezTo>
                  <a:cubicBezTo>
                    <a:pt x="166072" y="361272"/>
                    <a:pt x="166489" y="361078"/>
                    <a:pt x="166889" y="360855"/>
                  </a:cubicBezTo>
                  <a:cubicBezTo>
                    <a:pt x="166896" y="360855"/>
                    <a:pt x="166899" y="360851"/>
                    <a:pt x="166906" y="360847"/>
                  </a:cubicBezTo>
                  <a:lnTo>
                    <a:pt x="241950" y="319239"/>
                  </a:lnTo>
                  <a:cubicBezTo>
                    <a:pt x="242744" y="318796"/>
                    <a:pt x="243453" y="318258"/>
                    <a:pt x="244100" y="317662"/>
                  </a:cubicBezTo>
                  <a:lnTo>
                    <a:pt x="316993" y="277242"/>
                  </a:lnTo>
                  <a:cubicBezTo>
                    <a:pt x="320592" y="275245"/>
                    <a:pt x="322830" y="271448"/>
                    <a:pt x="322830" y="267330"/>
                  </a:cubicBezTo>
                  <a:lnTo>
                    <a:pt x="322830" y="175008"/>
                  </a:lnTo>
                  <a:lnTo>
                    <a:pt x="322830" y="174628"/>
                  </a:lnTo>
                  <a:lnTo>
                    <a:pt x="322830" y="82295"/>
                  </a:lnTo>
                  <a:cubicBezTo>
                    <a:pt x="322830" y="82292"/>
                    <a:pt x="322830" y="82285"/>
                    <a:pt x="322830" y="82277"/>
                  </a:cubicBezTo>
                  <a:cubicBezTo>
                    <a:pt x="322830" y="81783"/>
                    <a:pt x="322786" y="81290"/>
                    <a:pt x="322724" y="80796"/>
                  </a:cubicBezTo>
                  <a:close/>
                  <a:moveTo>
                    <a:pt x="22662" y="101538"/>
                  </a:moveTo>
                  <a:lnTo>
                    <a:pt x="75038" y="130583"/>
                  </a:lnTo>
                  <a:lnTo>
                    <a:pt x="75038" y="197378"/>
                  </a:lnTo>
                  <a:lnTo>
                    <a:pt x="22662" y="168333"/>
                  </a:lnTo>
                  <a:lnTo>
                    <a:pt x="22662" y="101538"/>
                  </a:lnTo>
                  <a:close/>
                  <a:moveTo>
                    <a:pt x="86370" y="58825"/>
                  </a:moveTo>
                  <a:lnTo>
                    <a:pt x="136742" y="83020"/>
                  </a:lnTo>
                  <a:lnTo>
                    <a:pt x="86370" y="110953"/>
                  </a:lnTo>
                  <a:lnTo>
                    <a:pt x="35997" y="83020"/>
                  </a:lnTo>
                  <a:lnTo>
                    <a:pt x="86370" y="58825"/>
                  </a:lnTo>
                  <a:close/>
                  <a:moveTo>
                    <a:pt x="236456" y="58825"/>
                  </a:moveTo>
                  <a:lnTo>
                    <a:pt x="286829" y="83020"/>
                  </a:lnTo>
                  <a:lnTo>
                    <a:pt x="236456" y="110953"/>
                  </a:lnTo>
                  <a:lnTo>
                    <a:pt x="186083" y="83020"/>
                  </a:lnTo>
                  <a:lnTo>
                    <a:pt x="236456" y="58825"/>
                  </a:lnTo>
                  <a:close/>
                  <a:moveTo>
                    <a:pt x="161413" y="245274"/>
                  </a:moveTo>
                  <a:lnTo>
                    <a:pt x="109735" y="216617"/>
                  </a:lnTo>
                  <a:lnTo>
                    <a:pt x="161413" y="187960"/>
                  </a:lnTo>
                  <a:lnTo>
                    <a:pt x="213087" y="216617"/>
                  </a:lnTo>
                  <a:lnTo>
                    <a:pt x="161413" y="245274"/>
                  </a:lnTo>
                  <a:close/>
                  <a:moveTo>
                    <a:pt x="225125" y="197378"/>
                  </a:moveTo>
                  <a:lnTo>
                    <a:pt x="172748" y="168333"/>
                  </a:lnTo>
                  <a:lnTo>
                    <a:pt x="172748" y="101538"/>
                  </a:lnTo>
                  <a:lnTo>
                    <a:pt x="225125" y="130583"/>
                  </a:lnTo>
                  <a:lnTo>
                    <a:pt x="225125" y="197378"/>
                  </a:lnTo>
                  <a:close/>
                  <a:moveTo>
                    <a:pt x="150082" y="168330"/>
                  </a:moveTo>
                  <a:lnTo>
                    <a:pt x="97701" y="197374"/>
                  </a:lnTo>
                  <a:lnTo>
                    <a:pt x="97701" y="130583"/>
                  </a:lnTo>
                  <a:lnTo>
                    <a:pt x="150082" y="101538"/>
                  </a:lnTo>
                  <a:lnTo>
                    <a:pt x="150082" y="168330"/>
                  </a:lnTo>
                  <a:close/>
                  <a:moveTo>
                    <a:pt x="97704" y="235856"/>
                  </a:moveTo>
                  <a:lnTo>
                    <a:pt x="150085" y="264905"/>
                  </a:lnTo>
                  <a:lnTo>
                    <a:pt x="150085" y="331696"/>
                  </a:lnTo>
                  <a:lnTo>
                    <a:pt x="97704" y="302655"/>
                  </a:lnTo>
                  <a:lnTo>
                    <a:pt x="97704" y="235856"/>
                  </a:lnTo>
                  <a:close/>
                  <a:moveTo>
                    <a:pt x="172748" y="264905"/>
                  </a:moveTo>
                  <a:lnTo>
                    <a:pt x="225125" y="235860"/>
                  </a:lnTo>
                  <a:lnTo>
                    <a:pt x="225125" y="302655"/>
                  </a:lnTo>
                  <a:lnTo>
                    <a:pt x="172748" y="331696"/>
                  </a:lnTo>
                  <a:lnTo>
                    <a:pt x="172748" y="264905"/>
                  </a:lnTo>
                  <a:close/>
                  <a:moveTo>
                    <a:pt x="247787" y="197378"/>
                  </a:moveTo>
                  <a:lnTo>
                    <a:pt x="247787" y="130583"/>
                  </a:lnTo>
                  <a:lnTo>
                    <a:pt x="300167" y="101538"/>
                  </a:lnTo>
                  <a:lnTo>
                    <a:pt x="300167" y="168333"/>
                  </a:lnTo>
                  <a:lnTo>
                    <a:pt x="247787" y="197378"/>
                  </a:lnTo>
                  <a:close/>
                  <a:moveTo>
                    <a:pt x="161413" y="22783"/>
                  </a:moveTo>
                  <a:lnTo>
                    <a:pt x="210282" y="46253"/>
                  </a:lnTo>
                  <a:lnTo>
                    <a:pt x="161413" y="69724"/>
                  </a:lnTo>
                  <a:lnTo>
                    <a:pt x="112544" y="46253"/>
                  </a:lnTo>
                  <a:lnTo>
                    <a:pt x="161413" y="22783"/>
                  </a:lnTo>
                  <a:close/>
                  <a:moveTo>
                    <a:pt x="22662" y="194244"/>
                  </a:moveTo>
                  <a:lnTo>
                    <a:pt x="75038" y="223289"/>
                  </a:lnTo>
                  <a:lnTo>
                    <a:pt x="75038" y="289707"/>
                  </a:lnTo>
                  <a:lnTo>
                    <a:pt x="22662" y="260662"/>
                  </a:lnTo>
                  <a:lnTo>
                    <a:pt x="22662" y="194244"/>
                  </a:lnTo>
                  <a:close/>
                  <a:moveTo>
                    <a:pt x="247787" y="289711"/>
                  </a:moveTo>
                  <a:lnTo>
                    <a:pt x="247787" y="223292"/>
                  </a:lnTo>
                  <a:lnTo>
                    <a:pt x="300167" y="194247"/>
                  </a:lnTo>
                  <a:lnTo>
                    <a:pt x="300167" y="260666"/>
                  </a:lnTo>
                  <a:lnTo>
                    <a:pt x="247787" y="289711"/>
                  </a:ln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3" name="Rectangle 142"/>
            <p:cNvSpPr/>
            <p:nvPr>
              <p:custDataLst>
                <p:tags r:id="rId12"/>
              </p:custDataLst>
            </p:nvPr>
          </p:nvSpPr>
          <p:spPr>
            <a:xfrm>
              <a:off x="8519160" y="1447800"/>
              <a:ext cx="2819400" cy="36576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6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MySQL</a:t>
              </a:r>
            </a:p>
          </p:txBody>
        </p:sp>
        <p:sp>
          <p:nvSpPr>
            <p:cNvPr id="144" name="Rectangle 143"/>
            <p:cNvSpPr/>
            <p:nvPr>
              <p:custDataLst>
                <p:tags r:id="rId13"/>
              </p:custDataLst>
            </p:nvPr>
          </p:nvSpPr>
          <p:spPr>
            <a:xfrm>
              <a:off x="8077200" y="1920240"/>
              <a:ext cx="3276600" cy="16764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Structured storage for cleaned housing data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Enables efficient querying of property datasets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Supports analysis across developers and locations </a:t>
              </a:r>
              <a:endParaRPr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156" name="New shape"/>
            <p:cNvSpPr/>
            <p:nvPr>
              <p:custDataLst>
                <p:tags r:id="rId14"/>
              </p:custDataLst>
            </p:nvPr>
          </p:nvSpPr>
          <p:spPr>
            <a:xfrm>
              <a:off x="1828800" y="3895344"/>
              <a:ext cx="3581400" cy="2438400"/>
            </a:xfrm>
            <a:custGeom>
              <a:avLst/>
              <a:gdLst/>
              <a:ahLst/>
              <a:cxnLst/>
              <a:rect l="l" t="t" r="r" b="b"/>
              <a:pathLst>
                <a:path w="3581398" h="2438400">
                  <a:moveTo>
                    <a:pt x="30479" y="0"/>
                  </a:moveTo>
                  <a:lnTo>
                    <a:pt x="3550920" y="0"/>
                  </a:lnTo>
                  <a:cubicBezTo>
                    <a:pt x="3567754" y="0"/>
                    <a:pt x="3581399" y="13646"/>
                    <a:pt x="3581399" y="30479"/>
                  </a:cubicBezTo>
                  <a:lnTo>
                    <a:pt x="3581399" y="2407920"/>
                  </a:lnTo>
                  <a:cubicBezTo>
                    <a:pt x="3581399" y="2424754"/>
                    <a:pt x="3567754" y="2438400"/>
                    <a:pt x="3550920" y="2438400"/>
                  </a:cubicBezTo>
                  <a:lnTo>
                    <a:pt x="30479" y="2438400"/>
                  </a:lnTo>
                  <a:cubicBezTo>
                    <a:pt x="13646" y="2438400"/>
                    <a:pt x="0" y="2424754"/>
                    <a:pt x="0" y="2407920"/>
                  </a:cubicBezTo>
                  <a:lnTo>
                    <a:pt x="0" y="30479"/>
                  </a:lnTo>
                  <a:cubicBezTo>
                    <a:pt x="0" y="13646"/>
                    <a:pt x="13646" y="0"/>
                    <a:pt x="30479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157" name="Group 156"/>
            <p:cNvGrpSpPr/>
            <p:nvPr>
              <p:custDataLst>
                <p:tags r:id="rId15"/>
              </p:custDataLst>
            </p:nvPr>
          </p:nvGrpSpPr>
          <p:grpSpPr>
            <a:xfrm>
              <a:off x="1981484" y="4061089"/>
              <a:ext cx="364389" cy="340114"/>
              <a:chOff x="3693444" y="3416945"/>
              <a:chExt cx="364389" cy="340114"/>
            </a:xfrm>
          </p:grpSpPr>
          <p:sp>
            <p:nvSpPr>
              <p:cNvPr id="158" name="New shape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01574" y="3436548"/>
                <a:ext cx="336655" cy="312126"/>
              </a:xfrm>
              <a:custGeom>
                <a:avLst/>
                <a:gdLst/>
                <a:ahLst/>
                <a:cxnLst/>
                <a:rect l="l" t="t" r="r" b="b"/>
                <a:pathLst>
                  <a:path w="336655" h="312125">
                    <a:moveTo>
                      <a:pt x="333085" y="312125"/>
                    </a:moveTo>
                    <a:lnTo>
                      <a:pt x="3571" y="312125"/>
                    </a:lnTo>
                    <a:cubicBezTo>
                      <a:pt x="1600" y="312125"/>
                      <a:pt x="0" y="310525"/>
                      <a:pt x="0" y="308553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lnTo>
                      <a:pt x="28103" y="0"/>
                    </a:lnTo>
                    <a:cubicBezTo>
                      <a:pt x="30075" y="0"/>
                      <a:pt x="31675" y="1600"/>
                      <a:pt x="31675" y="3571"/>
                    </a:cubicBezTo>
                    <a:lnTo>
                      <a:pt x="31675" y="280434"/>
                    </a:lnTo>
                    <a:lnTo>
                      <a:pt x="333083" y="280434"/>
                    </a:lnTo>
                    <a:cubicBezTo>
                      <a:pt x="335055" y="280434"/>
                      <a:pt x="336655" y="282033"/>
                      <a:pt x="336655" y="284005"/>
                    </a:cubicBezTo>
                    <a:lnTo>
                      <a:pt x="336655" y="308537"/>
                    </a:lnTo>
                    <a:cubicBezTo>
                      <a:pt x="336655" y="310508"/>
                      <a:pt x="335055" y="312109"/>
                      <a:pt x="333083" y="312109"/>
                    </a:cubicBezTo>
                    <a:close/>
                    <a:moveTo>
                      <a:pt x="7145" y="304981"/>
                    </a:moveTo>
                    <a:lnTo>
                      <a:pt x="329515" y="304981"/>
                    </a:lnTo>
                    <a:lnTo>
                      <a:pt x="329515" y="287579"/>
                    </a:lnTo>
                    <a:lnTo>
                      <a:pt x="28107" y="287579"/>
                    </a:lnTo>
                    <a:cubicBezTo>
                      <a:pt x="26135" y="287579"/>
                      <a:pt x="24535" y="285979"/>
                      <a:pt x="24535" y="284007"/>
                    </a:cubicBezTo>
                    <a:lnTo>
                      <a:pt x="24535" y="7145"/>
                    </a:lnTo>
                    <a:lnTo>
                      <a:pt x="7133" y="7145"/>
                    </a:lnTo>
                    <a:lnTo>
                      <a:pt x="7133" y="304984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59" name="New shape"/>
              <p:cNvSpPr/>
              <p:nvPr>
                <p:custDataLst>
                  <p:tags r:id="rId40"/>
                </p:custDataLst>
              </p:nvPr>
            </p:nvSpPr>
            <p:spPr>
              <a:xfrm>
                <a:off x="3745394" y="3585540"/>
                <a:ext cx="31918" cy="138602"/>
              </a:xfrm>
              <a:custGeom>
                <a:avLst/>
                <a:gdLst/>
                <a:ahLst/>
                <a:cxnLst/>
                <a:rect l="l" t="t" r="r" b="b"/>
                <a:pathLst>
                  <a:path w="31918" h="138601">
                    <a:moveTo>
                      <a:pt x="28346" y="138601"/>
                    </a:moveTo>
                    <a:lnTo>
                      <a:pt x="3571" y="138601"/>
                    </a:lnTo>
                    <a:cubicBezTo>
                      <a:pt x="1600" y="138601"/>
                      <a:pt x="0" y="137001"/>
                      <a:pt x="0" y="135029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lnTo>
                      <a:pt x="28346" y="0"/>
                    </a:lnTo>
                    <a:cubicBezTo>
                      <a:pt x="30317" y="0"/>
                      <a:pt x="31918" y="1600"/>
                      <a:pt x="31918" y="3571"/>
                    </a:cubicBezTo>
                    <a:lnTo>
                      <a:pt x="31918" y="135029"/>
                    </a:lnTo>
                    <a:cubicBezTo>
                      <a:pt x="31918" y="137001"/>
                      <a:pt x="30317" y="138601"/>
                      <a:pt x="28346" y="138601"/>
                    </a:cubicBezTo>
                    <a:close/>
                    <a:moveTo>
                      <a:pt x="7143" y="131457"/>
                    </a:moveTo>
                    <a:lnTo>
                      <a:pt x="24774" y="131457"/>
                    </a:lnTo>
                    <a:lnTo>
                      <a:pt x="24774" y="7143"/>
                    </a:lnTo>
                    <a:lnTo>
                      <a:pt x="7143" y="7143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0" name="New shape"/>
              <p:cNvSpPr/>
              <p:nvPr>
                <p:custDataLst>
                  <p:tags r:id="rId41"/>
                </p:custDataLst>
              </p:nvPr>
            </p:nvSpPr>
            <p:spPr>
              <a:xfrm>
                <a:off x="3793715" y="3602482"/>
                <a:ext cx="31918" cy="121660"/>
              </a:xfrm>
              <a:custGeom>
                <a:avLst/>
                <a:gdLst/>
                <a:ahLst/>
                <a:cxnLst/>
                <a:rect l="l" t="t" r="r" b="b"/>
                <a:pathLst>
                  <a:path w="31918" h="121658">
                    <a:moveTo>
                      <a:pt x="28346" y="121659"/>
                    </a:moveTo>
                    <a:lnTo>
                      <a:pt x="3571" y="121659"/>
                    </a:lnTo>
                    <a:cubicBezTo>
                      <a:pt x="1600" y="121659"/>
                      <a:pt x="0" y="120059"/>
                      <a:pt x="0" y="118087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lnTo>
                      <a:pt x="28346" y="0"/>
                    </a:lnTo>
                    <a:cubicBezTo>
                      <a:pt x="30317" y="0"/>
                      <a:pt x="31918" y="1600"/>
                      <a:pt x="31918" y="3571"/>
                    </a:cubicBezTo>
                    <a:lnTo>
                      <a:pt x="31918" y="118087"/>
                    </a:lnTo>
                    <a:cubicBezTo>
                      <a:pt x="31918" y="120059"/>
                      <a:pt x="30317" y="121659"/>
                      <a:pt x="28346" y="121659"/>
                    </a:cubicBezTo>
                    <a:close/>
                    <a:moveTo>
                      <a:pt x="7143" y="114515"/>
                    </a:moveTo>
                    <a:lnTo>
                      <a:pt x="24774" y="114515"/>
                    </a:lnTo>
                    <a:lnTo>
                      <a:pt x="24774" y="7146"/>
                    </a:lnTo>
                    <a:lnTo>
                      <a:pt x="7143" y="7146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1" name="New shape"/>
              <p:cNvSpPr/>
              <p:nvPr>
                <p:custDataLst>
                  <p:tags r:id="rId42"/>
                </p:custDataLst>
              </p:nvPr>
            </p:nvSpPr>
            <p:spPr>
              <a:xfrm>
                <a:off x="3842050" y="3586711"/>
                <a:ext cx="31918" cy="137431"/>
              </a:xfrm>
              <a:custGeom>
                <a:avLst/>
                <a:gdLst/>
                <a:ahLst/>
                <a:cxnLst/>
                <a:rect l="l" t="t" r="r" b="b"/>
                <a:pathLst>
                  <a:path w="31918" h="137431">
                    <a:moveTo>
                      <a:pt x="28346" y="137431"/>
                    </a:moveTo>
                    <a:lnTo>
                      <a:pt x="3571" y="137431"/>
                    </a:lnTo>
                    <a:cubicBezTo>
                      <a:pt x="1600" y="137431"/>
                      <a:pt x="0" y="135830"/>
                      <a:pt x="0" y="133859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lnTo>
                      <a:pt x="28346" y="0"/>
                    </a:lnTo>
                    <a:cubicBezTo>
                      <a:pt x="30317" y="0"/>
                      <a:pt x="31918" y="1600"/>
                      <a:pt x="31918" y="3571"/>
                    </a:cubicBezTo>
                    <a:lnTo>
                      <a:pt x="31918" y="133859"/>
                    </a:lnTo>
                    <a:cubicBezTo>
                      <a:pt x="31918" y="135830"/>
                      <a:pt x="30317" y="137431"/>
                      <a:pt x="28346" y="137431"/>
                    </a:cubicBezTo>
                    <a:close/>
                    <a:moveTo>
                      <a:pt x="7143" y="130287"/>
                    </a:moveTo>
                    <a:lnTo>
                      <a:pt x="24774" y="130287"/>
                    </a:lnTo>
                    <a:lnTo>
                      <a:pt x="24774" y="7143"/>
                    </a:lnTo>
                    <a:lnTo>
                      <a:pt x="7143" y="7143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2" name="New shape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90385" y="3597226"/>
                <a:ext cx="31918" cy="126916"/>
              </a:xfrm>
              <a:custGeom>
                <a:avLst/>
                <a:gdLst/>
                <a:ahLst/>
                <a:cxnLst/>
                <a:rect l="l" t="t" r="r" b="b"/>
                <a:pathLst>
                  <a:path w="31918" h="126915">
                    <a:moveTo>
                      <a:pt x="28346" y="126915"/>
                    </a:moveTo>
                    <a:lnTo>
                      <a:pt x="3571" y="126915"/>
                    </a:lnTo>
                    <a:cubicBezTo>
                      <a:pt x="1600" y="126915"/>
                      <a:pt x="0" y="125315"/>
                      <a:pt x="0" y="123343"/>
                    </a:cubicBezTo>
                    <a:lnTo>
                      <a:pt x="0" y="3571"/>
                    </a:lnTo>
                    <a:cubicBezTo>
                      <a:pt x="0" y="1599"/>
                      <a:pt x="1600" y="0"/>
                      <a:pt x="3571" y="0"/>
                    </a:cubicBezTo>
                    <a:lnTo>
                      <a:pt x="28346" y="0"/>
                    </a:lnTo>
                    <a:cubicBezTo>
                      <a:pt x="30317" y="0"/>
                      <a:pt x="31918" y="1599"/>
                      <a:pt x="31918" y="3571"/>
                    </a:cubicBezTo>
                    <a:lnTo>
                      <a:pt x="31918" y="123343"/>
                    </a:lnTo>
                    <a:cubicBezTo>
                      <a:pt x="31918" y="125315"/>
                      <a:pt x="30317" y="126915"/>
                      <a:pt x="28346" y="126915"/>
                    </a:cubicBezTo>
                    <a:close/>
                    <a:moveTo>
                      <a:pt x="7143" y="119771"/>
                    </a:moveTo>
                    <a:lnTo>
                      <a:pt x="24774" y="119771"/>
                    </a:lnTo>
                    <a:lnTo>
                      <a:pt x="24774" y="7143"/>
                    </a:lnTo>
                    <a:lnTo>
                      <a:pt x="7143" y="7143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3" name="New shape"/>
              <p:cNvSpPr/>
              <p:nvPr>
                <p:custDataLst>
                  <p:tags r:id="rId44"/>
                </p:custDataLst>
              </p:nvPr>
            </p:nvSpPr>
            <p:spPr>
              <a:xfrm>
                <a:off x="3938706" y="3568009"/>
                <a:ext cx="31918" cy="156133"/>
              </a:xfrm>
              <a:custGeom>
                <a:avLst/>
                <a:gdLst/>
                <a:ahLst/>
                <a:cxnLst/>
                <a:rect l="l" t="t" r="r" b="b"/>
                <a:pathLst>
                  <a:path w="31918" h="156132">
                    <a:moveTo>
                      <a:pt x="28346" y="156132"/>
                    </a:moveTo>
                    <a:lnTo>
                      <a:pt x="3571" y="156132"/>
                    </a:lnTo>
                    <a:cubicBezTo>
                      <a:pt x="1600" y="156132"/>
                      <a:pt x="0" y="154532"/>
                      <a:pt x="0" y="152560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lnTo>
                      <a:pt x="28346" y="0"/>
                    </a:lnTo>
                    <a:cubicBezTo>
                      <a:pt x="30318" y="0"/>
                      <a:pt x="31918" y="1600"/>
                      <a:pt x="31918" y="3571"/>
                    </a:cubicBezTo>
                    <a:lnTo>
                      <a:pt x="31918" y="152560"/>
                    </a:lnTo>
                    <a:cubicBezTo>
                      <a:pt x="31918" y="154532"/>
                      <a:pt x="30317" y="156132"/>
                      <a:pt x="28346" y="156132"/>
                    </a:cubicBezTo>
                    <a:close/>
                    <a:moveTo>
                      <a:pt x="7143" y="148988"/>
                    </a:moveTo>
                    <a:lnTo>
                      <a:pt x="24774" y="148988"/>
                    </a:lnTo>
                    <a:lnTo>
                      <a:pt x="24774" y="7143"/>
                    </a:lnTo>
                    <a:lnTo>
                      <a:pt x="7143" y="7143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4" name="New shape"/>
              <p:cNvSpPr/>
              <p:nvPr>
                <p:custDataLst>
                  <p:tags r:id="rId45"/>
                </p:custDataLst>
              </p:nvPr>
            </p:nvSpPr>
            <p:spPr>
              <a:xfrm>
                <a:off x="3987041" y="3558078"/>
                <a:ext cx="31918" cy="166063"/>
              </a:xfrm>
              <a:custGeom>
                <a:avLst/>
                <a:gdLst/>
                <a:ahLst/>
                <a:cxnLst/>
                <a:rect l="l" t="t" r="r" b="b"/>
                <a:pathLst>
                  <a:path w="31918" h="166063">
                    <a:moveTo>
                      <a:pt x="28346" y="166063"/>
                    </a:moveTo>
                    <a:lnTo>
                      <a:pt x="3571" y="166063"/>
                    </a:lnTo>
                    <a:cubicBezTo>
                      <a:pt x="1600" y="166063"/>
                      <a:pt x="0" y="164462"/>
                      <a:pt x="0" y="162491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lnTo>
                      <a:pt x="28346" y="0"/>
                    </a:lnTo>
                    <a:cubicBezTo>
                      <a:pt x="30317" y="0"/>
                      <a:pt x="31918" y="1600"/>
                      <a:pt x="31918" y="3571"/>
                    </a:cubicBezTo>
                    <a:lnTo>
                      <a:pt x="31918" y="162491"/>
                    </a:lnTo>
                    <a:cubicBezTo>
                      <a:pt x="31918" y="164462"/>
                      <a:pt x="30317" y="166063"/>
                      <a:pt x="28346" y="166063"/>
                    </a:cubicBezTo>
                    <a:close/>
                    <a:moveTo>
                      <a:pt x="7143" y="158919"/>
                    </a:moveTo>
                    <a:lnTo>
                      <a:pt x="24774" y="158919"/>
                    </a:lnTo>
                    <a:lnTo>
                      <a:pt x="24774" y="7143"/>
                    </a:lnTo>
                    <a:lnTo>
                      <a:pt x="7143" y="7143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5" name="New shape"/>
              <p:cNvSpPr/>
              <p:nvPr>
                <p:custDataLst>
                  <p:tags r:id="rId46"/>
                </p:custDataLst>
              </p:nvPr>
            </p:nvSpPr>
            <p:spPr>
              <a:xfrm>
                <a:off x="3768085" y="3526489"/>
                <a:ext cx="244173" cy="57936"/>
              </a:xfrm>
              <a:custGeom>
                <a:avLst/>
                <a:gdLst/>
                <a:ahLst/>
                <a:cxnLst/>
                <a:rect l="l" t="t" r="r" b="b"/>
                <a:pathLst>
                  <a:path w="244173" h="57936">
                    <a:moveTo>
                      <a:pt x="130402" y="57936"/>
                    </a:moveTo>
                    <a:cubicBezTo>
                      <a:pt x="129930" y="57936"/>
                      <a:pt x="129459" y="57849"/>
                      <a:pt x="129002" y="57649"/>
                    </a:cubicBezTo>
                    <a:lnTo>
                      <a:pt x="94812" y="43148"/>
                    </a:lnTo>
                    <a:cubicBezTo>
                      <a:pt x="92997" y="42376"/>
                      <a:pt x="92154" y="40276"/>
                      <a:pt x="92926" y="38462"/>
                    </a:cubicBezTo>
                    <a:cubicBezTo>
                      <a:pt x="93697" y="36647"/>
                      <a:pt x="95798" y="35804"/>
                      <a:pt x="97612" y="36576"/>
                    </a:cubicBezTo>
                    <a:lnTo>
                      <a:pt x="131802" y="51077"/>
                    </a:lnTo>
                    <a:cubicBezTo>
                      <a:pt x="133617" y="51849"/>
                      <a:pt x="134460" y="53949"/>
                      <a:pt x="133688" y="55764"/>
                    </a:cubicBezTo>
                    <a:cubicBezTo>
                      <a:pt x="133116" y="57121"/>
                      <a:pt x="131788" y="57936"/>
                      <a:pt x="130402" y="57936"/>
                    </a:cubicBezTo>
                    <a:close/>
                    <a:moveTo>
                      <a:pt x="47564" y="57207"/>
                    </a:moveTo>
                    <a:cubicBezTo>
                      <a:pt x="46150" y="57207"/>
                      <a:pt x="44807" y="56364"/>
                      <a:pt x="44250" y="54964"/>
                    </a:cubicBezTo>
                    <a:cubicBezTo>
                      <a:pt x="43521" y="53135"/>
                      <a:pt x="44407" y="51049"/>
                      <a:pt x="46236" y="50320"/>
                    </a:cubicBezTo>
                    <a:lnTo>
                      <a:pt x="80955" y="36390"/>
                    </a:lnTo>
                    <a:cubicBezTo>
                      <a:pt x="82783" y="35661"/>
                      <a:pt x="84869" y="36547"/>
                      <a:pt x="85598" y="38376"/>
                    </a:cubicBezTo>
                    <a:cubicBezTo>
                      <a:pt x="86326" y="40205"/>
                      <a:pt x="85441" y="42291"/>
                      <a:pt x="83612" y="43019"/>
                    </a:cubicBezTo>
                    <a:lnTo>
                      <a:pt x="48893" y="56950"/>
                    </a:lnTo>
                    <a:cubicBezTo>
                      <a:pt x="48465" y="57121"/>
                      <a:pt x="48007" y="57207"/>
                      <a:pt x="47564" y="57207"/>
                    </a:cubicBezTo>
                    <a:close/>
                    <a:moveTo>
                      <a:pt x="144176" y="56492"/>
                    </a:moveTo>
                    <a:cubicBezTo>
                      <a:pt x="143019" y="56492"/>
                      <a:pt x="141876" y="55935"/>
                      <a:pt x="141191" y="54892"/>
                    </a:cubicBezTo>
                    <a:cubicBezTo>
                      <a:pt x="140105" y="53249"/>
                      <a:pt x="140562" y="51034"/>
                      <a:pt x="142205" y="49948"/>
                    </a:cubicBezTo>
                    <a:lnTo>
                      <a:pt x="175123" y="28217"/>
                    </a:lnTo>
                    <a:cubicBezTo>
                      <a:pt x="176766" y="27132"/>
                      <a:pt x="178981" y="27589"/>
                      <a:pt x="180067" y="29232"/>
                    </a:cubicBezTo>
                    <a:cubicBezTo>
                      <a:pt x="181153" y="30875"/>
                      <a:pt x="180695" y="33089"/>
                      <a:pt x="179053" y="34175"/>
                    </a:cubicBezTo>
                    <a:lnTo>
                      <a:pt x="146134" y="55907"/>
                    </a:lnTo>
                    <a:cubicBezTo>
                      <a:pt x="145534" y="56307"/>
                      <a:pt x="144848" y="56492"/>
                      <a:pt x="144176" y="56492"/>
                    </a:cubicBezTo>
                    <a:close/>
                    <a:moveTo>
                      <a:pt x="33618" y="55992"/>
                    </a:moveTo>
                    <a:cubicBezTo>
                      <a:pt x="33004" y="55992"/>
                      <a:pt x="32375" y="55835"/>
                      <a:pt x="31804" y="55492"/>
                    </a:cubicBezTo>
                    <a:lnTo>
                      <a:pt x="1257" y="37461"/>
                    </a:lnTo>
                    <a:cubicBezTo>
                      <a:pt x="-442" y="36461"/>
                      <a:pt x="-999" y="34275"/>
                      <a:pt x="0" y="32575"/>
                    </a:cubicBezTo>
                    <a:cubicBezTo>
                      <a:pt x="1000" y="30875"/>
                      <a:pt x="3186" y="30318"/>
                      <a:pt x="4886" y="31318"/>
                    </a:cubicBezTo>
                    <a:lnTo>
                      <a:pt x="35433" y="49349"/>
                    </a:lnTo>
                    <a:cubicBezTo>
                      <a:pt x="37133" y="50349"/>
                      <a:pt x="37690" y="52535"/>
                      <a:pt x="36690" y="54235"/>
                    </a:cubicBezTo>
                    <a:cubicBezTo>
                      <a:pt x="36018" y="55364"/>
                      <a:pt x="34833" y="55992"/>
                      <a:pt x="33618" y="55992"/>
                    </a:cubicBezTo>
                    <a:close/>
                    <a:moveTo>
                      <a:pt x="189608" y="28103"/>
                    </a:moveTo>
                    <a:cubicBezTo>
                      <a:pt x="188207" y="28103"/>
                      <a:pt x="186879" y="27275"/>
                      <a:pt x="186307" y="25903"/>
                    </a:cubicBezTo>
                    <a:cubicBezTo>
                      <a:pt x="185550" y="24074"/>
                      <a:pt x="186421" y="21988"/>
                      <a:pt x="188236" y="21231"/>
                    </a:cubicBezTo>
                    <a:lnTo>
                      <a:pt x="239501" y="0"/>
                    </a:lnTo>
                    <a:cubicBezTo>
                      <a:pt x="241330" y="-756"/>
                      <a:pt x="243416" y="114"/>
                      <a:pt x="244173" y="1928"/>
                    </a:cubicBezTo>
                    <a:cubicBezTo>
                      <a:pt x="244930" y="3757"/>
                      <a:pt x="244058" y="5843"/>
                      <a:pt x="242244" y="6600"/>
                    </a:cubicBezTo>
                    <a:lnTo>
                      <a:pt x="190979" y="27832"/>
                    </a:lnTo>
                    <a:cubicBezTo>
                      <a:pt x="190536" y="28017"/>
                      <a:pt x="190065" y="28103"/>
                      <a:pt x="189607" y="2810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6" name="New shape"/>
              <p:cNvSpPr/>
              <p:nvPr>
                <p:custDataLst>
                  <p:tags r:id="rId47"/>
                </p:custDataLst>
              </p:nvPr>
            </p:nvSpPr>
            <p:spPr>
              <a:xfrm>
                <a:off x="3754338" y="3546591"/>
                <a:ext cx="21374" cy="21374"/>
              </a:xfrm>
              <a:custGeom>
                <a:avLst/>
                <a:gdLst/>
                <a:ahLst/>
                <a:cxnLst/>
                <a:rect l="l" t="t" r="r" b="b"/>
                <a:pathLst>
                  <a:path w="21374" h="21374">
                    <a:moveTo>
                      <a:pt x="10686" y="21374"/>
                    </a:moveTo>
                    <a:cubicBezTo>
                      <a:pt x="4786" y="21374"/>
                      <a:pt x="0" y="16573"/>
                      <a:pt x="0" y="10687"/>
                    </a:cubicBezTo>
                    <a:cubicBezTo>
                      <a:pt x="0" y="4786"/>
                      <a:pt x="4800" y="0"/>
                      <a:pt x="10686" y="0"/>
                    </a:cubicBezTo>
                    <a:cubicBezTo>
                      <a:pt x="16587" y="0"/>
                      <a:pt x="21374" y="4800"/>
                      <a:pt x="21374" y="10687"/>
                    </a:cubicBezTo>
                    <a:cubicBezTo>
                      <a:pt x="21374" y="16588"/>
                      <a:pt x="16573" y="21374"/>
                      <a:pt x="10686" y="21374"/>
                    </a:cubicBezTo>
                    <a:close/>
                    <a:moveTo>
                      <a:pt x="10686" y="7129"/>
                    </a:moveTo>
                    <a:cubicBezTo>
                      <a:pt x="8729" y="7129"/>
                      <a:pt x="7143" y="8715"/>
                      <a:pt x="7143" y="10672"/>
                    </a:cubicBezTo>
                    <a:cubicBezTo>
                      <a:pt x="7143" y="12630"/>
                      <a:pt x="8729" y="14216"/>
                      <a:pt x="10686" y="14216"/>
                    </a:cubicBezTo>
                    <a:cubicBezTo>
                      <a:pt x="12644" y="14216"/>
                      <a:pt x="14230" y="12630"/>
                      <a:pt x="14230" y="10672"/>
                    </a:cubicBezTo>
                    <a:cubicBezTo>
                      <a:pt x="14230" y="8715"/>
                      <a:pt x="12644" y="7129"/>
                      <a:pt x="10686" y="712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7" name="New shape"/>
              <p:cNvSpPr/>
              <p:nvPr>
                <p:custDataLst>
                  <p:tags r:id="rId48"/>
                </p:custDataLst>
              </p:nvPr>
            </p:nvSpPr>
            <p:spPr>
              <a:xfrm>
                <a:off x="3797874" y="3570179"/>
                <a:ext cx="21374" cy="21374"/>
              </a:xfrm>
              <a:custGeom>
                <a:avLst/>
                <a:gdLst/>
                <a:ahLst/>
                <a:cxnLst/>
                <a:rect l="l" t="t" r="r" b="b"/>
                <a:pathLst>
                  <a:path w="21374" h="21374">
                    <a:moveTo>
                      <a:pt x="10686" y="21374"/>
                    </a:moveTo>
                    <a:cubicBezTo>
                      <a:pt x="4786" y="21374"/>
                      <a:pt x="0" y="16573"/>
                      <a:pt x="0" y="10686"/>
                    </a:cubicBezTo>
                    <a:cubicBezTo>
                      <a:pt x="0" y="4786"/>
                      <a:pt x="4800" y="0"/>
                      <a:pt x="10686" y="0"/>
                    </a:cubicBezTo>
                    <a:cubicBezTo>
                      <a:pt x="16587" y="0"/>
                      <a:pt x="21374" y="4800"/>
                      <a:pt x="21374" y="10686"/>
                    </a:cubicBezTo>
                    <a:cubicBezTo>
                      <a:pt x="21374" y="16587"/>
                      <a:pt x="16573" y="21374"/>
                      <a:pt x="10686" y="21374"/>
                    </a:cubicBezTo>
                    <a:close/>
                    <a:moveTo>
                      <a:pt x="10686" y="7129"/>
                    </a:moveTo>
                    <a:cubicBezTo>
                      <a:pt x="8729" y="7129"/>
                      <a:pt x="7143" y="8715"/>
                      <a:pt x="7143" y="10672"/>
                    </a:cubicBezTo>
                    <a:cubicBezTo>
                      <a:pt x="7143" y="12630"/>
                      <a:pt x="8729" y="14216"/>
                      <a:pt x="10686" y="14216"/>
                    </a:cubicBezTo>
                    <a:cubicBezTo>
                      <a:pt x="12644" y="14216"/>
                      <a:pt x="14230" y="12630"/>
                      <a:pt x="14230" y="10672"/>
                    </a:cubicBezTo>
                    <a:cubicBezTo>
                      <a:pt x="14230" y="8715"/>
                      <a:pt x="12644" y="7129"/>
                      <a:pt x="10686" y="712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8" name="New shape"/>
              <p:cNvSpPr/>
              <p:nvPr>
                <p:custDataLst>
                  <p:tags r:id="rId49"/>
                </p:custDataLst>
              </p:nvPr>
            </p:nvSpPr>
            <p:spPr>
              <a:xfrm>
                <a:off x="3846652" y="3554104"/>
                <a:ext cx="21374" cy="21374"/>
              </a:xfrm>
              <a:custGeom>
                <a:avLst/>
                <a:gdLst/>
                <a:ahLst/>
                <a:cxnLst/>
                <a:rect l="l" t="t" r="r" b="b"/>
                <a:pathLst>
                  <a:path w="21374" h="21374">
                    <a:moveTo>
                      <a:pt x="10686" y="21374"/>
                    </a:moveTo>
                    <a:cubicBezTo>
                      <a:pt x="4786" y="21374"/>
                      <a:pt x="0" y="16573"/>
                      <a:pt x="0" y="10687"/>
                    </a:cubicBezTo>
                    <a:cubicBezTo>
                      <a:pt x="0" y="4786"/>
                      <a:pt x="4800" y="0"/>
                      <a:pt x="10686" y="0"/>
                    </a:cubicBezTo>
                    <a:cubicBezTo>
                      <a:pt x="16587" y="0"/>
                      <a:pt x="21374" y="4800"/>
                      <a:pt x="21374" y="10687"/>
                    </a:cubicBezTo>
                    <a:cubicBezTo>
                      <a:pt x="21374" y="16588"/>
                      <a:pt x="16573" y="21374"/>
                      <a:pt x="10686" y="21374"/>
                    </a:cubicBezTo>
                    <a:close/>
                    <a:moveTo>
                      <a:pt x="10686" y="7129"/>
                    </a:moveTo>
                    <a:cubicBezTo>
                      <a:pt x="8729" y="7129"/>
                      <a:pt x="7143" y="8715"/>
                      <a:pt x="7143" y="10672"/>
                    </a:cubicBezTo>
                    <a:cubicBezTo>
                      <a:pt x="7143" y="12630"/>
                      <a:pt x="8729" y="14216"/>
                      <a:pt x="10686" y="14216"/>
                    </a:cubicBezTo>
                    <a:cubicBezTo>
                      <a:pt x="12644" y="14216"/>
                      <a:pt x="14230" y="12630"/>
                      <a:pt x="14230" y="10672"/>
                    </a:cubicBezTo>
                    <a:cubicBezTo>
                      <a:pt x="14230" y="8715"/>
                      <a:pt x="12644" y="7129"/>
                      <a:pt x="10686" y="712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9" name="New shape"/>
              <p:cNvSpPr/>
              <p:nvPr>
                <p:custDataLst>
                  <p:tags r:id="rId50"/>
                </p:custDataLst>
              </p:nvPr>
            </p:nvSpPr>
            <p:spPr>
              <a:xfrm>
                <a:off x="3894855" y="3571122"/>
                <a:ext cx="21374" cy="21375"/>
              </a:xfrm>
              <a:custGeom>
                <a:avLst/>
                <a:gdLst/>
                <a:ahLst/>
                <a:cxnLst/>
                <a:rect l="l" t="t" r="r" b="b"/>
                <a:pathLst>
                  <a:path w="21374" h="21374">
                    <a:moveTo>
                      <a:pt x="10686" y="21374"/>
                    </a:moveTo>
                    <a:cubicBezTo>
                      <a:pt x="4786" y="21374"/>
                      <a:pt x="0" y="16573"/>
                      <a:pt x="0" y="10687"/>
                    </a:cubicBezTo>
                    <a:cubicBezTo>
                      <a:pt x="0" y="4786"/>
                      <a:pt x="4800" y="0"/>
                      <a:pt x="10686" y="0"/>
                    </a:cubicBezTo>
                    <a:cubicBezTo>
                      <a:pt x="16587" y="0"/>
                      <a:pt x="21374" y="4800"/>
                      <a:pt x="21374" y="10687"/>
                    </a:cubicBezTo>
                    <a:cubicBezTo>
                      <a:pt x="21374" y="16588"/>
                      <a:pt x="16573" y="21374"/>
                      <a:pt x="10686" y="21374"/>
                    </a:cubicBezTo>
                    <a:close/>
                    <a:moveTo>
                      <a:pt x="10686" y="7129"/>
                    </a:moveTo>
                    <a:cubicBezTo>
                      <a:pt x="8729" y="7129"/>
                      <a:pt x="7143" y="8715"/>
                      <a:pt x="7143" y="10673"/>
                    </a:cubicBezTo>
                    <a:cubicBezTo>
                      <a:pt x="7143" y="12630"/>
                      <a:pt x="8729" y="14216"/>
                      <a:pt x="10686" y="14216"/>
                    </a:cubicBezTo>
                    <a:cubicBezTo>
                      <a:pt x="12644" y="14216"/>
                      <a:pt x="14230" y="12630"/>
                      <a:pt x="14230" y="10673"/>
                    </a:cubicBezTo>
                    <a:cubicBezTo>
                      <a:pt x="14230" y="8715"/>
                      <a:pt x="12644" y="7129"/>
                      <a:pt x="10686" y="712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0" name="New shape"/>
              <p:cNvSpPr/>
              <p:nvPr>
                <p:custDataLst>
                  <p:tags r:id="rId51"/>
                </p:custDataLst>
              </p:nvPr>
            </p:nvSpPr>
            <p:spPr>
              <a:xfrm>
                <a:off x="3940432" y="3543076"/>
                <a:ext cx="21374" cy="21374"/>
              </a:xfrm>
              <a:custGeom>
                <a:avLst/>
                <a:gdLst/>
                <a:ahLst/>
                <a:cxnLst/>
                <a:rect l="l" t="t" r="r" b="b"/>
                <a:pathLst>
                  <a:path w="21374" h="21374">
                    <a:moveTo>
                      <a:pt x="10687" y="21374"/>
                    </a:moveTo>
                    <a:cubicBezTo>
                      <a:pt x="4786" y="21374"/>
                      <a:pt x="0" y="16573"/>
                      <a:pt x="0" y="10687"/>
                    </a:cubicBezTo>
                    <a:cubicBezTo>
                      <a:pt x="0" y="4786"/>
                      <a:pt x="4800" y="0"/>
                      <a:pt x="10687" y="0"/>
                    </a:cubicBezTo>
                    <a:cubicBezTo>
                      <a:pt x="16588" y="0"/>
                      <a:pt x="21374" y="4800"/>
                      <a:pt x="21374" y="10687"/>
                    </a:cubicBezTo>
                    <a:cubicBezTo>
                      <a:pt x="21374" y="16588"/>
                      <a:pt x="16573" y="21374"/>
                      <a:pt x="10687" y="21374"/>
                    </a:cubicBezTo>
                    <a:close/>
                    <a:moveTo>
                      <a:pt x="10687" y="7129"/>
                    </a:moveTo>
                    <a:cubicBezTo>
                      <a:pt x="8729" y="7129"/>
                      <a:pt x="7144" y="8715"/>
                      <a:pt x="7144" y="10672"/>
                    </a:cubicBezTo>
                    <a:cubicBezTo>
                      <a:pt x="7144" y="12630"/>
                      <a:pt x="8729" y="14216"/>
                      <a:pt x="10687" y="14216"/>
                    </a:cubicBezTo>
                    <a:cubicBezTo>
                      <a:pt x="12644" y="14216"/>
                      <a:pt x="14230" y="12630"/>
                      <a:pt x="14230" y="10672"/>
                    </a:cubicBezTo>
                    <a:cubicBezTo>
                      <a:pt x="14230" y="8715"/>
                      <a:pt x="12644" y="7129"/>
                      <a:pt x="10687" y="712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1" name="New shape"/>
              <p:cNvSpPr/>
              <p:nvPr>
                <p:custDataLst>
                  <p:tags r:id="rId52"/>
                </p:custDataLst>
              </p:nvPr>
            </p:nvSpPr>
            <p:spPr>
              <a:xfrm>
                <a:off x="3986209" y="3523487"/>
                <a:ext cx="26003" cy="26146"/>
              </a:xfrm>
              <a:custGeom>
                <a:avLst/>
                <a:gdLst/>
                <a:ahLst/>
                <a:cxnLst/>
                <a:rect l="l" t="t" r="r" b="b"/>
                <a:pathLst>
                  <a:path w="26002" h="26145">
                    <a:moveTo>
                      <a:pt x="12144" y="26146"/>
                    </a:moveTo>
                    <a:cubicBezTo>
                      <a:pt x="11472" y="26146"/>
                      <a:pt x="10801" y="25960"/>
                      <a:pt x="10201" y="25560"/>
                    </a:cubicBezTo>
                    <a:cubicBezTo>
                      <a:pt x="8544" y="24489"/>
                      <a:pt x="8086" y="22274"/>
                      <a:pt x="9158" y="20616"/>
                    </a:cubicBezTo>
                    <a:lnTo>
                      <a:pt x="16702" y="9044"/>
                    </a:lnTo>
                    <a:lnTo>
                      <a:pt x="3028" y="7072"/>
                    </a:lnTo>
                    <a:cubicBezTo>
                      <a:pt x="1071" y="6786"/>
                      <a:pt x="-271" y="4986"/>
                      <a:pt x="0" y="3028"/>
                    </a:cubicBezTo>
                    <a:cubicBezTo>
                      <a:pt x="285" y="1071"/>
                      <a:pt x="2085" y="-285"/>
                      <a:pt x="4043" y="0"/>
                    </a:cubicBezTo>
                    <a:lnTo>
                      <a:pt x="23260" y="2771"/>
                    </a:lnTo>
                    <a:cubicBezTo>
                      <a:pt x="24460" y="2943"/>
                      <a:pt x="25503" y="3729"/>
                      <a:pt x="26003" y="4829"/>
                    </a:cubicBezTo>
                    <a:cubicBezTo>
                      <a:pt x="26503" y="5943"/>
                      <a:pt x="26403" y="7229"/>
                      <a:pt x="25746" y="8258"/>
                    </a:cubicBezTo>
                    <a:lnTo>
                      <a:pt x="15144" y="24517"/>
                    </a:lnTo>
                    <a:cubicBezTo>
                      <a:pt x="14459" y="25560"/>
                      <a:pt x="13316" y="26131"/>
                      <a:pt x="12144" y="26131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2" name="New shape"/>
              <p:cNvSpPr/>
              <p:nvPr>
                <p:custDataLst>
                  <p:tags r:id="rId53"/>
                </p:custDataLst>
              </p:nvPr>
            </p:nvSpPr>
            <p:spPr>
              <a:xfrm>
                <a:off x="3701404" y="3449119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3" name="New shape"/>
              <p:cNvSpPr/>
              <p:nvPr>
                <p:custDataLst>
                  <p:tags r:id="rId54"/>
                </p:custDataLst>
              </p:nvPr>
            </p:nvSpPr>
            <p:spPr>
              <a:xfrm>
                <a:off x="3701404" y="3469108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4" name="New shape"/>
              <p:cNvSpPr/>
              <p:nvPr>
                <p:custDataLst>
                  <p:tags r:id="rId55"/>
                </p:custDataLst>
              </p:nvPr>
            </p:nvSpPr>
            <p:spPr>
              <a:xfrm>
                <a:off x="3701404" y="3489096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5" name="New shape"/>
              <p:cNvSpPr/>
              <p:nvPr>
                <p:custDataLst>
                  <p:tags r:id="rId56"/>
                </p:custDataLst>
              </p:nvPr>
            </p:nvSpPr>
            <p:spPr>
              <a:xfrm>
                <a:off x="3701404" y="3509085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" name="New shape"/>
              <p:cNvSpPr/>
              <p:nvPr>
                <p:custDataLst>
                  <p:tags r:id="rId57"/>
                </p:custDataLst>
              </p:nvPr>
            </p:nvSpPr>
            <p:spPr>
              <a:xfrm>
                <a:off x="3701404" y="3529074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599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599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7" name="New shape"/>
              <p:cNvSpPr/>
              <p:nvPr>
                <p:custDataLst>
                  <p:tags r:id="rId58"/>
                </p:custDataLst>
              </p:nvPr>
            </p:nvSpPr>
            <p:spPr>
              <a:xfrm>
                <a:off x="3701404" y="3549062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8" name="New shape"/>
              <p:cNvSpPr/>
              <p:nvPr>
                <p:custDataLst>
                  <p:tags r:id="rId59"/>
                </p:custDataLst>
              </p:nvPr>
            </p:nvSpPr>
            <p:spPr>
              <a:xfrm>
                <a:off x="3701404" y="3569051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9" name="New shape"/>
              <p:cNvSpPr/>
              <p:nvPr>
                <p:custDataLst>
                  <p:tags r:id="rId60"/>
                </p:custDataLst>
              </p:nvPr>
            </p:nvSpPr>
            <p:spPr>
              <a:xfrm>
                <a:off x="3701404" y="3589037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0" name="New shape"/>
              <p:cNvSpPr/>
              <p:nvPr>
                <p:custDataLst>
                  <p:tags r:id="rId61"/>
                </p:custDataLst>
              </p:nvPr>
            </p:nvSpPr>
            <p:spPr>
              <a:xfrm>
                <a:off x="3701404" y="3609025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1" name="New shape"/>
              <p:cNvSpPr/>
              <p:nvPr>
                <p:custDataLst>
                  <p:tags r:id="rId62"/>
                </p:custDataLst>
              </p:nvPr>
            </p:nvSpPr>
            <p:spPr>
              <a:xfrm>
                <a:off x="3701404" y="3629014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2" name="New shape"/>
              <p:cNvSpPr/>
              <p:nvPr>
                <p:custDataLst>
                  <p:tags r:id="rId63"/>
                </p:custDataLst>
              </p:nvPr>
            </p:nvSpPr>
            <p:spPr>
              <a:xfrm>
                <a:off x="3701404" y="3649018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3" name="New shape"/>
              <p:cNvSpPr/>
              <p:nvPr>
                <p:custDataLst>
                  <p:tags r:id="rId64"/>
                </p:custDataLst>
              </p:nvPr>
            </p:nvSpPr>
            <p:spPr>
              <a:xfrm>
                <a:off x="3701404" y="3669006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4" name="New shape"/>
              <p:cNvSpPr/>
              <p:nvPr>
                <p:custDataLst>
                  <p:tags r:id="rId65"/>
                </p:custDataLst>
              </p:nvPr>
            </p:nvSpPr>
            <p:spPr>
              <a:xfrm>
                <a:off x="3701404" y="3688991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5" name="New shape"/>
              <p:cNvSpPr/>
              <p:nvPr>
                <p:custDataLst>
                  <p:tags r:id="rId66"/>
                </p:custDataLst>
              </p:nvPr>
            </p:nvSpPr>
            <p:spPr>
              <a:xfrm>
                <a:off x="3701404" y="3708980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600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600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6" name="New shape"/>
              <p:cNvSpPr/>
              <p:nvPr>
                <p:custDataLst>
                  <p:tags r:id="rId67"/>
                </p:custDataLst>
              </p:nvPr>
            </p:nvSpPr>
            <p:spPr>
              <a:xfrm>
                <a:off x="3701404" y="3728969"/>
                <a:ext cx="18017" cy="7144"/>
              </a:xfrm>
              <a:custGeom>
                <a:avLst/>
                <a:gdLst/>
                <a:ahLst/>
                <a:cxnLst/>
                <a:rect l="l" t="t" r="r" b="b"/>
                <a:pathLst>
                  <a:path w="18016" h="7143">
                    <a:moveTo>
                      <a:pt x="14444" y="7143"/>
                    </a:moveTo>
                    <a:lnTo>
                      <a:pt x="3571" y="7143"/>
                    </a:lnTo>
                    <a:cubicBezTo>
                      <a:pt x="1600" y="7143"/>
                      <a:pt x="0" y="5543"/>
                      <a:pt x="0" y="3571"/>
                    </a:cubicBezTo>
                    <a:cubicBezTo>
                      <a:pt x="0" y="1599"/>
                      <a:pt x="1600" y="0"/>
                      <a:pt x="3571" y="0"/>
                    </a:cubicBezTo>
                    <a:lnTo>
                      <a:pt x="14444" y="0"/>
                    </a:lnTo>
                    <a:cubicBezTo>
                      <a:pt x="16416" y="0"/>
                      <a:pt x="18016" y="1599"/>
                      <a:pt x="18016" y="3571"/>
                    </a:cubicBezTo>
                    <a:cubicBezTo>
                      <a:pt x="18016" y="5543"/>
                      <a:pt x="16416" y="7143"/>
                      <a:pt x="14444" y="714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7" name="New shape"/>
              <p:cNvSpPr/>
              <p:nvPr>
                <p:custDataLst>
                  <p:tags r:id="rId68"/>
                </p:custDataLst>
              </p:nvPr>
            </p:nvSpPr>
            <p:spPr>
              <a:xfrm>
                <a:off x="3726405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8" name="New shape"/>
              <p:cNvSpPr/>
              <p:nvPr>
                <p:custDataLst>
                  <p:tags r:id="rId69"/>
                </p:custDataLst>
              </p:nvPr>
            </p:nvSpPr>
            <p:spPr>
              <a:xfrm>
                <a:off x="3746395" y="3730656"/>
                <a:ext cx="7143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599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599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9" name="New shape"/>
              <p:cNvSpPr/>
              <p:nvPr>
                <p:custDataLst>
                  <p:tags r:id="rId70"/>
                </p:custDataLst>
              </p:nvPr>
            </p:nvSpPr>
            <p:spPr>
              <a:xfrm>
                <a:off x="3766383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599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599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0" name="New shape"/>
              <p:cNvSpPr/>
              <p:nvPr>
                <p:custDataLst>
                  <p:tags r:id="rId71"/>
                </p:custDataLst>
              </p:nvPr>
            </p:nvSpPr>
            <p:spPr>
              <a:xfrm>
                <a:off x="3786372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1" name="New shape"/>
              <p:cNvSpPr/>
              <p:nvPr>
                <p:custDataLst>
                  <p:tags r:id="rId72"/>
                </p:custDataLst>
              </p:nvPr>
            </p:nvSpPr>
            <p:spPr>
              <a:xfrm>
                <a:off x="3806361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2" name="New shape"/>
              <p:cNvSpPr/>
              <p:nvPr>
                <p:custDataLst>
                  <p:tags r:id="rId73"/>
                </p:custDataLst>
              </p:nvPr>
            </p:nvSpPr>
            <p:spPr>
              <a:xfrm>
                <a:off x="3826349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3" name="New shape"/>
              <p:cNvSpPr/>
              <p:nvPr>
                <p:custDataLst>
                  <p:tags r:id="rId74"/>
                </p:custDataLst>
              </p:nvPr>
            </p:nvSpPr>
            <p:spPr>
              <a:xfrm>
                <a:off x="3846349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4" name="New shape"/>
              <p:cNvSpPr/>
              <p:nvPr>
                <p:custDataLst>
                  <p:tags r:id="rId75"/>
                </p:custDataLst>
              </p:nvPr>
            </p:nvSpPr>
            <p:spPr>
              <a:xfrm>
                <a:off x="3866338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5" name="New shape"/>
              <p:cNvSpPr/>
              <p:nvPr>
                <p:custDataLst>
                  <p:tags r:id="rId76"/>
                </p:custDataLst>
              </p:nvPr>
            </p:nvSpPr>
            <p:spPr>
              <a:xfrm>
                <a:off x="3886327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6" name="New shape"/>
              <p:cNvSpPr/>
              <p:nvPr>
                <p:custDataLst>
                  <p:tags r:id="rId77"/>
                </p:custDataLst>
              </p:nvPr>
            </p:nvSpPr>
            <p:spPr>
              <a:xfrm>
                <a:off x="3906316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599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599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7" name="New shape"/>
              <p:cNvSpPr/>
              <p:nvPr>
                <p:custDataLst>
                  <p:tags r:id="rId78"/>
                </p:custDataLst>
              </p:nvPr>
            </p:nvSpPr>
            <p:spPr>
              <a:xfrm>
                <a:off x="3926305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599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599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8" name="New shape"/>
              <p:cNvSpPr/>
              <p:nvPr>
                <p:custDataLst>
                  <p:tags r:id="rId79"/>
                </p:custDataLst>
              </p:nvPr>
            </p:nvSpPr>
            <p:spPr>
              <a:xfrm>
                <a:off x="3946293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9" name="New shape"/>
              <p:cNvSpPr/>
              <p:nvPr>
                <p:custDataLst>
                  <p:tags r:id="rId80"/>
                </p:custDataLst>
              </p:nvPr>
            </p:nvSpPr>
            <p:spPr>
              <a:xfrm>
                <a:off x="3966278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599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599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0" name="New shape"/>
              <p:cNvSpPr/>
              <p:nvPr>
                <p:custDataLst>
                  <p:tags r:id="rId81"/>
                </p:custDataLst>
              </p:nvPr>
            </p:nvSpPr>
            <p:spPr>
              <a:xfrm>
                <a:off x="3986267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1" name="New shape"/>
              <p:cNvSpPr/>
              <p:nvPr>
                <p:custDataLst>
                  <p:tags r:id="rId82"/>
                </p:custDataLst>
              </p:nvPr>
            </p:nvSpPr>
            <p:spPr>
              <a:xfrm>
                <a:off x="4006256" y="3730656"/>
                <a:ext cx="7144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7143" h="18016">
                    <a:moveTo>
                      <a:pt x="3571" y="18016"/>
                    </a:moveTo>
                    <a:cubicBezTo>
                      <a:pt x="1600" y="18016"/>
                      <a:pt x="0" y="16416"/>
                      <a:pt x="0" y="14444"/>
                    </a:cubicBezTo>
                    <a:lnTo>
                      <a:pt x="0" y="3571"/>
                    </a:lnTo>
                    <a:cubicBezTo>
                      <a:pt x="0" y="1600"/>
                      <a:pt x="1600" y="0"/>
                      <a:pt x="3571" y="0"/>
                    </a:cubicBezTo>
                    <a:cubicBezTo>
                      <a:pt x="5543" y="0"/>
                      <a:pt x="7143" y="1600"/>
                      <a:pt x="7143" y="3571"/>
                    </a:cubicBezTo>
                    <a:lnTo>
                      <a:pt x="7143" y="14444"/>
                    </a:lnTo>
                    <a:cubicBezTo>
                      <a:pt x="7143" y="16416"/>
                      <a:pt x="5543" y="18016"/>
                      <a:pt x="3571" y="18016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2" name="New shape"/>
              <p:cNvSpPr/>
              <p:nvPr>
                <p:custDataLst>
                  <p:tags r:id="rId83"/>
                </p:custDataLst>
              </p:nvPr>
            </p:nvSpPr>
            <p:spPr>
              <a:xfrm>
                <a:off x="3693444" y="3416945"/>
                <a:ext cx="48206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48205" h="26760">
                    <a:moveTo>
                      <a:pt x="44634" y="26746"/>
                    </a:moveTo>
                    <a:lnTo>
                      <a:pt x="44620" y="26746"/>
                    </a:lnTo>
                    <a:lnTo>
                      <a:pt x="3300" y="26746"/>
                    </a:lnTo>
                    <a:cubicBezTo>
                      <a:pt x="1857" y="26746"/>
                      <a:pt x="557" y="25874"/>
                      <a:pt x="0" y="24545"/>
                    </a:cubicBezTo>
                    <a:cubicBezTo>
                      <a:pt x="-556" y="23217"/>
                      <a:pt x="-242" y="21673"/>
                      <a:pt x="771" y="20659"/>
                    </a:cubicBezTo>
                    <a:lnTo>
                      <a:pt x="21431" y="0"/>
                    </a:lnTo>
                    <a:cubicBezTo>
                      <a:pt x="22831" y="-1400"/>
                      <a:pt x="25088" y="-1400"/>
                      <a:pt x="26489" y="0"/>
                    </a:cubicBezTo>
                    <a:lnTo>
                      <a:pt x="47020" y="20531"/>
                    </a:lnTo>
                    <a:cubicBezTo>
                      <a:pt x="47749" y="21188"/>
                      <a:pt x="48205" y="22131"/>
                      <a:pt x="48205" y="23188"/>
                    </a:cubicBezTo>
                    <a:cubicBezTo>
                      <a:pt x="48205" y="25160"/>
                      <a:pt x="46605" y="26760"/>
                      <a:pt x="44634" y="26760"/>
                    </a:cubicBezTo>
                    <a:close/>
                    <a:moveTo>
                      <a:pt x="11930" y="19602"/>
                    </a:moveTo>
                    <a:lnTo>
                      <a:pt x="36005" y="19602"/>
                    </a:lnTo>
                    <a:lnTo>
                      <a:pt x="23974" y="7572"/>
                    </a:lnTo>
                    <a:lnTo>
                      <a:pt x="11944" y="19602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3" name="New shape"/>
              <p:cNvSpPr/>
              <p:nvPr>
                <p:custDataLst>
                  <p:tags r:id="rId84"/>
                </p:custDataLst>
              </p:nvPr>
            </p:nvSpPr>
            <p:spPr>
              <a:xfrm>
                <a:off x="4031087" y="3708867"/>
                <a:ext cx="26746" cy="48192"/>
              </a:xfrm>
              <a:custGeom>
                <a:avLst/>
                <a:gdLst/>
                <a:ahLst/>
                <a:cxnLst/>
                <a:rect l="l" t="t" r="r" b="b"/>
                <a:pathLst>
                  <a:path w="26746" h="48192">
                    <a:moveTo>
                      <a:pt x="3571" y="48192"/>
                    </a:moveTo>
                    <a:cubicBezTo>
                      <a:pt x="3114" y="48192"/>
                      <a:pt x="2643" y="48106"/>
                      <a:pt x="2200" y="47920"/>
                    </a:cubicBezTo>
                    <a:cubicBezTo>
                      <a:pt x="871" y="47363"/>
                      <a:pt x="0" y="46063"/>
                      <a:pt x="0" y="44620"/>
                    </a:cubicBezTo>
                    <a:lnTo>
                      <a:pt x="0" y="3300"/>
                    </a:lnTo>
                    <a:cubicBezTo>
                      <a:pt x="0" y="1857"/>
                      <a:pt x="871" y="557"/>
                      <a:pt x="2200" y="0"/>
                    </a:cubicBezTo>
                    <a:cubicBezTo>
                      <a:pt x="3528" y="-557"/>
                      <a:pt x="5072" y="-243"/>
                      <a:pt x="6086" y="771"/>
                    </a:cubicBezTo>
                    <a:lnTo>
                      <a:pt x="26746" y="21431"/>
                    </a:lnTo>
                    <a:cubicBezTo>
                      <a:pt x="28146" y="22831"/>
                      <a:pt x="28146" y="25088"/>
                      <a:pt x="26746" y="26488"/>
                    </a:cubicBezTo>
                    <a:lnTo>
                      <a:pt x="6086" y="47148"/>
                    </a:lnTo>
                    <a:cubicBezTo>
                      <a:pt x="5400" y="47834"/>
                      <a:pt x="4486" y="48191"/>
                      <a:pt x="3557" y="48191"/>
                    </a:cubicBezTo>
                    <a:close/>
                    <a:moveTo>
                      <a:pt x="7143" y="11930"/>
                    </a:moveTo>
                    <a:lnTo>
                      <a:pt x="7143" y="36004"/>
                    </a:lnTo>
                    <a:lnTo>
                      <a:pt x="19174" y="23974"/>
                    </a:lnTo>
                    <a:lnTo>
                      <a:pt x="7143" y="11944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204" name="Rectangle 203"/>
            <p:cNvSpPr/>
            <p:nvPr>
              <p:custDataLst>
                <p:tags r:id="rId16"/>
              </p:custDataLst>
            </p:nvPr>
          </p:nvSpPr>
          <p:spPr>
            <a:xfrm>
              <a:off x="2423160" y="4047744"/>
              <a:ext cx="2819400" cy="36576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b="1" dirty="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Power BI</a:t>
              </a:r>
              <a:endParaRPr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205" name="Rectangle 204"/>
            <p:cNvSpPr/>
            <p:nvPr>
              <p:custDataLst>
                <p:tags r:id="rId17"/>
              </p:custDataLst>
            </p:nvPr>
          </p:nvSpPr>
          <p:spPr>
            <a:xfrm>
              <a:off x="1981200" y="4520184"/>
              <a:ext cx="3276600" cy="16764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Creates interactive dashboards and visualizations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Supports filters, slicers, and KPI metrics  </a:t>
              </a:r>
            </a:p>
            <a:p>
              <a:pPr marL="127000" lvl="1" indent="-127000">
                <a:buChar char="•"/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Enables dynamic analysis of housing market trends </a:t>
              </a:r>
              <a:endParaRPr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206" name="New shape"/>
            <p:cNvSpPr/>
            <p:nvPr>
              <p:custDataLst>
                <p:tags r:id="rId18"/>
              </p:custDataLst>
            </p:nvPr>
          </p:nvSpPr>
          <p:spPr>
            <a:xfrm>
              <a:off x="6356282" y="3895344"/>
              <a:ext cx="3581400" cy="2438400"/>
            </a:xfrm>
            <a:custGeom>
              <a:avLst/>
              <a:gdLst/>
              <a:ahLst/>
              <a:cxnLst/>
              <a:rect l="l" t="t" r="r" b="b"/>
              <a:pathLst>
                <a:path w="3581400" h="2438400">
                  <a:moveTo>
                    <a:pt x="30480" y="0"/>
                  </a:moveTo>
                  <a:lnTo>
                    <a:pt x="3550920" y="0"/>
                  </a:lnTo>
                  <a:cubicBezTo>
                    <a:pt x="3567753" y="0"/>
                    <a:pt x="3581400" y="13646"/>
                    <a:pt x="3581400" y="30479"/>
                  </a:cubicBezTo>
                  <a:lnTo>
                    <a:pt x="3581400" y="2407920"/>
                  </a:lnTo>
                  <a:cubicBezTo>
                    <a:pt x="3581400" y="2424754"/>
                    <a:pt x="3567753" y="2438400"/>
                    <a:pt x="3550920" y="2438400"/>
                  </a:cubicBezTo>
                  <a:lnTo>
                    <a:pt x="30480" y="2438400"/>
                  </a:lnTo>
                  <a:cubicBezTo>
                    <a:pt x="13646" y="2438400"/>
                    <a:pt x="0" y="2424754"/>
                    <a:pt x="0" y="2407920"/>
                  </a:cubicBezTo>
                  <a:lnTo>
                    <a:pt x="0" y="30479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207" name="Group 206"/>
            <p:cNvGrpSpPr/>
            <p:nvPr>
              <p:custDataLst>
                <p:tags r:id="rId19"/>
              </p:custDataLst>
            </p:nvPr>
          </p:nvGrpSpPr>
          <p:grpSpPr>
            <a:xfrm>
              <a:off x="6530657" y="4095019"/>
              <a:ext cx="318849" cy="271394"/>
              <a:chOff x="7464175" y="3450875"/>
              <a:chExt cx="318849" cy="271394"/>
            </a:xfrm>
          </p:grpSpPr>
          <p:sp>
            <p:nvSpPr>
              <p:cNvPr id="208" name="New shape"/>
              <p:cNvSpPr/>
              <p:nvPr>
                <p:custDataLst>
                  <p:tags r:id="rId22"/>
                </p:custDataLst>
              </p:nvPr>
            </p:nvSpPr>
            <p:spPr>
              <a:xfrm>
                <a:off x="7498899" y="3617754"/>
                <a:ext cx="238172" cy="61740"/>
              </a:xfrm>
              <a:custGeom>
                <a:avLst/>
                <a:gdLst/>
                <a:ahLst/>
                <a:cxnLst/>
                <a:rect l="l" t="t" r="r" b="b"/>
                <a:pathLst>
                  <a:path w="238170" h="61740">
                    <a:moveTo>
                      <a:pt x="2664" y="61740"/>
                    </a:moveTo>
                    <a:cubicBezTo>
                      <a:pt x="1677" y="61740"/>
                      <a:pt x="696" y="61329"/>
                      <a:pt x="0" y="60528"/>
                    </a:cubicBezTo>
                    <a:cubicBezTo>
                      <a:pt x="-1275" y="59060"/>
                      <a:pt x="-1117" y="56828"/>
                      <a:pt x="352" y="55557"/>
                    </a:cubicBezTo>
                    <a:cubicBezTo>
                      <a:pt x="9220" y="47861"/>
                      <a:pt x="16713" y="39939"/>
                      <a:pt x="23324" y="32948"/>
                    </a:cubicBezTo>
                    <a:cubicBezTo>
                      <a:pt x="38891" y="16485"/>
                      <a:pt x="51186" y="3480"/>
                      <a:pt x="70820" y="3106"/>
                    </a:cubicBezTo>
                    <a:lnTo>
                      <a:pt x="234581" y="0"/>
                    </a:lnTo>
                    <a:cubicBezTo>
                      <a:pt x="234605" y="0"/>
                      <a:pt x="234627" y="0"/>
                      <a:pt x="234650" y="0"/>
                    </a:cubicBezTo>
                    <a:cubicBezTo>
                      <a:pt x="236566" y="0"/>
                      <a:pt x="238136" y="1534"/>
                      <a:pt x="238172" y="3458"/>
                    </a:cubicBezTo>
                    <a:cubicBezTo>
                      <a:pt x="238210" y="5404"/>
                      <a:pt x="236662" y="7012"/>
                      <a:pt x="234715" y="7049"/>
                    </a:cubicBezTo>
                    <a:lnTo>
                      <a:pt x="70953" y="10155"/>
                    </a:lnTo>
                    <a:cubicBezTo>
                      <a:pt x="54277" y="10471"/>
                      <a:pt x="43442" y="21926"/>
                      <a:pt x="28447" y="37787"/>
                    </a:cubicBezTo>
                    <a:cubicBezTo>
                      <a:pt x="21723" y="44902"/>
                      <a:pt x="14102" y="52958"/>
                      <a:pt x="4971" y="60881"/>
                    </a:cubicBezTo>
                    <a:cubicBezTo>
                      <a:pt x="4305" y="61461"/>
                      <a:pt x="3481" y="61740"/>
                      <a:pt x="2664" y="6174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9" name="New shape"/>
              <p:cNvSpPr/>
              <p:nvPr>
                <p:custDataLst>
                  <p:tags r:id="rId23"/>
                </p:custDataLst>
              </p:nvPr>
            </p:nvSpPr>
            <p:spPr>
              <a:xfrm>
                <a:off x="7730030" y="3617754"/>
                <a:ext cx="52994" cy="53861"/>
              </a:xfrm>
              <a:custGeom>
                <a:avLst/>
                <a:gdLst/>
                <a:ahLst/>
                <a:cxnLst/>
                <a:rect l="l" t="t" r="r" b="b"/>
                <a:pathLst>
                  <a:path w="52994" h="53861">
                    <a:moveTo>
                      <a:pt x="6912" y="7012"/>
                    </a:moveTo>
                    <a:cubicBezTo>
                      <a:pt x="6325" y="41899"/>
                      <a:pt x="31105" y="44462"/>
                      <a:pt x="44601" y="45850"/>
                    </a:cubicBezTo>
                    <a:cubicBezTo>
                      <a:pt x="46063" y="46004"/>
                      <a:pt x="47333" y="46136"/>
                      <a:pt x="48442" y="46297"/>
                    </a:cubicBezTo>
                    <a:cubicBezTo>
                      <a:pt x="49624" y="42501"/>
                      <a:pt x="50564" y="33704"/>
                      <a:pt x="46319" y="25165"/>
                    </a:cubicBezTo>
                    <a:cubicBezTo>
                      <a:pt x="40438" y="13342"/>
                      <a:pt x="26844" y="7093"/>
                      <a:pt x="6912" y="7012"/>
                    </a:cubicBezTo>
                    <a:close/>
                    <a:moveTo>
                      <a:pt x="50329" y="53861"/>
                    </a:moveTo>
                    <a:cubicBezTo>
                      <a:pt x="49866" y="53861"/>
                      <a:pt x="49403" y="53773"/>
                      <a:pt x="48963" y="53590"/>
                    </a:cubicBezTo>
                    <a:cubicBezTo>
                      <a:pt x="48324" y="53325"/>
                      <a:pt x="45856" y="53068"/>
                      <a:pt x="43881" y="52863"/>
                    </a:cubicBezTo>
                    <a:cubicBezTo>
                      <a:pt x="29967" y="51430"/>
                      <a:pt x="-2626" y="48060"/>
                      <a:pt x="0" y="3319"/>
                    </a:cubicBezTo>
                    <a:cubicBezTo>
                      <a:pt x="106" y="1497"/>
                      <a:pt x="1591" y="51"/>
                      <a:pt x="3418" y="0"/>
                    </a:cubicBezTo>
                    <a:cubicBezTo>
                      <a:pt x="35070" y="-903"/>
                      <a:pt x="47810" y="11822"/>
                      <a:pt x="52928" y="22646"/>
                    </a:cubicBezTo>
                    <a:cubicBezTo>
                      <a:pt x="58553" y="34534"/>
                      <a:pt x="56725" y="48361"/>
                      <a:pt x="52994" y="52657"/>
                    </a:cubicBezTo>
                    <a:cubicBezTo>
                      <a:pt x="52312" y="53442"/>
                      <a:pt x="51334" y="53861"/>
                      <a:pt x="50329" y="53861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0" name="New shape"/>
              <p:cNvSpPr/>
              <p:nvPr>
                <p:custDataLst>
                  <p:tags r:id="rId24"/>
                </p:custDataLst>
              </p:nvPr>
            </p:nvSpPr>
            <p:spPr>
              <a:xfrm>
                <a:off x="7731042" y="3618774"/>
                <a:ext cx="32398" cy="33117"/>
              </a:xfrm>
              <a:custGeom>
                <a:avLst/>
                <a:gdLst/>
                <a:ahLst/>
                <a:cxnLst/>
                <a:rect l="l" t="t" r="r" b="b"/>
                <a:pathLst>
                  <a:path w="32398" h="33117">
                    <a:moveTo>
                      <a:pt x="29887" y="33117"/>
                    </a:moveTo>
                    <a:cubicBezTo>
                      <a:pt x="28991" y="33117"/>
                      <a:pt x="28095" y="32779"/>
                      <a:pt x="27412" y="32096"/>
                    </a:cubicBezTo>
                    <a:lnTo>
                      <a:pt x="27" y="5008"/>
                    </a:lnTo>
                    <a:cubicBezTo>
                      <a:pt x="-1356" y="3642"/>
                      <a:pt x="-1368" y="1409"/>
                      <a:pt x="0" y="29"/>
                    </a:cubicBezTo>
                    <a:cubicBezTo>
                      <a:pt x="1369" y="-1358"/>
                      <a:pt x="3600" y="-1373"/>
                      <a:pt x="4984" y="0"/>
                    </a:cubicBezTo>
                    <a:lnTo>
                      <a:pt x="32369" y="27088"/>
                    </a:lnTo>
                    <a:cubicBezTo>
                      <a:pt x="33749" y="28454"/>
                      <a:pt x="33763" y="30686"/>
                      <a:pt x="32398" y="32074"/>
                    </a:cubicBezTo>
                    <a:cubicBezTo>
                      <a:pt x="31708" y="32772"/>
                      <a:pt x="30798" y="33117"/>
                      <a:pt x="29887" y="33117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1" name="New shape"/>
              <p:cNvSpPr/>
              <p:nvPr>
                <p:custDataLst>
                  <p:tags r:id="rId25"/>
                </p:custDataLst>
              </p:nvPr>
            </p:nvSpPr>
            <p:spPr>
              <a:xfrm>
                <a:off x="7730029" y="3571214"/>
                <a:ext cx="52994" cy="53633"/>
              </a:xfrm>
              <a:custGeom>
                <a:avLst/>
                <a:gdLst/>
                <a:ahLst/>
                <a:cxnLst/>
                <a:rect l="l" t="t" r="r" b="b"/>
                <a:pathLst>
                  <a:path w="52994" h="53633">
                    <a:moveTo>
                      <a:pt x="48442" y="7291"/>
                    </a:moveTo>
                    <a:cubicBezTo>
                      <a:pt x="47333" y="7460"/>
                      <a:pt x="46063" y="7585"/>
                      <a:pt x="44601" y="7739"/>
                    </a:cubicBezTo>
                    <a:cubicBezTo>
                      <a:pt x="31105" y="9134"/>
                      <a:pt x="6325" y="11689"/>
                      <a:pt x="6912" y="46584"/>
                    </a:cubicBezTo>
                    <a:cubicBezTo>
                      <a:pt x="26847" y="46495"/>
                      <a:pt x="40430" y="40254"/>
                      <a:pt x="46319" y="28425"/>
                    </a:cubicBezTo>
                    <a:cubicBezTo>
                      <a:pt x="50564" y="19884"/>
                      <a:pt x="49624" y="11087"/>
                      <a:pt x="48442" y="7291"/>
                    </a:cubicBezTo>
                    <a:close/>
                    <a:moveTo>
                      <a:pt x="6534" y="53633"/>
                    </a:moveTo>
                    <a:cubicBezTo>
                      <a:pt x="5515" y="53633"/>
                      <a:pt x="4479" y="53618"/>
                      <a:pt x="3418" y="53589"/>
                    </a:cubicBezTo>
                    <a:cubicBezTo>
                      <a:pt x="1592" y="53537"/>
                      <a:pt x="106" y="52098"/>
                      <a:pt x="0" y="50270"/>
                    </a:cubicBezTo>
                    <a:cubicBezTo>
                      <a:pt x="-2626" y="5529"/>
                      <a:pt x="29967" y="2166"/>
                      <a:pt x="43881" y="726"/>
                    </a:cubicBezTo>
                    <a:cubicBezTo>
                      <a:pt x="45857" y="521"/>
                      <a:pt x="48324" y="264"/>
                      <a:pt x="48963" y="0"/>
                    </a:cubicBezTo>
                    <a:cubicBezTo>
                      <a:pt x="50365" y="-580"/>
                      <a:pt x="52003" y="-205"/>
                      <a:pt x="52994" y="939"/>
                    </a:cubicBezTo>
                    <a:cubicBezTo>
                      <a:pt x="56725" y="5227"/>
                      <a:pt x="58553" y="19055"/>
                      <a:pt x="52928" y="30950"/>
                    </a:cubicBezTo>
                    <a:cubicBezTo>
                      <a:pt x="47979" y="41407"/>
                      <a:pt x="35907" y="53633"/>
                      <a:pt x="6534" y="5363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2" name="New shape"/>
              <p:cNvSpPr/>
              <p:nvPr>
                <p:custDataLst>
                  <p:tags r:id="rId26"/>
                </p:custDataLst>
              </p:nvPr>
            </p:nvSpPr>
            <p:spPr>
              <a:xfrm>
                <a:off x="7731041" y="3591685"/>
                <a:ext cx="32398" cy="33117"/>
              </a:xfrm>
              <a:custGeom>
                <a:avLst/>
                <a:gdLst/>
                <a:ahLst/>
                <a:cxnLst/>
                <a:rect l="l" t="t" r="r" b="b"/>
                <a:pathLst>
                  <a:path w="32398" h="33117">
                    <a:moveTo>
                      <a:pt x="2506" y="33117"/>
                    </a:moveTo>
                    <a:cubicBezTo>
                      <a:pt x="1597" y="33117"/>
                      <a:pt x="689" y="32772"/>
                      <a:pt x="0" y="32074"/>
                    </a:cubicBezTo>
                    <a:cubicBezTo>
                      <a:pt x="-1368" y="30686"/>
                      <a:pt x="-1357" y="28454"/>
                      <a:pt x="27" y="27089"/>
                    </a:cubicBezTo>
                    <a:lnTo>
                      <a:pt x="27412" y="0"/>
                    </a:lnTo>
                    <a:cubicBezTo>
                      <a:pt x="28792" y="-1373"/>
                      <a:pt x="31024" y="-1358"/>
                      <a:pt x="32398" y="22"/>
                    </a:cubicBezTo>
                    <a:cubicBezTo>
                      <a:pt x="33763" y="1409"/>
                      <a:pt x="33749" y="3642"/>
                      <a:pt x="32368" y="5008"/>
                    </a:cubicBezTo>
                    <a:lnTo>
                      <a:pt x="4984" y="32097"/>
                    </a:lnTo>
                    <a:cubicBezTo>
                      <a:pt x="4297" y="32779"/>
                      <a:pt x="3401" y="33117"/>
                      <a:pt x="2506" y="33117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3" name="New shape"/>
              <p:cNvSpPr/>
              <p:nvPr>
                <p:custDataLst>
                  <p:tags r:id="rId27"/>
                </p:custDataLst>
              </p:nvPr>
            </p:nvSpPr>
            <p:spPr>
              <a:xfrm>
                <a:off x="7577886" y="3657980"/>
                <a:ext cx="46124" cy="64289"/>
              </a:xfrm>
              <a:custGeom>
                <a:avLst/>
                <a:gdLst/>
                <a:ahLst/>
                <a:cxnLst/>
                <a:rect l="l" t="t" r="r" b="b"/>
                <a:pathLst>
                  <a:path w="46123" h="64288">
                    <a:moveTo>
                      <a:pt x="40402" y="7666"/>
                    </a:moveTo>
                    <a:cubicBezTo>
                      <a:pt x="21171" y="12909"/>
                      <a:pt x="9659" y="22462"/>
                      <a:pt x="7039" y="35408"/>
                    </a:cubicBezTo>
                    <a:cubicBezTo>
                      <a:pt x="5145" y="44755"/>
                      <a:pt x="8333" y="53002"/>
                      <a:pt x="10455" y="56365"/>
                    </a:cubicBezTo>
                    <a:cubicBezTo>
                      <a:pt x="11481" y="55924"/>
                      <a:pt x="12678" y="55469"/>
                      <a:pt x="14048" y="54948"/>
                    </a:cubicBezTo>
                    <a:cubicBezTo>
                      <a:pt x="26725" y="50101"/>
                      <a:pt x="49998" y="41216"/>
                      <a:pt x="40402" y="7666"/>
                    </a:cubicBezTo>
                    <a:close/>
                    <a:moveTo>
                      <a:pt x="9666" y="64288"/>
                    </a:moveTo>
                    <a:cubicBezTo>
                      <a:pt x="8980" y="64288"/>
                      <a:pt x="8294" y="64090"/>
                      <a:pt x="7701" y="63686"/>
                    </a:cubicBezTo>
                    <a:cubicBezTo>
                      <a:pt x="2988" y="60506"/>
                      <a:pt x="-2355" y="47627"/>
                      <a:pt x="0" y="34681"/>
                    </a:cubicBezTo>
                    <a:cubicBezTo>
                      <a:pt x="2144" y="22903"/>
                      <a:pt x="11165" y="7321"/>
                      <a:pt x="41963" y="0"/>
                    </a:cubicBezTo>
                    <a:cubicBezTo>
                      <a:pt x="43740" y="-425"/>
                      <a:pt x="45547" y="580"/>
                      <a:pt x="46123" y="2313"/>
                    </a:cubicBezTo>
                    <a:cubicBezTo>
                      <a:pt x="60241" y="44858"/>
                      <a:pt x="29633" y="56541"/>
                      <a:pt x="16562" y="61527"/>
                    </a:cubicBezTo>
                    <a:cubicBezTo>
                      <a:pt x="14702" y="62240"/>
                      <a:pt x="12388" y="63128"/>
                      <a:pt x="11839" y="63546"/>
                    </a:cubicBezTo>
                    <a:cubicBezTo>
                      <a:pt x="11203" y="64039"/>
                      <a:pt x="10434" y="64288"/>
                      <a:pt x="9666" y="64288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4" name="New shape"/>
              <p:cNvSpPr/>
              <p:nvPr>
                <p:custDataLst>
                  <p:tags r:id="rId28"/>
                </p:custDataLst>
              </p:nvPr>
            </p:nvSpPr>
            <p:spPr>
              <a:xfrm>
                <a:off x="7598110" y="3645129"/>
                <a:ext cx="33369" cy="53002"/>
              </a:xfrm>
              <a:custGeom>
                <a:avLst/>
                <a:gdLst/>
                <a:ahLst/>
                <a:cxnLst/>
                <a:rect l="l" t="t" r="r" b="b"/>
                <a:pathLst>
                  <a:path w="33368" h="53002">
                    <a:moveTo>
                      <a:pt x="3035" y="53002"/>
                    </a:moveTo>
                    <a:cubicBezTo>
                      <a:pt x="2428" y="53002"/>
                      <a:pt x="1813" y="52848"/>
                      <a:pt x="1252" y="52517"/>
                    </a:cubicBezTo>
                    <a:cubicBezTo>
                      <a:pt x="-425" y="51533"/>
                      <a:pt x="-987" y="49367"/>
                      <a:pt x="0" y="47693"/>
                    </a:cubicBezTo>
                    <a:lnTo>
                      <a:pt x="27291" y="1255"/>
                    </a:lnTo>
                    <a:cubicBezTo>
                      <a:pt x="28277" y="-418"/>
                      <a:pt x="30436" y="-984"/>
                      <a:pt x="32115" y="0"/>
                    </a:cubicBezTo>
                    <a:cubicBezTo>
                      <a:pt x="33794" y="991"/>
                      <a:pt x="34354" y="3150"/>
                      <a:pt x="33368" y="4824"/>
                    </a:cubicBezTo>
                    <a:lnTo>
                      <a:pt x="6077" y="51261"/>
                    </a:lnTo>
                    <a:cubicBezTo>
                      <a:pt x="5420" y="52377"/>
                      <a:pt x="4243" y="53002"/>
                      <a:pt x="3035" y="53002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5" name="New shape"/>
              <p:cNvSpPr/>
              <p:nvPr>
                <p:custDataLst>
                  <p:tags r:id="rId29"/>
                </p:custDataLst>
              </p:nvPr>
            </p:nvSpPr>
            <p:spPr>
              <a:xfrm>
                <a:off x="7635993" y="3655402"/>
                <a:ext cx="52998" cy="53861"/>
              </a:xfrm>
              <a:custGeom>
                <a:avLst/>
                <a:gdLst/>
                <a:ahLst/>
                <a:cxnLst/>
                <a:rect l="l" t="t" r="r" b="b"/>
                <a:pathLst>
                  <a:path w="52997" h="53861">
                    <a:moveTo>
                      <a:pt x="6912" y="7004"/>
                    </a:moveTo>
                    <a:cubicBezTo>
                      <a:pt x="6325" y="41899"/>
                      <a:pt x="31107" y="44454"/>
                      <a:pt x="44604" y="45849"/>
                    </a:cubicBezTo>
                    <a:cubicBezTo>
                      <a:pt x="46063" y="45997"/>
                      <a:pt x="47336" y="46128"/>
                      <a:pt x="48442" y="46290"/>
                    </a:cubicBezTo>
                    <a:cubicBezTo>
                      <a:pt x="49623" y="42494"/>
                      <a:pt x="50565" y="33704"/>
                      <a:pt x="46316" y="25164"/>
                    </a:cubicBezTo>
                    <a:cubicBezTo>
                      <a:pt x="40435" y="13334"/>
                      <a:pt x="26845" y="7093"/>
                      <a:pt x="6912" y="7004"/>
                    </a:cubicBezTo>
                    <a:close/>
                    <a:moveTo>
                      <a:pt x="50330" y="53861"/>
                    </a:moveTo>
                    <a:cubicBezTo>
                      <a:pt x="49869" y="53861"/>
                      <a:pt x="49405" y="53773"/>
                      <a:pt x="48965" y="53589"/>
                    </a:cubicBezTo>
                    <a:cubicBezTo>
                      <a:pt x="48324" y="53318"/>
                      <a:pt x="45860" y="53068"/>
                      <a:pt x="43880" y="52863"/>
                    </a:cubicBezTo>
                    <a:cubicBezTo>
                      <a:pt x="29964" y="51423"/>
                      <a:pt x="-2625" y="48060"/>
                      <a:pt x="0" y="3319"/>
                    </a:cubicBezTo>
                    <a:cubicBezTo>
                      <a:pt x="106" y="1490"/>
                      <a:pt x="1591" y="51"/>
                      <a:pt x="3419" y="0"/>
                    </a:cubicBezTo>
                    <a:cubicBezTo>
                      <a:pt x="35067" y="-896"/>
                      <a:pt x="47809" y="11822"/>
                      <a:pt x="52929" y="22645"/>
                    </a:cubicBezTo>
                    <a:cubicBezTo>
                      <a:pt x="58555" y="34533"/>
                      <a:pt x="56726" y="48361"/>
                      <a:pt x="52997" y="52649"/>
                    </a:cubicBezTo>
                    <a:cubicBezTo>
                      <a:pt x="52315" y="53435"/>
                      <a:pt x="51332" y="53861"/>
                      <a:pt x="50330" y="53861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6" name="New shape"/>
              <p:cNvSpPr/>
              <p:nvPr>
                <p:custDataLst>
                  <p:tags r:id="rId30"/>
                </p:custDataLst>
              </p:nvPr>
            </p:nvSpPr>
            <p:spPr>
              <a:xfrm>
                <a:off x="7626054" y="3645620"/>
                <a:ext cx="43403" cy="43830"/>
              </a:xfrm>
              <a:custGeom>
                <a:avLst/>
                <a:gdLst/>
                <a:ahLst/>
                <a:cxnLst/>
                <a:rect l="l" t="t" r="r" b="b"/>
                <a:pathLst>
                  <a:path w="43402" h="43830">
                    <a:moveTo>
                      <a:pt x="40890" y="43830"/>
                    </a:moveTo>
                    <a:cubicBezTo>
                      <a:pt x="39997" y="43830"/>
                      <a:pt x="39103" y="43492"/>
                      <a:pt x="38417" y="42817"/>
                    </a:cubicBezTo>
                    <a:lnTo>
                      <a:pt x="38" y="5022"/>
                    </a:lnTo>
                    <a:cubicBezTo>
                      <a:pt x="-1347" y="3656"/>
                      <a:pt x="-1365" y="1424"/>
                      <a:pt x="0" y="36"/>
                    </a:cubicBezTo>
                    <a:cubicBezTo>
                      <a:pt x="1366" y="-1344"/>
                      <a:pt x="3599" y="-1366"/>
                      <a:pt x="4984" y="0"/>
                    </a:cubicBezTo>
                    <a:lnTo>
                      <a:pt x="43364" y="37794"/>
                    </a:lnTo>
                    <a:cubicBezTo>
                      <a:pt x="44751" y="39160"/>
                      <a:pt x="44768" y="41385"/>
                      <a:pt x="43402" y="42773"/>
                    </a:cubicBezTo>
                    <a:cubicBezTo>
                      <a:pt x="42712" y="43477"/>
                      <a:pt x="41802" y="43830"/>
                      <a:pt x="40890" y="4383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7" name="New shape"/>
              <p:cNvSpPr/>
              <p:nvPr>
                <p:custDataLst>
                  <p:tags r:id="rId31"/>
                </p:custDataLst>
              </p:nvPr>
            </p:nvSpPr>
            <p:spPr>
              <a:xfrm>
                <a:off x="7612548" y="3620838"/>
                <a:ext cx="19454" cy="30914"/>
              </a:xfrm>
              <a:custGeom>
                <a:avLst/>
                <a:gdLst/>
                <a:ahLst/>
                <a:cxnLst/>
                <a:rect l="l" t="t" r="r" b="b"/>
                <a:pathLst>
                  <a:path w="19453" h="30914">
                    <a:moveTo>
                      <a:pt x="15965" y="30914"/>
                    </a:moveTo>
                    <a:cubicBezTo>
                      <a:pt x="14251" y="30914"/>
                      <a:pt x="12750" y="29658"/>
                      <a:pt x="12484" y="27918"/>
                    </a:cubicBezTo>
                    <a:cubicBezTo>
                      <a:pt x="12444" y="27660"/>
                      <a:pt x="9873" y="11697"/>
                      <a:pt x="1016" y="5896"/>
                    </a:cubicBezTo>
                    <a:cubicBezTo>
                      <a:pt x="-611" y="4831"/>
                      <a:pt x="-1066" y="2643"/>
                      <a:pt x="0" y="1020"/>
                    </a:cubicBezTo>
                    <a:cubicBezTo>
                      <a:pt x="1067" y="-610"/>
                      <a:pt x="3250" y="-1065"/>
                      <a:pt x="4880" y="0"/>
                    </a:cubicBezTo>
                    <a:cubicBezTo>
                      <a:pt x="16409" y="7555"/>
                      <a:pt x="19335" y="26075"/>
                      <a:pt x="19453" y="26860"/>
                    </a:cubicBezTo>
                    <a:cubicBezTo>
                      <a:pt x="19745" y="28784"/>
                      <a:pt x="18422" y="30576"/>
                      <a:pt x="16497" y="30870"/>
                    </a:cubicBezTo>
                    <a:cubicBezTo>
                      <a:pt x="16318" y="30899"/>
                      <a:pt x="16140" y="30914"/>
                      <a:pt x="15965" y="30914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8" name="New shape"/>
              <p:cNvSpPr/>
              <p:nvPr>
                <p:custDataLst>
                  <p:tags r:id="rId32"/>
                </p:custDataLst>
              </p:nvPr>
            </p:nvSpPr>
            <p:spPr>
              <a:xfrm>
                <a:off x="7660980" y="3592598"/>
                <a:ext cx="16693" cy="33462"/>
              </a:xfrm>
              <a:custGeom>
                <a:avLst/>
                <a:gdLst/>
                <a:ahLst/>
                <a:cxnLst/>
                <a:rect l="l" t="t" r="r" b="b"/>
                <a:pathLst>
                  <a:path w="16692" h="33461">
                    <a:moveTo>
                      <a:pt x="13396" y="33461"/>
                    </a:moveTo>
                    <a:cubicBezTo>
                      <a:pt x="11974" y="33461"/>
                      <a:pt x="10635" y="32596"/>
                      <a:pt x="10100" y="31186"/>
                    </a:cubicBezTo>
                    <a:lnTo>
                      <a:pt x="0" y="4545"/>
                    </a:lnTo>
                    <a:cubicBezTo>
                      <a:pt x="-689" y="2724"/>
                      <a:pt x="226" y="690"/>
                      <a:pt x="2045" y="0"/>
                    </a:cubicBezTo>
                    <a:cubicBezTo>
                      <a:pt x="3867" y="-690"/>
                      <a:pt x="5901" y="227"/>
                      <a:pt x="6591" y="2048"/>
                    </a:cubicBezTo>
                    <a:lnTo>
                      <a:pt x="16692" y="28688"/>
                    </a:lnTo>
                    <a:cubicBezTo>
                      <a:pt x="17382" y="30510"/>
                      <a:pt x="16466" y="32544"/>
                      <a:pt x="14645" y="33234"/>
                    </a:cubicBezTo>
                    <a:cubicBezTo>
                      <a:pt x="14234" y="33388"/>
                      <a:pt x="13812" y="33462"/>
                      <a:pt x="13396" y="33461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9" name="New shape"/>
              <p:cNvSpPr/>
              <p:nvPr>
                <p:custDataLst>
                  <p:tags r:id="rId33"/>
                </p:custDataLst>
              </p:nvPr>
            </p:nvSpPr>
            <p:spPr>
              <a:xfrm>
                <a:off x="7627380" y="3594879"/>
                <a:ext cx="11314" cy="32016"/>
              </a:xfrm>
              <a:custGeom>
                <a:avLst/>
                <a:gdLst/>
                <a:ahLst/>
                <a:cxnLst/>
                <a:rect l="l" t="t" r="r" b="b"/>
                <a:pathLst>
                  <a:path w="11314" h="32015">
                    <a:moveTo>
                      <a:pt x="7836" y="32015"/>
                    </a:moveTo>
                    <a:cubicBezTo>
                      <a:pt x="6156" y="32015"/>
                      <a:pt x="4668" y="30804"/>
                      <a:pt x="4369" y="29093"/>
                    </a:cubicBezTo>
                    <a:lnTo>
                      <a:pt x="0" y="4075"/>
                    </a:lnTo>
                    <a:cubicBezTo>
                      <a:pt x="-335" y="2158"/>
                      <a:pt x="948" y="337"/>
                      <a:pt x="2864" y="0"/>
                    </a:cubicBezTo>
                    <a:cubicBezTo>
                      <a:pt x="4784" y="-337"/>
                      <a:pt x="6608" y="947"/>
                      <a:pt x="6943" y="2863"/>
                    </a:cubicBezTo>
                    <a:lnTo>
                      <a:pt x="11314" y="27881"/>
                    </a:lnTo>
                    <a:cubicBezTo>
                      <a:pt x="11648" y="29798"/>
                      <a:pt x="10366" y="31626"/>
                      <a:pt x="8447" y="31964"/>
                    </a:cubicBezTo>
                    <a:cubicBezTo>
                      <a:pt x="8242" y="31993"/>
                      <a:pt x="8039" y="32015"/>
                      <a:pt x="7836" y="32015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0" name="New shape"/>
              <p:cNvSpPr/>
              <p:nvPr>
                <p:custDataLst>
                  <p:tags r:id="rId34"/>
                </p:custDataLst>
              </p:nvPr>
            </p:nvSpPr>
            <p:spPr>
              <a:xfrm>
                <a:off x="7464175" y="3450875"/>
                <a:ext cx="315471" cy="151098"/>
              </a:xfrm>
              <a:custGeom>
                <a:avLst/>
                <a:gdLst/>
                <a:ahLst/>
                <a:cxnLst/>
                <a:rect l="l" t="t" r="r" b="b"/>
                <a:pathLst>
                  <a:path w="315470" h="151098">
                    <a:moveTo>
                      <a:pt x="51332" y="110637"/>
                    </a:moveTo>
                    <a:cubicBezTo>
                      <a:pt x="66686" y="110637"/>
                      <a:pt x="80812" y="111085"/>
                      <a:pt x="85950" y="111401"/>
                    </a:cubicBezTo>
                    <a:cubicBezTo>
                      <a:pt x="98202" y="112136"/>
                      <a:pt x="112579" y="123084"/>
                      <a:pt x="122094" y="130324"/>
                    </a:cubicBezTo>
                    <a:lnTo>
                      <a:pt x="123620" y="131485"/>
                    </a:lnTo>
                    <a:cubicBezTo>
                      <a:pt x="134441" y="139694"/>
                      <a:pt x="151920" y="144159"/>
                      <a:pt x="172836" y="144056"/>
                    </a:cubicBezTo>
                    <a:cubicBezTo>
                      <a:pt x="193137" y="143960"/>
                      <a:pt x="214808" y="139415"/>
                      <a:pt x="232295" y="131595"/>
                    </a:cubicBezTo>
                    <a:cubicBezTo>
                      <a:pt x="246268" y="125346"/>
                      <a:pt x="269996" y="111306"/>
                      <a:pt x="271915" y="87529"/>
                    </a:cubicBezTo>
                    <a:cubicBezTo>
                      <a:pt x="272795" y="76632"/>
                      <a:pt x="277733" y="55476"/>
                      <a:pt x="283781" y="45754"/>
                    </a:cubicBezTo>
                    <a:cubicBezTo>
                      <a:pt x="288431" y="38286"/>
                      <a:pt x="297839" y="32889"/>
                      <a:pt x="304462" y="29812"/>
                    </a:cubicBezTo>
                    <a:cubicBezTo>
                      <a:pt x="300865" y="28101"/>
                      <a:pt x="296275" y="26141"/>
                      <a:pt x="294241" y="25274"/>
                    </a:cubicBezTo>
                    <a:cubicBezTo>
                      <a:pt x="292744" y="24628"/>
                      <a:pt x="291662" y="24165"/>
                      <a:pt x="291125" y="23915"/>
                    </a:cubicBezTo>
                    <a:cubicBezTo>
                      <a:pt x="290256" y="23497"/>
                      <a:pt x="289593" y="22749"/>
                      <a:pt x="289292" y="21831"/>
                    </a:cubicBezTo>
                    <a:cubicBezTo>
                      <a:pt x="286667" y="13870"/>
                      <a:pt x="278229" y="8047"/>
                      <a:pt x="267796" y="7012"/>
                    </a:cubicBezTo>
                    <a:cubicBezTo>
                      <a:pt x="255083" y="5741"/>
                      <a:pt x="243719" y="11646"/>
                      <a:pt x="237394" y="22778"/>
                    </a:cubicBezTo>
                    <a:cubicBezTo>
                      <a:pt x="223725" y="46848"/>
                      <a:pt x="191252" y="55667"/>
                      <a:pt x="162603" y="63451"/>
                    </a:cubicBezTo>
                    <a:cubicBezTo>
                      <a:pt x="144233" y="68444"/>
                      <a:pt x="126882" y="73159"/>
                      <a:pt x="118784" y="81008"/>
                    </a:cubicBezTo>
                    <a:cubicBezTo>
                      <a:pt x="108453" y="91024"/>
                      <a:pt x="88379" y="101187"/>
                      <a:pt x="73977" y="100130"/>
                    </a:cubicBezTo>
                    <a:cubicBezTo>
                      <a:pt x="69457" y="99807"/>
                      <a:pt x="55148" y="100489"/>
                      <a:pt x="40045" y="102634"/>
                    </a:cubicBezTo>
                    <a:cubicBezTo>
                      <a:pt x="19801" y="105519"/>
                      <a:pt x="12678" y="109015"/>
                      <a:pt x="11661" y="110623"/>
                    </a:cubicBezTo>
                    <a:lnTo>
                      <a:pt x="10536" y="112407"/>
                    </a:lnTo>
                    <a:cubicBezTo>
                      <a:pt x="20655" y="111056"/>
                      <a:pt x="36561" y="110637"/>
                      <a:pt x="51332" y="110637"/>
                    </a:cubicBezTo>
                    <a:close/>
                    <a:moveTo>
                      <a:pt x="172583" y="151098"/>
                    </a:moveTo>
                    <a:cubicBezTo>
                      <a:pt x="151145" y="151098"/>
                      <a:pt x="131643" y="146420"/>
                      <a:pt x="119360" y="137102"/>
                    </a:cubicBezTo>
                    <a:lnTo>
                      <a:pt x="117825" y="135934"/>
                    </a:lnTo>
                    <a:cubicBezTo>
                      <a:pt x="108989" y="129208"/>
                      <a:pt x="95637" y="119045"/>
                      <a:pt x="85525" y="118436"/>
                    </a:cubicBezTo>
                    <a:cubicBezTo>
                      <a:pt x="76730" y="117900"/>
                      <a:pt x="57922" y="117496"/>
                      <a:pt x="40392" y="117790"/>
                    </a:cubicBezTo>
                    <a:cubicBezTo>
                      <a:pt x="9717" y="118296"/>
                      <a:pt x="5237" y="120522"/>
                      <a:pt x="4827" y="120778"/>
                    </a:cubicBezTo>
                    <a:cubicBezTo>
                      <a:pt x="3432" y="121637"/>
                      <a:pt x="1627" y="121417"/>
                      <a:pt x="474" y="120250"/>
                    </a:cubicBezTo>
                    <a:cubicBezTo>
                      <a:pt x="-678" y="119090"/>
                      <a:pt x="-875" y="117283"/>
                      <a:pt x="0" y="115895"/>
                    </a:cubicBezTo>
                    <a:lnTo>
                      <a:pt x="5700" y="106863"/>
                    </a:lnTo>
                    <a:cubicBezTo>
                      <a:pt x="6807" y="105108"/>
                      <a:pt x="10178" y="99762"/>
                      <a:pt x="39052" y="95658"/>
                    </a:cubicBezTo>
                    <a:cubicBezTo>
                      <a:pt x="53812" y="93557"/>
                      <a:pt x="68942" y="92691"/>
                      <a:pt x="74491" y="93102"/>
                    </a:cubicBezTo>
                    <a:cubicBezTo>
                      <a:pt x="86566" y="93976"/>
                      <a:pt x="104599" y="84944"/>
                      <a:pt x="113878" y="75949"/>
                    </a:cubicBezTo>
                    <a:cubicBezTo>
                      <a:pt x="123280" y="66829"/>
                      <a:pt x="140646" y="62115"/>
                      <a:pt x="160755" y="56651"/>
                    </a:cubicBezTo>
                    <a:cubicBezTo>
                      <a:pt x="188078" y="49227"/>
                      <a:pt x="219044" y="40813"/>
                      <a:pt x="231265" y="19297"/>
                    </a:cubicBezTo>
                    <a:cubicBezTo>
                      <a:pt x="240382" y="3245"/>
                      <a:pt x="256476" y="-1189"/>
                      <a:pt x="268492" y="0"/>
                    </a:cubicBezTo>
                    <a:cubicBezTo>
                      <a:pt x="281061" y="1247"/>
                      <a:pt x="291443" y="8290"/>
                      <a:pt x="295430" y="18115"/>
                    </a:cubicBezTo>
                    <a:cubicBezTo>
                      <a:pt x="295893" y="18313"/>
                      <a:pt x="296436" y="18541"/>
                      <a:pt x="297017" y="18791"/>
                    </a:cubicBezTo>
                    <a:cubicBezTo>
                      <a:pt x="299778" y="19973"/>
                      <a:pt x="303956" y="21757"/>
                      <a:pt x="307407" y="23409"/>
                    </a:cubicBezTo>
                    <a:cubicBezTo>
                      <a:pt x="313070" y="26111"/>
                      <a:pt x="315543" y="27595"/>
                      <a:pt x="315470" y="30444"/>
                    </a:cubicBezTo>
                    <a:cubicBezTo>
                      <a:pt x="315433" y="32001"/>
                      <a:pt x="314427" y="33366"/>
                      <a:pt x="312915" y="33925"/>
                    </a:cubicBezTo>
                    <a:cubicBezTo>
                      <a:pt x="309999" y="34997"/>
                      <a:pt x="295166" y="40798"/>
                      <a:pt x="289766" y="49484"/>
                    </a:cubicBezTo>
                    <a:cubicBezTo>
                      <a:pt x="284778" y="57496"/>
                      <a:pt x="279852" y="76822"/>
                      <a:pt x="278943" y="88095"/>
                    </a:cubicBezTo>
                    <a:cubicBezTo>
                      <a:pt x="277303" y="108405"/>
                      <a:pt x="261758" y="126139"/>
                      <a:pt x="235174" y="138027"/>
                    </a:cubicBezTo>
                    <a:cubicBezTo>
                      <a:pt x="215674" y="146751"/>
                      <a:pt x="193230" y="151098"/>
                      <a:pt x="172583" y="151098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1" name="New shape"/>
              <p:cNvSpPr/>
              <p:nvPr>
                <p:custDataLst>
                  <p:tags r:id="rId35"/>
                </p:custDataLst>
              </p:nvPr>
            </p:nvSpPr>
            <p:spPr>
              <a:xfrm>
                <a:off x="7551404" y="3512807"/>
                <a:ext cx="158148" cy="48383"/>
              </a:xfrm>
              <a:custGeom>
                <a:avLst/>
                <a:gdLst/>
                <a:ahLst/>
                <a:cxnLst/>
                <a:rect l="l" t="t" r="r" b="b"/>
                <a:pathLst>
                  <a:path w="158147" h="48383">
                    <a:moveTo>
                      <a:pt x="71797" y="48383"/>
                    </a:moveTo>
                    <a:cubicBezTo>
                      <a:pt x="41300" y="48383"/>
                      <a:pt x="11768" y="42244"/>
                      <a:pt x="976" y="35048"/>
                    </a:cubicBezTo>
                    <a:cubicBezTo>
                      <a:pt x="-642" y="33968"/>
                      <a:pt x="-1080" y="31781"/>
                      <a:pt x="0" y="30157"/>
                    </a:cubicBezTo>
                    <a:cubicBezTo>
                      <a:pt x="1079" y="28542"/>
                      <a:pt x="3268" y="28101"/>
                      <a:pt x="4887" y="29181"/>
                    </a:cubicBezTo>
                    <a:cubicBezTo>
                      <a:pt x="11561" y="33630"/>
                      <a:pt x="30879" y="39189"/>
                      <a:pt x="57529" y="40886"/>
                    </a:cubicBezTo>
                    <a:cubicBezTo>
                      <a:pt x="73730" y="41913"/>
                      <a:pt x="104284" y="42105"/>
                      <a:pt x="126891" y="31824"/>
                    </a:cubicBezTo>
                    <a:cubicBezTo>
                      <a:pt x="141368" y="25245"/>
                      <a:pt x="149531" y="15559"/>
                      <a:pt x="151156" y="3040"/>
                    </a:cubicBezTo>
                    <a:cubicBezTo>
                      <a:pt x="151407" y="1108"/>
                      <a:pt x="153172" y="-256"/>
                      <a:pt x="155106" y="0"/>
                    </a:cubicBezTo>
                    <a:cubicBezTo>
                      <a:pt x="157036" y="249"/>
                      <a:pt x="158398" y="2019"/>
                      <a:pt x="158147" y="3950"/>
                    </a:cubicBezTo>
                    <a:cubicBezTo>
                      <a:pt x="156188" y="19040"/>
                      <a:pt x="146653" y="30584"/>
                      <a:pt x="129810" y="38242"/>
                    </a:cubicBezTo>
                    <a:cubicBezTo>
                      <a:pt x="113765" y="45534"/>
                      <a:pt x="92557" y="48383"/>
                      <a:pt x="71797" y="48383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2" name="New shape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76045" y="3487488"/>
                <a:ext cx="71409" cy="34659"/>
              </a:xfrm>
              <a:custGeom>
                <a:avLst/>
                <a:gdLst/>
                <a:ahLst/>
                <a:cxnLst/>
                <a:rect l="l" t="t" r="r" b="b"/>
                <a:pathLst>
                  <a:path w="71408" h="34659">
                    <a:moveTo>
                      <a:pt x="47025" y="34659"/>
                    </a:moveTo>
                    <a:cubicBezTo>
                      <a:pt x="30173" y="34659"/>
                      <a:pt x="19367" y="29049"/>
                      <a:pt x="12782" y="23446"/>
                    </a:cubicBezTo>
                    <a:cubicBezTo>
                      <a:pt x="2776" y="14942"/>
                      <a:pt x="107" y="4706"/>
                      <a:pt x="0" y="4281"/>
                    </a:cubicBezTo>
                    <a:cubicBezTo>
                      <a:pt x="-475" y="2393"/>
                      <a:pt x="668" y="477"/>
                      <a:pt x="2555" y="0"/>
                    </a:cubicBezTo>
                    <a:cubicBezTo>
                      <a:pt x="4441" y="-477"/>
                      <a:pt x="6353" y="668"/>
                      <a:pt x="6832" y="2548"/>
                    </a:cubicBezTo>
                    <a:cubicBezTo>
                      <a:pt x="7215" y="4009"/>
                      <a:pt x="16452" y="36877"/>
                      <a:pt x="67178" y="25091"/>
                    </a:cubicBezTo>
                    <a:cubicBezTo>
                      <a:pt x="69070" y="24650"/>
                      <a:pt x="70967" y="25832"/>
                      <a:pt x="71408" y="27727"/>
                    </a:cubicBezTo>
                    <a:cubicBezTo>
                      <a:pt x="71849" y="29628"/>
                      <a:pt x="70668" y="31523"/>
                      <a:pt x="68772" y="31964"/>
                    </a:cubicBezTo>
                    <a:cubicBezTo>
                      <a:pt x="60598" y="33859"/>
                      <a:pt x="53382" y="34659"/>
                      <a:pt x="47025" y="34659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3" name="New shape"/>
              <p:cNvSpPr/>
              <p:nvPr>
                <p:custDataLst>
                  <p:tags r:id="rId37"/>
                </p:custDataLst>
              </p:nvPr>
            </p:nvSpPr>
            <p:spPr>
              <a:xfrm>
                <a:off x="7586442" y="3520906"/>
                <a:ext cx="113915" cy="21545"/>
              </a:xfrm>
              <a:custGeom>
                <a:avLst/>
                <a:gdLst/>
                <a:ahLst/>
                <a:cxnLst/>
                <a:rect l="l" t="t" r="r" b="b"/>
                <a:pathLst>
                  <a:path w="113914" h="21544">
                    <a:moveTo>
                      <a:pt x="83837" y="21544"/>
                    </a:moveTo>
                    <a:cubicBezTo>
                      <a:pt x="73857" y="21544"/>
                      <a:pt x="63132" y="20847"/>
                      <a:pt x="53951" y="19863"/>
                    </a:cubicBezTo>
                    <a:cubicBezTo>
                      <a:pt x="43632" y="18761"/>
                      <a:pt x="9242" y="14429"/>
                      <a:pt x="0" y="4986"/>
                    </a:cubicBezTo>
                    <a:cubicBezTo>
                      <a:pt x="-1361" y="3598"/>
                      <a:pt x="-1337" y="1366"/>
                      <a:pt x="53" y="0"/>
                    </a:cubicBezTo>
                    <a:cubicBezTo>
                      <a:pt x="1445" y="-1358"/>
                      <a:pt x="3676" y="-1336"/>
                      <a:pt x="5038" y="58"/>
                    </a:cubicBezTo>
                    <a:cubicBezTo>
                      <a:pt x="9936" y="5059"/>
                      <a:pt x="29894" y="10207"/>
                      <a:pt x="54699" y="12850"/>
                    </a:cubicBezTo>
                    <a:cubicBezTo>
                      <a:pt x="79006" y="15449"/>
                      <a:pt x="101451" y="14914"/>
                      <a:pt x="109285" y="11558"/>
                    </a:cubicBezTo>
                    <a:cubicBezTo>
                      <a:pt x="111076" y="10786"/>
                      <a:pt x="113147" y="11617"/>
                      <a:pt x="113914" y="13408"/>
                    </a:cubicBezTo>
                    <a:cubicBezTo>
                      <a:pt x="114682" y="15192"/>
                      <a:pt x="113852" y="17271"/>
                      <a:pt x="112064" y="18034"/>
                    </a:cubicBezTo>
                    <a:cubicBezTo>
                      <a:pt x="106103" y="20590"/>
                      <a:pt x="95477" y="21544"/>
                      <a:pt x="83837" y="21544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4" name="New shape"/>
              <p:cNvSpPr/>
              <p:nvPr>
                <p:custDataLst>
                  <p:tags r:id="rId38"/>
                </p:custDataLst>
              </p:nvPr>
            </p:nvSpPr>
            <p:spPr>
              <a:xfrm>
                <a:off x="7719275" y="3468080"/>
                <a:ext cx="19386" cy="19386"/>
              </a:xfrm>
              <a:custGeom>
                <a:avLst/>
                <a:gdLst/>
                <a:ahLst/>
                <a:cxnLst/>
                <a:rect l="l" t="t" r="r" b="b"/>
                <a:pathLst>
                  <a:path w="19385" h="19385">
                    <a:moveTo>
                      <a:pt x="9693" y="7049"/>
                    </a:moveTo>
                    <a:cubicBezTo>
                      <a:pt x="8235" y="7049"/>
                      <a:pt x="7049" y="8238"/>
                      <a:pt x="7049" y="9692"/>
                    </a:cubicBezTo>
                    <a:cubicBezTo>
                      <a:pt x="7049" y="11153"/>
                      <a:pt x="8235" y="12336"/>
                      <a:pt x="9693" y="12336"/>
                    </a:cubicBezTo>
                    <a:cubicBezTo>
                      <a:pt x="11150" y="12336"/>
                      <a:pt x="12336" y="11153"/>
                      <a:pt x="12336" y="9692"/>
                    </a:cubicBezTo>
                    <a:cubicBezTo>
                      <a:pt x="12336" y="8238"/>
                      <a:pt x="11150" y="7049"/>
                      <a:pt x="9693" y="7049"/>
                    </a:cubicBezTo>
                    <a:close/>
                    <a:moveTo>
                      <a:pt x="9693" y="19385"/>
                    </a:moveTo>
                    <a:cubicBezTo>
                      <a:pt x="4347" y="19385"/>
                      <a:pt x="0" y="15038"/>
                      <a:pt x="0" y="9692"/>
                    </a:cubicBezTo>
                    <a:cubicBezTo>
                      <a:pt x="0" y="4347"/>
                      <a:pt x="4347" y="0"/>
                      <a:pt x="9693" y="0"/>
                    </a:cubicBezTo>
                    <a:cubicBezTo>
                      <a:pt x="15038" y="0"/>
                      <a:pt x="19385" y="4347"/>
                      <a:pt x="19385" y="9692"/>
                    </a:cubicBezTo>
                    <a:cubicBezTo>
                      <a:pt x="19385" y="15038"/>
                      <a:pt x="15037" y="19385"/>
                      <a:pt x="9693" y="19385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225" name="Rectangle 224"/>
            <p:cNvSpPr/>
            <p:nvPr>
              <p:custDataLst>
                <p:tags r:id="rId20"/>
              </p:custDataLst>
            </p:nvPr>
          </p:nvSpPr>
          <p:spPr>
            <a:xfrm>
              <a:off x="6950642" y="4047744"/>
              <a:ext cx="2819400" cy="36576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6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GitHub</a:t>
              </a:r>
            </a:p>
          </p:txBody>
        </p:sp>
        <p:sp>
          <p:nvSpPr>
            <p:cNvPr id="226" name="Rectangle 225"/>
            <p:cNvSpPr/>
            <p:nvPr>
              <p:custDataLst>
                <p:tags r:id="rId21"/>
              </p:custDataLst>
            </p:nvPr>
          </p:nvSpPr>
          <p:spPr>
            <a:xfrm>
              <a:off x="6508682" y="4520184"/>
              <a:ext cx="3276600" cy="16764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27000" lvl="1" indent="-127000">
                <a:buChar char="•"/>
              </a:pPr>
              <a:r>
                <a:rPr lang="en-US" sz="1600" dirty="0">
                  <a:solidFill>
                    <a:srgbClr val="000000"/>
                  </a:solidFill>
                  <a:ea typeface="+mn-ea"/>
                  <a:cs typeface="+mn-lt"/>
                </a:rPr>
                <a:t>Version control for project management  </a:t>
              </a:r>
            </a:p>
            <a:p>
              <a:pPr marL="127000" lvl="1" indent="-127000">
                <a:buChar char="•"/>
              </a:pPr>
              <a:r>
                <a:rPr lang="en-US" sz="1600" dirty="0">
                  <a:solidFill>
                    <a:srgbClr val="000000"/>
                  </a:solidFill>
                  <a:ea typeface="+mn-ea"/>
                  <a:cs typeface="+mn-lt"/>
                </a:rPr>
                <a:t>Stores code, SQL scripts, and documentation  </a:t>
              </a:r>
            </a:p>
            <a:p>
              <a:pPr marL="127000" lvl="1" indent="-127000">
                <a:buChar char="•"/>
              </a:pPr>
              <a:r>
                <a:rPr lang="en-US" sz="1600" dirty="0">
                  <a:solidFill>
                    <a:srgbClr val="000000"/>
                  </a:solidFill>
                  <a:ea typeface="+mn-ea"/>
                  <a:cs typeface="+mn-lt"/>
                </a:rPr>
                <a:t>Tracks changes and supports collaboration </a:t>
              </a:r>
              <a:endParaRPr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B88D982-A6B8-C1F3-B18D-2EB39F565AD6}"/>
              </a:ext>
            </a:extLst>
          </p:cNvPr>
          <p:cNvGrpSpPr/>
          <p:nvPr/>
        </p:nvGrpSpPr>
        <p:grpSpPr>
          <a:xfrm>
            <a:off x="381000" y="275008"/>
            <a:ext cx="11430000" cy="4716092"/>
            <a:chOff x="381000" y="275008"/>
            <a:chExt cx="11430000" cy="4716092"/>
          </a:xfrm>
        </p:grpSpPr>
        <p:sp>
          <p:nvSpPr>
            <p:cNvPr id="12" name="Title 1"/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381000" y="275008"/>
              <a:ext cx="11429400" cy="78875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457200" rtl="0" eaLnBrk="1" latinLnBrk="0" hangingPunct="1">
                <a:defRPr sz="105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ct val="21875"/>
                </a:spcBef>
                <a:spcAft>
                  <a:spcPct val="21875"/>
                </a:spcAft>
              </a:pPr>
              <a:r>
                <a:rPr lang="en-US" sz="2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Project Workflow </a:t>
              </a:r>
            </a:p>
          </p:txBody>
        </p:sp>
        <p:sp>
          <p:nvSpPr>
            <p:cNvPr id="14" name="Rectangle 13"/>
            <p:cNvSpPr/>
            <p:nvPr>
              <p:custDataLst>
                <p:tags r:id="rId2"/>
              </p:custDataLst>
            </p:nvPr>
          </p:nvSpPr>
          <p:spPr>
            <a:xfrm>
              <a:off x="381000" y="1219200"/>
              <a:ext cx="11430000" cy="304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dirty="0">
                  <a:solidFill>
                    <a:srgbClr val="000000"/>
                  </a:solidFill>
                  <a:ea typeface="+mn-ea"/>
                  <a:cs typeface="+mn-lt"/>
                </a:rPr>
                <a:t>An end-to-end pipeline transforming raw housing data into actionable insights</a:t>
              </a:r>
              <a:endParaRPr sz="16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15" name="Rectangle 14"/>
            <p:cNvSpPr/>
            <p:nvPr>
              <p:custDataLst>
                <p:tags r:id="rId3"/>
              </p:custDataLst>
            </p:nvPr>
          </p:nvSpPr>
          <p:spPr>
            <a:xfrm>
              <a:off x="723900" y="2362200"/>
              <a:ext cx="2057400" cy="2286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50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Step 1</a:t>
              </a:r>
            </a:p>
          </p:txBody>
        </p:sp>
        <p:sp>
          <p:nvSpPr>
            <p:cNvPr id="17" name="Rectangle 16"/>
            <p:cNvSpPr/>
            <p:nvPr>
              <p:custDataLst>
                <p:tags r:id="rId4"/>
              </p:custDataLst>
            </p:nvPr>
          </p:nvSpPr>
          <p:spPr>
            <a:xfrm>
              <a:off x="2895600" y="2362200"/>
              <a:ext cx="2057400" cy="2286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50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Step 2</a:t>
              </a:r>
            </a:p>
          </p:txBody>
        </p:sp>
        <p:sp>
          <p:nvSpPr>
            <p:cNvPr id="18" name="Rectangle 17"/>
            <p:cNvSpPr/>
            <p:nvPr>
              <p:custDataLst>
                <p:tags r:id="rId5"/>
              </p:custDataLst>
            </p:nvPr>
          </p:nvSpPr>
          <p:spPr>
            <a:xfrm>
              <a:off x="5067300" y="2362200"/>
              <a:ext cx="2057400" cy="2286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50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Step 3</a:t>
              </a:r>
            </a:p>
          </p:txBody>
        </p:sp>
        <p:sp>
          <p:nvSpPr>
            <p:cNvPr id="20" name="Rectangle 19"/>
            <p:cNvSpPr/>
            <p:nvPr>
              <p:custDataLst>
                <p:tags r:id="rId6"/>
              </p:custDataLst>
            </p:nvPr>
          </p:nvSpPr>
          <p:spPr>
            <a:xfrm>
              <a:off x="7239000" y="2362200"/>
              <a:ext cx="2057400" cy="2286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50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Step 4</a:t>
              </a:r>
            </a:p>
          </p:txBody>
        </p:sp>
        <p:sp>
          <p:nvSpPr>
            <p:cNvPr id="21" name="Rectangle 20"/>
            <p:cNvSpPr/>
            <p:nvPr>
              <p:custDataLst>
                <p:tags r:id="rId7"/>
              </p:custDataLst>
            </p:nvPr>
          </p:nvSpPr>
          <p:spPr>
            <a:xfrm>
              <a:off x="9410700" y="2362200"/>
              <a:ext cx="2057400" cy="2286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500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Step 5</a:t>
              </a:r>
            </a:p>
          </p:txBody>
        </p:sp>
        <p:sp>
          <p:nvSpPr>
            <p:cNvPr id="23" name="New shape"/>
            <p:cNvSpPr/>
            <p:nvPr>
              <p:custDataLst>
                <p:tags r:id="rId8"/>
              </p:custDataLst>
            </p:nvPr>
          </p:nvSpPr>
          <p:spPr>
            <a:xfrm>
              <a:off x="723900" y="2667000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0" y="0"/>
                  </a:moveTo>
                  <a:lnTo>
                    <a:pt x="1752600" y="0"/>
                  </a:lnTo>
                  <a:lnTo>
                    <a:pt x="2057400" y="457200"/>
                  </a:lnTo>
                  <a:lnTo>
                    <a:pt x="1752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4" name="New shape"/>
            <p:cNvSpPr/>
            <p:nvPr>
              <p:custDataLst>
                <p:tags r:id="rId9"/>
              </p:custDataLst>
            </p:nvPr>
          </p:nvSpPr>
          <p:spPr>
            <a:xfrm>
              <a:off x="2895600" y="2667000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0" y="0"/>
                  </a:moveTo>
                  <a:lnTo>
                    <a:pt x="1752600" y="0"/>
                  </a:lnTo>
                  <a:lnTo>
                    <a:pt x="2057400" y="457200"/>
                  </a:lnTo>
                  <a:lnTo>
                    <a:pt x="1752600" y="914400"/>
                  </a:lnTo>
                  <a:lnTo>
                    <a:pt x="0" y="914400"/>
                  </a:lnTo>
                  <a:lnTo>
                    <a:pt x="304800" y="457200"/>
                  </a:ln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1" name="New shape"/>
            <p:cNvSpPr/>
            <p:nvPr>
              <p:custDataLst>
                <p:tags r:id="rId10"/>
              </p:custDataLst>
            </p:nvPr>
          </p:nvSpPr>
          <p:spPr>
            <a:xfrm>
              <a:off x="5067300" y="2667000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0" y="0"/>
                  </a:moveTo>
                  <a:lnTo>
                    <a:pt x="1752600" y="0"/>
                  </a:lnTo>
                  <a:lnTo>
                    <a:pt x="2057400" y="457200"/>
                  </a:lnTo>
                  <a:lnTo>
                    <a:pt x="1752600" y="914400"/>
                  </a:lnTo>
                  <a:lnTo>
                    <a:pt x="0" y="914400"/>
                  </a:lnTo>
                  <a:lnTo>
                    <a:pt x="304800" y="457200"/>
                  </a:ln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2" name="New shape"/>
            <p:cNvSpPr/>
            <p:nvPr>
              <p:custDataLst>
                <p:tags r:id="rId11"/>
              </p:custDataLst>
            </p:nvPr>
          </p:nvSpPr>
          <p:spPr>
            <a:xfrm>
              <a:off x="7239000" y="2667000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0" y="0"/>
                  </a:moveTo>
                  <a:lnTo>
                    <a:pt x="1752600" y="0"/>
                  </a:lnTo>
                  <a:lnTo>
                    <a:pt x="2057400" y="457200"/>
                  </a:lnTo>
                  <a:lnTo>
                    <a:pt x="1752600" y="914400"/>
                  </a:lnTo>
                  <a:lnTo>
                    <a:pt x="0" y="914400"/>
                  </a:lnTo>
                  <a:lnTo>
                    <a:pt x="304800" y="457200"/>
                  </a:ln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3" name="New shape"/>
            <p:cNvSpPr/>
            <p:nvPr>
              <p:custDataLst>
                <p:tags r:id="rId12"/>
              </p:custDataLst>
            </p:nvPr>
          </p:nvSpPr>
          <p:spPr>
            <a:xfrm>
              <a:off x="9410700" y="2667000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0" y="0"/>
                  </a:moveTo>
                  <a:lnTo>
                    <a:pt x="1752600" y="0"/>
                  </a:lnTo>
                  <a:lnTo>
                    <a:pt x="2057400" y="457200"/>
                  </a:lnTo>
                  <a:lnTo>
                    <a:pt x="1752600" y="914400"/>
                  </a:lnTo>
                  <a:lnTo>
                    <a:pt x="0" y="914400"/>
                  </a:lnTo>
                  <a:lnTo>
                    <a:pt x="304800" y="457200"/>
                  </a:ln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4" name="Rectangle 43"/>
            <p:cNvSpPr/>
            <p:nvPr>
              <p:custDataLst>
                <p:tags r:id="rId13"/>
              </p:custDataLst>
            </p:nvPr>
          </p:nvSpPr>
          <p:spPr>
            <a:xfrm>
              <a:off x="723900" y="2667000"/>
              <a:ext cx="1752600" cy="914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750" b="1" dirty="0">
                  <a:solidFill>
                    <a:srgbClr val="FFFFFF"/>
                  </a:solidFill>
                  <a:ea typeface="+mn-ea"/>
                  <a:cs typeface="+mn-lt"/>
                </a:rPr>
                <a:t>CSV</a:t>
              </a:r>
              <a:br>
                <a:rPr sz="1750" b="1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</a:br>
              <a:r>
                <a:rPr sz="1750" b="1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Dataset</a:t>
              </a:r>
            </a:p>
          </p:txBody>
        </p:sp>
        <p:sp>
          <p:nvSpPr>
            <p:cNvPr id="45" name="Rectangle 44"/>
            <p:cNvSpPr/>
            <p:nvPr>
              <p:custDataLst>
                <p:tags r:id="rId14"/>
              </p:custDataLst>
            </p:nvPr>
          </p:nvSpPr>
          <p:spPr>
            <a:xfrm>
              <a:off x="3200400" y="2667000"/>
              <a:ext cx="1447800" cy="914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Python</a:t>
              </a:r>
              <a:b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</a:br>
              <a: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Processing</a:t>
              </a:r>
            </a:p>
          </p:txBody>
        </p:sp>
        <p:sp>
          <p:nvSpPr>
            <p:cNvPr id="46" name="Rectangle 45"/>
            <p:cNvSpPr/>
            <p:nvPr>
              <p:custDataLst>
                <p:tags r:id="rId15"/>
              </p:custDataLst>
            </p:nvPr>
          </p:nvSpPr>
          <p:spPr>
            <a:xfrm>
              <a:off x="5372100" y="2667000"/>
              <a:ext cx="1447800" cy="914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Data</a:t>
              </a:r>
              <a:b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</a:br>
              <a: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Cleaning</a:t>
              </a:r>
            </a:p>
          </p:txBody>
        </p:sp>
        <p:sp>
          <p:nvSpPr>
            <p:cNvPr id="47" name="Rectangle 46"/>
            <p:cNvSpPr/>
            <p:nvPr>
              <p:custDataLst>
                <p:tags r:id="rId16"/>
              </p:custDataLst>
            </p:nvPr>
          </p:nvSpPr>
          <p:spPr>
            <a:xfrm>
              <a:off x="7543800" y="2667000"/>
              <a:ext cx="1447800" cy="914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MySQL</a:t>
              </a:r>
              <a:b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</a:br>
              <a:r>
                <a:rPr sz="175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Database</a:t>
              </a:r>
            </a:p>
          </p:txBody>
        </p:sp>
        <p:sp>
          <p:nvSpPr>
            <p:cNvPr id="48" name="Rectangle 47"/>
            <p:cNvSpPr/>
            <p:nvPr>
              <p:custDataLst>
                <p:tags r:id="rId17"/>
              </p:custDataLst>
            </p:nvPr>
          </p:nvSpPr>
          <p:spPr>
            <a:xfrm>
              <a:off x="9715500" y="2667000"/>
              <a:ext cx="1447800" cy="914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750" b="1" dirty="0">
                  <a:solidFill>
                    <a:srgbClr val="FFFFFF"/>
                  </a:solidFill>
                  <a:ea typeface="+mn-ea"/>
                  <a:cs typeface="+mn-lt"/>
                </a:rPr>
                <a:t>Power BI</a:t>
              </a:r>
              <a:br>
                <a:rPr sz="1750" b="1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</a:br>
              <a:r>
                <a:rPr sz="1750" b="1" dirty="0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Dashboard</a:t>
              </a:r>
            </a:p>
          </p:txBody>
        </p:sp>
        <p:sp>
          <p:nvSpPr>
            <p:cNvPr id="49" name="Rectangle 48"/>
            <p:cNvSpPr/>
            <p:nvPr>
              <p:custDataLst>
                <p:tags r:id="rId18"/>
              </p:custDataLst>
            </p:nvPr>
          </p:nvSpPr>
          <p:spPr>
            <a:xfrm>
              <a:off x="723900" y="3733800"/>
              <a:ext cx="1981200" cy="304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5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Raw Data Source</a:t>
              </a:r>
            </a:p>
          </p:txBody>
        </p:sp>
        <p:sp>
          <p:nvSpPr>
            <p:cNvPr id="50" name="Rectangle 49"/>
            <p:cNvSpPr/>
            <p:nvPr>
              <p:custDataLst>
                <p:tags r:id="rId19"/>
              </p:custDataLst>
            </p:nvPr>
          </p:nvSpPr>
          <p:spPr>
            <a:xfrm>
              <a:off x="2895600" y="3733800"/>
              <a:ext cx="1981200" cy="304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5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Data Extraction</a:t>
              </a:r>
            </a:p>
          </p:txBody>
        </p:sp>
        <p:sp>
          <p:nvSpPr>
            <p:cNvPr id="51" name="Rectangle 50"/>
            <p:cNvSpPr/>
            <p:nvPr>
              <p:custDataLst>
                <p:tags r:id="rId20"/>
              </p:custDataLst>
            </p:nvPr>
          </p:nvSpPr>
          <p:spPr>
            <a:xfrm>
              <a:off x="5067300" y="3733800"/>
              <a:ext cx="1981200" cy="304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5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Transformation</a:t>
              </a:r>
            </a:p>
          </p:txBody>
        </p:sp>
        <p:sp>
          <p:nvSpPr>
            <p:cNvPr id="52" name="Rectangle 51"/>
            <p:cNvSpPr/>
            <p:nvPr>
              <p:custDataLst>
                <p:tags r:id="rId21"/>
              </p:custDataLst>
            </p:nvPr>
          </p:nvSpPr>
          <p:spPr>
            <a:xfrm>
              <a:off x="7239000" y="3733800"/>
              <a:ext cx="1981200" cy="304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5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Structured Storage</a:t>
              </a:r>
            </a:p>
          </p:txBody>
        </p:sp>
        <p:sp>
          <p:nvSpPr>
            <p:cNvPr id="53" name="Rectangle 52"/>
            <p:cNvSpPr/>
            <p:nvPr>
              <p:custDataLst>
                <p:tags r:id="rId22"/>
              </p:custDataLst>
            </p:nvPr>
          </p:nvSpPr>
          <p:spPr>
            <a:xfrm>
              <a:off x="9410700" y="3733800"/>
              <a:ext cx="1981200" cy="4572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5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Interactive</a:t>
              </a:r>
              <a:br>
                <a:rPr sz="15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</a:br>
              <a:r>
                <a:rPr sz="150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Visualization</a:t>
              </a:r>
            </a:p>
          </p:txBody>
        </p:sp>
        <p:sp>
          <p:nvSpPr>
            <p:cNvPr id="54" name="Rectangle 53"/>
            <p:cNvSpPr/>
            <p:nvPr>
              <p:custDataLst>
                <p:tags r:id="rId23"/>
              </p:custDataLst>
            </p:nvPr>
          </p:nvSpPr>
          <p:spPr>
            <a:xfrm>
              <a:off x="723900" y="4038600"/>
              <a:ext cx="1981200" cy="9525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300" dirty="0">
                  <a:solidFill>
                    <a:srgbClr val="000000"/>
                  </a:solidFill>
                  <a:ea typeface="+mn-ea"/>
                  <a:cs typeface="+mn-lt"/>
                </a:rPr>
                <a:t>Raw housing dataset in CSV format and contains property, pricing, and buyer details</a:t>
              </a:r>
              <a:endParaRPr sz="13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55" name="Rectangle 54"/>
            <p:cNvSpPr/>
            <p:nvPr>
              <p:custDataLst>
                <p:tags r:id="rId24"/>
              </p:custDataLst>
            </p:nvPr>
          </p:nvSpPr>
          <p:spPr>
            <a:xfrm>
              <a:off x="2895600" y="4038600"/>
              <a:ext cx="1981200" cy="762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300" dirty="0">
                  <a:solidFill>
                    <a:srgbClr val="000000"/>
                  </a:solidFill>
                  <a:ea typeface="+mn-ea"/>
                  <a:cs typeface="+mn-lt"/>
                </a:rPr>
                <a:t>Load dataset using Python and Preparing data for cleaning and transformation</a:t>
              </a:r>
              <a:endParaRPr sz="13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56" name="Rectangle 55"/>
            <p:cNvSpPr/>
            <p:nvPr>
              <p:custDataLst>
                <p:tags r:id="rId25"/>
              </p:custDataLst>
            </p:nvPr>
          </p:nvSpPr>
          <p:spPr>
            <a:xfrm>
              <a:off x="5067300" y="4038600"/>
              <a:ext cx="1981200" cy="762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300" dirty="0">
                  <a:solidFill>
                    <a:srgbClr val="000000"/>
                  </a:solidFill>
                  <a:ea typeface="+mn-ea"/>
                  <a:cs typeface="+mn-lt"/>
                </a:rPr>
                <a:t>Handle missing values and inconsistencies and converts data types and standardize columns</a:t>
              </a:r>
              <a:endParaRPr sz="13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57" name="Rectangle 56"/>
            <p:cNvSpPr/>
            <p:nvPr>
              <p:custDataLst>
                <p:tags r:id="rId26"/>
              </p:custDataLst>
            </p:nvPr>
          </p:nvSpPr>
          <p:spPr>
            <a:xfrm>
              <a:off x="7239000" y="4038600"/>
              <a:ext cx="1981200" cy="762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300" dirty="0">
                  <a:solidFill>
                    <a:srgbClr val="000000"/>
                  </a:solidFill>
                  <a:ea typeface="+mn-ea"/>
                  <a:cs typeface="+mn-lt"/>
                </a:rPr>
                <a:t>Store cleaned data in structured tables , Enables efficient querying and analysis</a:t>
              </a:r>
              <a:endParaRPr sz="13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58" name="Rectangle 57"/>
            <p:cNvSpPr/>
            <p:nvPr>
              <p:custDataLst>
                <p:tags r:id="rId27"/>
              </p:custDataLst>
            </p:nvPr>
          </p:nvSpPr>
          <p:spPr>
            <a:xfrm>
              <a:off x="9410700" y="4229100"/>
              <a:ext cx="1981200" cy="7620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300" dirty="0">
                  <a:solidFill>
                    <a:srgbClr val="000000"/>
                  </a:solidFill>
                  <a:ea typeface="+mn-ea"/>
                  <a:cs typeface="+mn-lt"/>
                </a:rPr>
                <a:t>Create interactive dashboards and KPIs by visualizing trends using charts, filters, and maps</a:t>
              </a:r>
              <a:endParaRPr sz="13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1DF53A39-EF8D-422C-EB58-97A0028DA51A}"/>
              </a:ext>
            </a:extLst>
          </p:cNvPr>
          <p:cNvGrpSpPr/>
          <p:nvPr/>
        </p:nvGrpSpPr>
        <p:grpSpPr>
          <a:xfrm>
            <a:off x="381000" y="275008"/>
            <a:ext cx="11429400" cy="5973392"/>
            <a:chOff x="381000" y="275008"/>
            <a:chExt cx="11429400" cy="5973392"/>
          </a:xfrm>
        </p:grpSpPr>
        <p:sp>
          <p:nvSpPr>
            <p:cNvPr id="6" name="Title 1"/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381000" y="275008"/>
              <a:ext cx="11429400" cy="78875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457200" rtl="0" eaLnBrk="1" latinLnBrk="0" hangingPunct="1">
                <a:defRPr sz="105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ct val="21875"/>
                </a:spcBef>
                <a:spcAft>
                  <a:spcPct val="21875"/>
                </a:spcAft>
              </a:pPr>
              <a:r>
                <a:rPr lang="en-US" sz="2200" b="1" dirty="0">
                  <a:solidFill>
                    <a:schemeClr val="tx1">
                      <a:lumMod val="95000"/>
                      <a:lumOff val="5000"/>
                      <a:alpha val="70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Dashboard &amp; Key Insights: </a:t>
              </a:r>
              <a:r>
                <a:rPr lang="en-GB" sz="2200" b="1" dirty="0">
                  <a:solidFill>
                    <a:schemeClr val="tx1">
                      <a:lumMod val="95000"/>
                      <a:lumOff val="5000"/>
                      <a:alpha val="70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Interactive dashboard provides insights into housing trends, pricing, and market distribution</a:t>
              </a:r>
              <a:endParaRPr lang="en-US" sz="2200" b="1" dirty="0">
                <a:solidFill>
                  <a:schemeClr val="tx1">
                    <a:lumMod val="95000"/>
                    <a:lumOff val="5000"/>
                    <a:alpha val="7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7" name="New shape"/>
            <p:cNvSpPr/>
            <p:nvPr>
              <p:custDataLst>
                <p:tags r:id="rId2"/>
              </p:custDataLst>
            </p:nvPr>
          </p:nvSpPr>
          <p:spPr>
            <a:xfrm>
              <a:off x="1143000" y="1371600"/>
              <a:ext cx="10287000" cy="1752600"/>
            </a:xfrm>
            <a:custGeom>
              <a:avLst/>
              <a:gdLst/>
              <a:ahLst/>
              <a:cxnLst/>
              <a:rect l="l" t="t" r="r" b="b"/>
              <a:pathLst>
                <a:path w="10287000" h="1752600">
                  <a:moveTo>
                    <a:pt x="0" y="0"/>
                  </a:moveTo>
                  <a:lnTo>
                    <a:pt x="10287000" y="0"/>
                  </a:lnTo>
                  <a:lnTo>
                    <a:pt x="1028700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7620" cmpd="sng">
              <a:solidFill>
                <a:srgbClr val="B0B0B0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" name="New shape"/>
            <p:cNvSpPr/>
            <p:nvPr>
              <p:custDataLst>
                <p:tags r:id="rId3"/>
              </p:custDataLst>
            </p:nvPr>
          </p:nvSpPr>
          <p:spPr>
            <a:xfrm>
              <a:off x="1143000" y="1828800"/>
              <a:ext cx="10287000" cy="0"/>
            </a:xfrm>
            <a:custGeom>
              <a:avLst/>
              <a:gdLst/>
              <a:ahLst/>
              <a:cxnLst/>
              <a:rect l="l" t="t" r="r" b="b"/>
              <a:pathLst>
                <a:path w="10287000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7620" cmpd="sng">
              <a:solidFill>
                <a:srgbClr val="B0B0B0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10" name="Group 9"/>
            <p:cNvGrpSpPr/>
            <p:nvPr>
              <p:custDataLst>
                <p:tags r:id="rId4"/>
              </p:custDataLst>
            </p:nvPr>
          </p:nvGrpSpPr>
          <p:grpSpPr>
            <a:xfrm>
              <a:off x="579390" y="1419407"/>
              <a:ext cx="365219" cy="361560"/>
              <a:chOff x="-55610" y="784407"/>
              <a:chExt cx="365219" cy="361560"/>
            </a:xfrm>
          </p:grpSpPr>
          <p:sp>
            <p:nvSpPr>
              <p:cNvPr id="18" name="New shape"/>
              <p:cNvSpPr/>
              <p:nvPr>
                <p:custDataLst>
                  <p:tags r:id="rId25"/>
                </p:custDataLst>
              </p:nvPr>
            </p:nvSpPr>
            <p:spPr>
              <a:xfrm>
                <a:off x="21178" y="923695"/>
                <a:ext cx="211669" cy="12445"/>
              </a:xfrm>
              <a:custGeom>
                <a:avLst/>
                <a:gdLst/>
                <a:ahLst/>
                <a:cxnLst/>
                <a:rect l="l" t="t" r="r" b="b"/>
                <a:pathLst>
                  <a:path w="211669" h="12445">
                    <a:moveTo>
                      <a:pt x="0" y="0"/>
                    </a:moveTo>
                    <a:lnTo>
                      <a:pt x="211669" y="0"/>
                    </a:lnTo>
                    <a:lnTo>
                      <a:pt x="211669" y="12445"/>
                    </a:lnTo>
                    <a:lnTo>
                      <a:pt x="0" y="12445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" name="New shape"/>
              <p:cNvSpPr/>
              <p:nvPr>
                <p:custDataLst>
                  <p:tags r:id="rId26"/>
                </p:custDataLst>
              </p:nvPr>
            </p:nvSpPr>
            <p:spPr>
              <a:xfrm>
                <a:off x="21178" y="994260"/>
                <a:ext cx="211669" cy="12445"/>
              </a:xfrm>
              <a:custGeom>
                <a:avLst/>
                <a:gdLst/>
                <a:ahLst/>
                <a:cxnLst/>
                <a:rect l="l" t="t" r="r" b="b"/>
                <a:pathLst>
                  <a:path w="211669" h="12445">
                    <a:moveTo>
                      <a:pt x="0" y="0"/>
                    </a:moveTo>
                    <a:lnTo>
                      <a:pt x="211669" y="0"/>
                    </a:lnTo>
                    <a:lnTo>
                      <a:pt x="211669" y="12445"/>
                    </a:lnTo>
                    <a:lnTo>
                      <a:pt x="0" y="12445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" name="New shape"/>
              <p:cNvSpPr/>
              <p:nvPr>
                <p:custDataLst>
                  <p:tags r:id="rId27"/>
                </p:custDataLst>
              </p:nvPr>
            </p:nvSpPr>
            <p:spPr>
              <a:xfrm>
                <a:off x="-55610" y="784407"/>
                <a:ext cx="365219" cy="361560"/>
              </a:xfrm>
              <a:custGeom>
                <a:avLst/>
                <a:gdLst/>
                <a:ahLst/>
                <a:cxnLst/>
                <a:rect l="l" t="t" r="r" b="b"/>
                <a:pathLst>
                  <a:path w="365219" h="361560">
                    <a:moveTo>
                      <a:pt x="208184" y="8811"/>
                    </a:moveTo>
                    <a:lnTo>
                      <a:pt x="199373" y="0"/>
                    </a:lnTo>
                    <a:lnTo>
                      <a:pt x="182622" y="16776"/>
                    </a:lnTo>
                    <a:lnTo>
                      <a:pt x="165845" y="0"/>
                    </a:lnTo>
                    <a:lnTo>
                      <a:pt x="157034" y="8811"/>
                    </a:lnTo>
                    <a:lnTo>
                      <a:pt x="167588" y="19340"/>
                    </a:lnTo>
                    <a:lnTo>
                      <a:pt x="0" y="19340"/>
                    </a:lnTo>
                    <a:lnTo>
                      <a:pt x="0" y="74099"/>
                    </a:lnTo>
                    <a:lnTo>
                      <a:pt x="14112" y="74099"/>
                    </a:lnTo>
                    <a:lnTo>
                      <a:pt x="14112" y="306950"/>
                    </a:lnTo>
                    <a:lnTo>
                      <a:pt x="167588" y="306950"/>
                    </a:lnTo>
                    <a:lnTo>
                      <a:pt x="121764" y="352749"/>
                    </a:lnTo>
                    <a:lnTo>
                      <a:pt x="130575" y="361560"/>
                    </a:lnTo>
                    <a:lnTo>
                      <a:pt x="182622" y="309514"/>
                    </a:lnTo>
                    <a:lnTo>
                      <a:pt x="234643" y="361560"/>
                    </a:lnTo>
                    <a:lnTo>
                      <a:pt x="243454" y="352749"/>
                    </a:lnTo>
                    <a:lnTo>
                      <a:pt x="197631" y="306950"/>
                    </a:lnTo>
                    <a:lnTo>
                      <a:pt x="351106" y="306950"/>
                    </a:lnTo>
                    <a:lnTo>
                      <a:pt x="351106" y="74124"/>
                    </a:lnTo>
                    <a:lnTo>
                      <a:pt x="365219" y="74124"/>
                    </a:lnTo>
                    <a:lnTo>
                      <a:pt x="365219" y="19364"/>
                    </a:lnTo>
                    <a:lnTo>
                      <a:pt x="197631" y="19364"/>
                    </a:lnTo>
                    <a:close/>
                    <a:moveTo>
                      <a:pt x="338661" y="294530"/>
                    </a:moveTo>
                    <a:lnTo>
                      <a:pt x="26558" y="294530"/>
                    </a:lnTo>
                    <a:lnTo>
                      <a:pt x="26558" y="74124"/>
                    </a:lnTo>
                    <a:lnTo>
                      <a:pt x="338661" y="74124"/>
                    </a:lnTo>
                    <a:close/>
                    <a:moveTo>
                      <a:pt x="352774" y="61678"/>
                    </a:moveTo>
                    <a:lnTo>
                      <a:pt x="12445" y="61678"/>
                    </a:lnTo>
                    <a:lnTo>
                      <a:pt x="12445" y="31810"/>
                    </a:lnTo>
                    <a:lnTo>
                      <a:pt x="352774" y="31810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22" name="Rectangle 21"/>
            <p:cNvSpPr/>
            <p:nvPr>
              <p:custDataLst>
                <p:tags r:id="rId5"/>
              </p:custDataLst>
            </p:nvPr>
          </p:nvSpPr>
          <p:spPr>
            <a:xfrm>
              <a:off x="1333500" y="1371600"/>
              <a:ext cx="9906000" cy="4572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Dashboard Features </a:t>
              </a:r>
            </a:p>
          </p:txBody>
        </p:sp>
        <p:sp>
          <p:nvSpPr>
            <p:cNvPr id="32" name="Rectangle 31"/>
            <p:cNvSpPr/>
            <p:nvPr>
              <p:custDataLst>
                <p:tags r:id="rId6"/>
              </p:custDataLst>
            </p:nvPr>
          </p:nvSpPr>
          <p:spPr>
            <a:xfrm>
              <a:off x="1447800" y="1943100"/>
              <a:ext cx="9791700" cy="11811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Developer, micro-market, and configuration filters for dynamic exploration  </a:t>
              </a:r>
            </a:p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Interactive charts for analyzing pricing, demand, and distribution  </a:t>
              </a:r>
            </a:p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KPI cards displaying total projects, average price, and amenity scores  </a:t>
              </a:r>
            </a:p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Map visualization showing geographic distribution of housing projects </a:t>
              </a:r>
              <a:endParaRPr sz="15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33" name="New shape"/>
            <p:cNvSpPr/>
            <p:nvPr>
              <p:custDataLst>
                <p:tags r:id="rId7"/>
              </p:custDataLst>
            </p:nvPr>
          </p:nvSpPr>
          <p:spPr>
            <a:xfrm>
              <a:off x="1143000" y="3352800"/>
              <a:ext cx="10287000" cy="1752600"/>
            </a:xfrm>
            <a:custGeom>
              <a:avLst/>
              <a:gdLst/>
              <a:ahLst/>
              <a:cxnLst/>
              <a:rect l="l" t="t" r="r" b="b"/>
              <a:pathLst>
                <a:path w="10287000" h="1752600">
                  <a:moveTo>
                    <a:pt x="0" y="0"/>
                  </a:moveTo>
                  <a:lnTo>
                    <a:pt x="10287000" y="0"/>
                  </a:lnTo>
                  <a:lnTo>
                    <a:pt x="10287000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7620" cmpd="sng">
              <a:solidFill>
                <a:srgbClr val="B0B0B0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2" name="New shape"/>
            <p:cNvSpPr/>
            <p:nvPr>
              <p:custDataLst>
                <p:tags r:id="rId8"/>
              </p:custDataLst>
            </p:nvPr>
          </p:nvSpPr>
          <p:spPr>
            <a:xfrm>
              <a:off x="1143000" y="3810000"/>
              <a:ext cx="10287000" cy="0"/>
            </a:xfrm>
            <a:custGeom>
              <a:avLst/>
              <a:gdLst/>
              <a:ahLst/>
              <a:cxnLst/>
              <a:rect l="l" t="t" r="r" b="b"/>
              <a:pathLst>
                <a:path w="10287000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7620" cmpd="sng">
              <a:solidFill>
                <a:srgbClr val="B0B0B0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43" name="Group 42"/>
            <p:cNvGrpSpPr/>
            <p:nvPr>
              <p:custDataLst>
                <p:tags r:id="rId9"/>
              </p:custDataLst>
            </p:nvPr>
          </p:nvGrpSpPr>
          <p:grpSpPr>
            <a:xfrm>
              <a:off x="631031" y="3390900"/>
              <a:ext cx="245864" cy="381000"/>
              <a:chOff x="-3969" y="2755900"/>
              <a:chExt cx="245864" cy="381000"/>
            </a:xfrm>
          </p:grpSpPr>
          <p:sp>
            <p:nvSpPr>
              <p:cNvPr id="44" name="New shape"/>
              <p:cNvSpPr/>
              <p:nvPr>
                <p:custDataLst>
                  <p:tags r:id="rId20"/>
                </p:custDataLst>
              </p:nvPr>
            </p:nvSpPr>
            <p:spPr>
              <a:xfrm>
                <a:off x="-3969" y="2817812"/>
                <a:ext cx="245864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245862" h="319087">
                    <a:moveTo>
                      <a:pt x="245864" y="122634"/>
                    </a:moveTo>
                    <a:cubicBezTo>
                      <a:pt x="245864" y="54768"/>
                      <a:pt x="191095" y="0"/>
                      <a:pt x="123229" y="0"/>
                    </a:cubicBezTo>
                    <a:cubicBezTo>
                      <a:pt x="54768" y="-595"/>
                      <a:pt x="0" y="54768"/>
                      <a:pt x="0" y="122634"/>
                    </a:cubicBezTo>
                    <a:cubicBezTo>
                      <a:pt x="0" y="167878"/>
                      <a:pt x="25003" y="207764"/>
                      <a:pt x="61317" y="229195"/>
                    </a:cubicBezTo>
                    <a:lnTo>
                      <a:pt x="61317" y="254793"/>
                    </a:lnTo>
                    <a:cubicBezTo>
                      <a:pt x="61317" y="290512"/>
                      <a:pt x="90487" y="319087"/>
                      <a:pt x="125610" y="319087"/>
                    </a:cubicBezTo>
                    <a:cubicBezTo>
                      <a:pt x="161329" y="319087"/>
                      <a:pt x="189904" y="289917"/>
                      <a:pt x="189904" y="254793"/>
                    </a:cubicBezTo>
                    <a:lnTo>
                      <a:pt x="189904" y="228004"/>
                    </a:lnTo>
                    <a:cubicBezTo>
                      <a:pt x="223837" y="205382"/>
                      <a:pt x="245864" y="165496"/>
                      <a:pt x="245864" y="122634"/>
                    </a:cubicBezTo>
                    <a:close/>
                    <a:moveTo>
                      <a:pt x="177998" y="235148"/>
                    </a:moveTo>
                    <a:lnTo>
                      <a:pt x="177998" y="254793"/>
                    </a:lnTo>
                    <a:cubicBezTo>
                      <a:pt x="177998" y="255984"/>
                      <a:pt x="177998" y="256579"/>
                      <a:pt x="177998" y="257770"/>
                    </a:cubicBezTo>
                    <a:lnTo>
                      <a:pt x="73818" y="257770"/>
                    </a:lnTo>
                    <a:cubicBezTo>
                      <a:pt x="73818" y="256579"/>
                      <a:pt x="73818" y="255984"/>
                      <a:pt x="73818" y="254793"/>
                    </a:cubicBezTo>
                    <a:lnTo>
                      <a:pt x="73818" y="235148"/>
                    </a:lnTo>
                    <a:lnTo>
                      <a:pt x="73818" y="233362"/>
                    </a:lnTo>
                    <a:lnTo>
                      <a:pt x="177998" y="233362"/>
                    </a:lnTo>
                    <a:lnTo>
                      <a:pt x="177998" y="235148"/>
                    </a:lnTo>
                    <a:cubicBezTo>
                      <a:pt x="177998" y="235148"/>
                      <a:pt x="177998" y="235148"/>
                      <a:pt x="177998" y="235148"/>
                    </a:cubicBezTo>
                    <a:close/>
                    <a:moveTo>
                      <a:pt x="126206" y="306585"/>
                    </a:moveTo>
                    <a:cubicBezTo>
                      <a:pt x="102989" y="306585"/>
                      <a:pt x="82748" y="291107"/>
                      <a:pt x="76200" y="269676"/>
                    </a:cubicBezTo>
                    <a:lnTo>
                      <a:pt x="176212" y="269676"/>
                    </a:lnTo>
                    <a:cubicBezTo>
                      <a:pt x="169068" y="291107"/>
                      <a:pt x="149423" y="306585"/>
                      <a:pt x="126206" y="306585"/>
                    </a:cubicBezTo>
                    <a:close/>
                    <a:moveTo>
                      <a:pt x="178593" y="220860"/>
                    </a:moveTo>
                    <a:lnTo>
                      <a:pt x="178593" y="220860"/>
                    </a:lnTo>
                    <a:lnTo>
                      <a:pt x="72628" y="220860"/>
                    </a:lnTo>
                    <a:cubicBezTo>
                      <a:pt x="36909" y="202406"/>
                      <a:pt x="12501" y="165496"/>
                      <a:pt x="12501" y="122634"/>
                    </a:cubicBezTo>
                    <a:cubicBezTo>
                      <a:pt x="12501" y="61317"/>
                      <a:pt x="61912" y="11906"/>
                      <a:pt x="123229" y="11906"/>
                    </a:cubicBezTo>
                    <a:cubicBezTo>
                      <a:pt x="184546" y="11906"/>
                      <a:pt x="233362" y="61317"/>
                      <a:pt x="233362" y="122634"/>
                    </a:cubicBezTo>
                    <a:cubicBezTo>
                      <a:pt x="233362" y="163115"/>
                      <a:pt x="211335" y="201810"/>
                      <a:pt x="178593" y="22086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5" name="New shape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2712" y="2755900"/>
                <a:ext cx="11906" cy="49411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49410">
                    <a:moveTo>
                      <a:pt x="5953" y="49410"/>
                    </a:moveTo>
                    <a:cubicBezTo>
                      <a:pt x="9525" y="49410"/>
                      <a:pt x="11906" y="46434"/>
                      <a:pt x="11906" y="43457"/>
                    </a:cubicBezTo>
                    <a:lnTo>
                      <a:pt x="11906" y="5953"/>
                    </a:lnTo>
                    <a:cubicBezTo>
                      <a:pt x="11906" y="2381"/>
                      <a:pt x="8929" y="0"/>
                      <a:pt x="5953" y="0"/>
                    </a:cubicBezTo>
                    <a:cubicBezTo>
                      <a:pt x="2381" y="0"/>
                      <a:pt x="0" y="2976"/>
                      <a:pt x="0" y="5953"/>
                    </a:cubicBezTo>
                    <a:lnTo>
                      <a:pt x="0" y="42862"/>
                    </a:lnTo>
                    <a:cubicBezTo>
                      <a:pt x="0" y="46434"/>
                      <a:pt x="2976" y="49410"/>
                      <a:pt x="5953" y="4941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6" name="New shape"/>
              <p:cNvSpPr/>
              <p:nvPr>
                <p:custDataLst>
                  <p:tags r:id="rId22"/>
                </p:custDataLst>
              </p:nvPr>
            </p:nvSpPr>
            <p:spPr>
              <a:xfrm>
                <a:off x="171648" y="2765425"/>
                <a:ext cx="29170" cy="42267"/>
              </a:xfrm>
              <a:custGeom>
                <a:avLst/>
                <a:gdLst/>
                <a:ahLst/>
                <a:cxnLst/>
                <a:rect l="l" t="t" r="r" b="b"/>
                <a:pathLst>
                  <a:path w="29170" h="42267">
                    <a:moveTo>
                      <a:pt x="2381" y="42267"/>
                    </a:moveTo>
                    <a:cubicBezTo>
                      <a:pt x="5357" y="44053"/>
                      <a:pt x="8929" y="42862"/>
                      <a:pt x="10715" y="39885"/>
                    </a:cubicBezTo>
                    <a:lnTo>
                      <a:pt x="29170" y="8334"/>
                    </a:lnTo>
                    <a:cubicBezTo>
                      <a:pt x="30956" y="5357"/>
                      <a:pt x="29765" y="1785"/>
                      <a:pt x="26789" y="0"/>
                    </a:cubicBezTo>
                    <a:cubicBezTo>
                      <a:pt x="23812" y="-1785"/>
                      <a:pt x="20240" y="-595"/>
                      <a:pt x="18454" y="2381"/>
                    </a:cubicBezTo>
                    <a:lnTo>
                      <a:pt x="0" y="34528"/>
                    </a:lnTo>
                    <a:cubicBezTo>
                      <a:pt x="-1190" y="36909"/>
                      <a:pt x="-595" y="41076"/>
                      <a:pt x="2381" y="42267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7" name="New shape"/>
              <p:cNvSpPr/>
              <p:nvPr>
                <p:custDataLst>
                  <p:tags r:id="rId23"/>
                </p:custDataLst>
              </p:nvPr>
            </p:nvSpPr>
            <p:spPr>
              <a:xfrm>
                <a:off x="36512" y="2765425"/>
                <a:ext cx="2917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29170" h="42862">
                    <a:moveTo>
                      <a:pt x="18454" y="40481"/>
                    </a:moveTo>
                    <a:cubicBezTo>
                      <a:pt x="20240" y="43457"/>
                      <a:pt x="23812" y="44648"/>
                      <a:pt x="26789" y="42862"/>
                    </a:cubicBezTo>
                    <a:cubicBezTo>
                      <a:pt x="29765" y="41076"/>
                      <a:pt x="30956" y="37504"/>
                      <a:pt x="29170" y="34528"/>
                    </a:cubicBezTo>
                    <a:lnTo>
                      <a:pt x="10715" y="2381"/>
                    </a:lnTo>
                    <a:cubicBezTo>
                      <a:pt x="8929" y="-595"/>
                      <a:pt x="5357" y="-1785"/>
                      <a:pt x="2381" y="0"/>
                    </a:cubicBezTo>
                    <a:cubicBezTo>
                      <a:pt x="-595" y="1785"/>
                      <a:pt x="-1785" y="5357"/>
                      <a:pt x="0" y="8334"/>
                    </a:cubicBezTo>
                    <a:lnTo>
                      <a:pt x="18454" y="40481"/>
                    </a:ln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8" name="New shape"/>
              <p:cNvSpPr/>
              <p:nvPr>
                <p:custDataLst>
                  <p:tags r:id="rId24"/>
                </p:custDataLst>
              </p:nvPr>
            </p:nvSpPr>
            <p:spPr>
              <a:xfrm>
                <a:off x="32941" y="2848173"/>
                <a:ext cx="79177" cy="86320"/>
              </a:xfrm>
              <a:custGeom>
                <a:avLst/>
                <a:gdLst/>
                <a:ahLst/>
                <a:cxnLst/>
                <a:rect l="l" t="t" r="r" b="b"/>
                <a:pathLst>
                  <a:path w="79176" h="86320">
                    <a:moveTo>
                      <a:pt x="73818" y="0"/>
                    </a:moveTo>
                    <a:cubicBezTo>
                      <a:pt x="33337" y="0"/>
                      <a:pt x="0" y="32742"/>
                      <a:pt x="0" y="73818"/>
                    </a:cubicBezTo>
                    <a:cubicBezTo>
                      <a:pt x="0" y="77985"/>
                      <a:pt x="0" y="79771"/>
                      <a:pt x="0" y="80367"/>
                    </a:cubicBezTo>
                    <a:cubicBezTo>
                      <a:pt x="0" y="83939"/>
                      <a:pt x="2976" y="86320"/>
                      <a:pt x="5953" y="86320"/>
                    </a:cubicBezTo>
                    <a:cubicBezTo>
                      <a:pt x="9525" y="86320"/>
                      <a:pt x="11906" y="83343"/>
                      <a:pt x="11906" y="80367"/>
                    </a:cubicBezTo>
                    <a:cubicBezTo>
                      <a:pt x="11906" y="79771"/>
                      <a:pt x="11906" y="77985"/>
                      <a:pt x="11906" y="73818"/>
                    </a:cubicBezTo>
                    <a:cubicBezTo>
                      <a:pt x="11906" y="39885"/>
                      <a:pt x="39290" y="12501"/>
                      <a:pt x="73223" y="12501"/>
                    </a:cubicBezTo>
                    <a:cubicBezTo>
                      <a:pt x="76795" y="12501"/>
                      <a:pt x="79176" y="9525"/>
                      <a:pt x="79176" y="6548"/>
                    </a:cubicBezTo>
                    <a:cubicBezTo>
                      <a:pt x="79176" y="3571"/>
                      <a:pt x="77390" y="0"/>
                      <a:pt x="73818" y="0"/>
                    </a:cubicBezTo>
                    <a:close/>
                  </a:path>
                </a:pathLst>
              </a:custGeom>
              <a:solidFill>
                <a:srgbClr val="059669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49" name="Rectangle 48"/>
            <p:cNvSpPr/>
            <p:nvPr>
              <p:custDataLst>
                <p:tags r:id="rId10"/>
              </p:custDataLst>
            </p:nvPr>
          </p:nvSpPr>
          <p:spPr>
            <a:xfrm>
              <a:off x="1333500" y="3352800"/>
              <a:ext cx="9906000" cy="4572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Key Insights </a:t>
              </a:r>
            </a:p>
          </p:txBody>
        </p:sp>
        <p:sp>
          <p:nvSpPr>
            <p:cNvPr id="50" name="Rectangle 49"/>
            <p:cNvSpPr/>
            <p:nvPr>
              <p:custDataLst>
                <p:tags r:id="rId11"/>
              </p:custDataLst>
            </p:nvPr>
          </p:nvSpPr>
          <p:spPr>
            <a:xfrm>
              <a:off x="1447800" y="3924300"/>
              <a:ext cx="9791700" cy="11811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Certain developers dominate the luxury housing market in Bengaluru  </a:t>
              </a:r>
            </a:p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High demand observed for 3BHK and 4BHK configurations  </a:t>
              </a:r>
            </a:p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Some micro-markets show higher concentration of housing projects  </a:t>
              </a:r>
            </a:p>
            <a:p>
              <a:pPr marL="0" lvl="1"/>
              <a:r>
                <a:rPr lang="en-GB" sz="1500" b="1" dirty="0">
                  <a:solidFill>
                    <a:srgbClr val="000000"/>
                  </a:solidFill>
                  <a:ea typeface="+mn-ea"/>
                  <a:cs typeface="+mn-lt"/>
                </a:rPr>
                <a:t>• Buyer segmentation includes CXO, HNI, NRI, and other categories </a:t>
              </a:r>
              <a:endParaRPr sz="150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51" name="New shape"/>
            <p:cNvSpPr/>
            <p:nvPr>
              <p:custDataLst>
                <p:tags r:id="rId12"/>
              </p:custDataLst>
            </p:nvPr>
          </p:nvSpPr>
          <p:spPr>
            <a:xfrm>
              <a:off x="533400" y="5334000"/>
              <a:ext cx="10896600" cy="914400"/>
            </a:xfrm>
            <a:custGeom>
              <a:avLst/>
              <a:gdLst/>
              <a:ahLst/>
              <a:cxnLst/>
              <a:rect l="l" t="t" r="r" b="b"/>
              <a:pathLst>
                <a:path w="10896600" h="914400">
                  <a:moveTo>
                    <a:pt x="60959" y="0"/>
                  </a:moveTo>
                  <a:lnTo>
                    <a:pt x="10835640" y="0"/>
                  </a:lnTo>
                  <a:cubicBezTo>
                    <a:pt x="10869308" y="0"/>
                    <a:pt x="10896600" y="27292"/>
                    <a:pt x="10896600" y="60960"/>
                  </a:cubicBezTo>
                  <a:lnTo>
                    <a:pt x="10896600" y="853440"/>
                  </a:lnTo>
                  <a:cubicBezTo>
                    <a:pt x="10896600" y="887107"/>
                    <a:pt x="10869308" y="914400"/>
                    <a:pt x="10835640" y="914400"/>
                  </a:cubicBezTo>
                  <a:lnTo>
                    <a:pt x="60959" y="914400"/>
                  </a:lnTo>
                  <a:cubicBezTo>
                    <a:pt x="27292" y="914400"/>
                    <a:pt x="0" y="887107"/>
                    <a:pt x="0" y="853440"/>
                  </a:cubicBezTo>
                  <a:lnTo>
                    <a:pt x="0" y="60960"/>
                  </a:lnTo>
                  <a:cubicBezTo>
                    <a:pt x="0" y="27292"/>
                    <a:pt x="27292" y="0"/>
                    <a:pt x="60959" y="0"/>
                  </a:cubicBez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52" name="Group 51"/>
            <p:cNvGrpSpPr/>
            <p:nvPr>
              <p:custDataLst>
                <p:tags r:id="rId13"/>
              </p:custDataLst>
            </p:nvPr>
          </p:nvGrpSpPr>
          <p:grpSpPr>
            <a:xfrm>
              <a:off x="821531" y="5600700"/>
              <a:ext cx="245864" cy="381000"/>
              <a:chOff x="186531" y="4965700"/>
              <a:chExt cx="245864" cy="381000"/>
            </a:xfrm>
          </p:grpSpPr>
          <p:sp>
            <p:nvSpPr>
              <p:cNvPr id="53" name="New shape"/>
              <p:cNvSpPr/>
              <p:nvPr>
                <p:custDataLst>
                  <p:tags r:id="rId15"/>
                </p:custDataLst>
              </p:nvPr>
            </p:nvSpPr>
            <p:spPr>
              <a:xfrm>
                <a:off x="186531" y="5027612"/>
                <a:ext cx="245864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245862" h="319087">
                    <a:moveTo>
                      <a:pt x="245864" y="122634"/>
                    </a:moveTo>
                    <a:cubicBezTo>
                      <a:pt x="245864" y="54768"/>
                      <a:pt x="191095" y="0"/>
                      <a:pt x="123229" y="0"/>
                    </a:cubicBezTo>
                    <a:cubicBezTo>
                      <a:pt x="54768" y="-595"/>
                      <a:pt x="0" y="54768"/>
                      <a:pt x="0" y="122634"/>
                    </a:cubicBezTo>
                    <a:cubicBezTo>
                      <a:pt x="0" y="167878"/>
                      <a:pt x="25003" y="207764"/>
                      <a:pt x="61317" y="229195"/>
                    </a:cubicBezTo>
                    <a:lnTo>
                      <a:pt x="61317" y="254793"/>
                    </a:lnTo>
                    <a:cubicBezTo>
                      <a:pt x="61317" y="290512"/>
                      <a:pt x="90487" y="319087"/>
                      <a:pt x="125610" y="319087"/>
                    </a:cubicBezTo>
                    <a:cubicBezTo>
                      <a:pt x="161329" y="319087"/>
                      <a:pt x="189904" y="289917"/>
                      <a:pt x="189904" y="254793"/>
                    </a:cubicBezTo>
                    <a:lnTo>
                      <a:pt x="189904" y="228004"/>
                    </a:lnTo>
                    <a:cubicBezTo>
                      <a:pt x="223837" y="205382"/>
                      <a:pt x="245864" y="165496"/>
                      <a:pt x="245864" y="122634"/>
                    </a:cubicBezTo>
                    <a:close/>
                    <a:moveTo>
                      <a:pt x="177998" y="235148"/>
                    </a:moveTo>
                    <a:lnTo>
                      <a:pt x="177998" y="254793"/>
                    </a:lnTo>
                    <a:cubicBezTo>
                      <a:pt x="177998" y="255984"/>
                      <a:pt x="177998" y="256579"/>
                      <a:pt x="177998" y="257770"/>
                    </a:cubicBezTo>
                    <a:lnTo>
                      <a:pt x="73818" y="257770"/>
                    </a:lnTo>
                    <a:cubicBezTo>
                      <a:pt x="73818" y="256579"/>
                      <a:pt x="73818" y="255984"/>
                      <a:pt x="73818" y="254793"/>
                    </a:cubicBezTo>
                    <a:lnTo>
                      <a:pt x="73818" y="235148"/>
                    </a:lnTo>
                    <a:lnTo>
                      <a:pt x="73818" y="233362"/>
                    </a:lnTo>
                    <a:lnTo>
                      <a:pt x="177998" y="233362"/>
                    </a:lnTo>
                    <a:lnTo>
                      <a:pt x="177998" y="235148"/>
                    </a:lnTo>
                    <a:cubicBezTo>
                      <a:pt x="177998" y="235148"/>
                      <a:pt x="177998" y="235148"/>
                      <a:pt x="177998" y="235148"/>
                    </a:cubicBezTo>
                    <a:close/>
                    <a:moveTo>
                      <a:pt x="126206" y="306585"/>
                    </a:moveTo>
                    <a:cubicBezTo>
                      <a:pt x="102989" y="306585"/>
                      <a:pt x="82748" y="291107"/>
                      <a:pt x="76200" y="269676"/>
                    </a:cubicBezTo>
                    <a:lnTo>
                      <a:pt x="176212" y="269676"/>
                    </a:lnTo>
                    <a:cubicBezTo>
                      <a:pt x="169068" y="291107"/>
                      <a:pt x="149423" y="306585"/>
                      <a:pt x="126206" y="306585"/>
                    </a:cubicBezTo>
                    <a:close/>
                    <a:moveTo>
                      <a:pt x="178593" y="220860"/>
                    </a:moveTo>
                    <a:lnTo>
                      <a:pt x="178593" y="220860"/>
                    </a:lnTo>
                    <a:lnTo>
                      <a:pt x="72628" y="220860"/>
                    </a:lnTo>
                    <a:cubicBezTo>
                      <a:pt x="36909" y="202406"/>
                      <a:pt x="12501" y="165496"/>
                      <a:pt x="12501" y="122634"/>
                    </a:cubicBezTo>
                    <a:cubicBezTo>
                      <a:pt x="12501" y="61317"/>
                      <a:pt x="61912" y="11906"/>
                      <a:pt x="123229" y="11906"/>
                    </a:cubicBezTo>
                    <a:cubicBezTo>
                      <a:pt x="184546" y="11906"/>
                      <a:pt x="233362" y="61317"/>
                      <a:pt x="233362" y="122634"/>
                    </a:cubicBezTo>
                    <a:cubicBezTo>
                      <a:pt x="233362" y="163115"/>
                      <a:pt x="211335" y="201810"/>
                      <a:pt x="178593" y="22086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54" name="New shape"/>
              <p:cNvSpPr/>
              <p:nvPr>
                <p:custDataLst>
                  <p:tags r:id="rId16"/>
                </p:custDataLst>
              </p:nvPr>
            </p:nvSpPr>
            <p:spPr>
              <a:xfrm>
                <a:off x="303212" y="4965700"/>
                <a:ext cx="11906" cy="49411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49410">
                    <a:moveTo>
                      <a:pt x="5953" y="49410"/>
                    </a:moveTo>
                    <a:cubicBezTo>
                      <a:pt x="9525" y="49410"/>
                      <a:pt x="11906" y="46434"/>
                      <a:pt x="11906" y="43457"/>
                    </a:cubicBezTo>
                    <a:lnTo>
                      <a:pt x="11906" y="5953"/>
                    </a:lnTo>
                    <a:cubicBezTo>
                      <a:pt x="11906" y="2381"/>
                      <a:pt x="8929" y="0"/>
                      <a:pt x="5953" y="0"/>
                    </a:cubicBezTo>
                    <a:cubicBezTo>
                      <a:pt x="2381" y="0"/>
                      <a:pt x="0" y="2976"/>
                      <a:pt x="0" y="5953"/>
                    </a:cubicBezTo>
                    <a:lnTo>
                      <a:pt x="0" y="42862"/>
                    </a:lnTo>
                    <a:cubicBezTo>
                      <a:pt x="0" y="46434"/>
                      <a:pt x="2976" y="49410"/>
                      <a:pt x="5953" y="494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55" name="New shape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2148" y="4975225"/>
                <a:ext cx="29170" cy="42267"/>
              </a:xfrm>
              <a:custGeom>
                <a:avLst/>
                <a:gdLst/>
                <a:ahLst/>
                <a:cxnLst/>
                <a:rect l="l" t="t" r="r" b="b"/>
                <a:pathLst>
                  <a:path w="29170" h="42267">
                    <a:moveTo>
                      <a:pt x="2381" y="42267"/>
                    </a:moveTo>
                    <a:cubicBezTo>
                      <a:pt x="5357" y="44053"/>
                      <a:pt x="8929" y="42862"/>
                      <a:pt x="10715" y="39885"/>
                    </a:cubicBezTo>
                    <a:lnTo>
                      <a:pt x="29170" y="8334"/>
                    </a:lnTo>
                    <a:cubicBezTo>
                      <a:pt x="30956" y="5357"/>
                      <a:pt x="29765" y="1785"/>
                      <a:pt x="26789" y="0"/>
                    </a:cubicBezTo>
                    <a:cubicBezTo>
                      <a:pt x="23812" y="-1785"/>
                      <a:pt x="20240" y="-595"/>
                      <a:pt x="18454" y="2381"/>
                    </a:cubicBezTo>
                    <a:lnTo>
                      <a:pt x="0" y="34528"/>
                    </a:lnTo>
                    <a:cubicBezTo>
                      <a:pt x="-1190" y="36909"/>
                      <a:pt x="-595" y="41076"/>
                      <a:pt x="2381" y="4226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56" name="New shape"/>
              <p:cNvSpPr/>
              <p:nvPr>
                <p:custDataLst>
                  <p:tags r:id="rId18"/>
                </p:custDataLst>
              </p:nvPr>
            </p:nvSpPr>
            <p:spPr>
              <a:xfrm>
                <a:off x="227012" y="4975225"/>
                <a:ext cx="2917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29170" h="42862">
                    <a:moveTo>
                      <a:pt x="18454" y="40481"/>
                    </a:moveTo>
                    <a:cubicBezTo>
                      <a:pt x="20240" y="43457"/>
                      <a:pt x="23812" y="44648"/>
                      <a:pt x="26789" y="42862"/>
                    </a:cubicBezTo>
                    <a:cubicBezTo>
                      <a:pt x="29765" y="41076"/>
                      <a:pt x="30956" y="37504"/>
                      <a:pt x="29170" y="34528"/>
                    </a:cubicBezTo>
                    <a:lnTo>
                      <a:pt x="10715" y="2381"/>
                    </a:lnTo>
                    <a:cubicBezTo>
                      <a:pt x="8929" y="-595"/>
                      <a:pt x="5357" y="-1785"/>
                      <a:pt x="2381" y="0"/>
                    </a:cubicBezTo>
                    <a:cubicBezTo>
                      <a:pt x="-595" y="1785"/>
                      <a:pt x="-1785" y="5357"/>
                      <a:pt x="0" y="8334"/>
                    </a:cubicBezTo>
                    <a:lnTo>
                      <a:pt x="18454" y="40481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57" name="New shape"/>
              <p:cNvSpPr/>
              <p:nvPr>
                <p:custDataLst>
                  <p:tags r:id="rId19"/>
                </p:custDataLst>
              </p:nvPr>
            </p:nvSpPr>
            <p:spPr>
              <a:xfrm>
                <a:off x="223441" y="5057973"/>
                <a:ext cx="79177" cy="86320"/>
              </a:xfrm>
              <a:custGeom>
                <a:avLst/>
                <a:gdLst/>
                <a:ahLst/>
                <a:cxnLst/>
                <a:rect l="l" t="t" r="r" b="b"/>
                <a:pathLst>
                  <a:path w="79176" h="86320">
                    <a:moveTo>
                      <a:pt x="73818" y="0"/>
                    </a:moveTo>
                    <a:cubicBezTo>
                      <a:pt x="33337" y="0"/>
                      <a:pt x="0" y="32742"/>
                      <a:pt x="0" y="73818"/>
                    </a:cubicBezTo>
                    <a:cubicBezTo>
                      <a:pt x="0" y="77985"/>
                      <a:pt x="0" y="79771"/>
                      <a:pt x="0" y="80367"/>
                    </a:cubicBezTo>
                    <a:cubicBezTo>
                      <a:pt x="0" y="83939"/>
                      <a:pt x="2976" y="86320"/>
                      <a:pt x="5953" y="86320"/>
                    </a:cubicBezTo>
                    <a:cubicBezTo>
                      <a:pt x="9525" y="86320"/>
                      <a:pt x="11906" y="83343"/>
                      <a:pt x="11906" y="80367"/>
                    </a:cubicBezTo>
                    <a:cubicBezTo>
                      <a:pt x="11906" y="79771"/>
                      <a:pt x="11906" y="77985"/>
                      <a:pt x="11906" y="73818"/>
                    </a:cubicBezTo>
                    <a:cubicBezTo>
                      <a:pt x="11906" y="39885"/>
                      <a:pt x="39290" y="12501"/>
                      <a:pt x="73223" y="12501"/>
                    </a:cubicBezTo>
                    <a:cubicBezTo>
                      <a:pt x="76795" y="12501"/>
                      <a:pt x="79176" y="9525"/>
                      <a:pt x="79176" y="6548"/>
                    </a:cubicBezTo>
                    <a:cubicBezTo>
                      <a:pt x="79176" y="3571"/>
                      <a:pt x="77390" y="0"/>
                      <a:pt x="73818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58" name="Rectangle 57"/>
            <p:cNvSpPr/>
            <p:nvPr>
              <p:custDataLst>
                <p:tags r:id="rId14"/>
              </p:custDataLst>
            </p:nvPr>
          </p:nvSpPr>
          <p:spPr>
            <a:xfrm>
              <a:off x="1371600" y="5334000"/>
              <a:ext cx="9829800" cy="914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dirty="0">
                  <a:solidFill>
                    <a:srgbClr val="FFFFFF"/>
                  </a:solidFill>
                  <a:ea typeface="+mn-ea"/>
                  <a:cs typeface="+mn-lt"/>
                </a:rPr>
                <a:t>The dashboard transforms complex housing data into actionable insights, enabling intuitive exploration of Bengaluru’s luxury housing market across multiple dimensions.</a:t>
              </a:r>
              <a:endParaRPr sz="1600" dirty="0">
                <a:solidFill>
                  <a:srgbClr val="FFFFFF"/>
                </a:solidFill>
                <a:latin typeface="+mn-lt"/>
                <a:ea typeface="+mn-ea"/>
                <a:cs typeface="+mn-l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1A7F-DF15-ABC5-9078-516E7CE2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BAB1-77CD-3772-F62D-F382EFA32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3200400" cy="553212"/>
          </a:xfrm>
        </p:spPr>
        <p:txBody>
          <a:bodyPr>
            <a:normAutofit fontScale="90000"/>
          </a:bodyPr>
          <a:lstStyle/>
          <a:p>
            <a:r>
              <a:rPr lang="en-GB" dirty="0"/>
              <a:t>Dashboard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1D10F-18C4-36F1-D4DA-AEC809A7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43000"/>
            <a:ext cx="891540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2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8E1B2AB8-F7DE-11FA-D851-024D7D8ED026}"/>
              </a:ext>
            </a:extLst>
          </p:cNvPr>
          <p:cNvGrpSpPr/>
          <p:nvPr/>
        </p:nvGrpSpPr>
        <p:grpSpPr>
          <a:xfrm>
            <a:off x="381000" y="275008"/>
            <a:ext cx="11429400" cy="6049592"/>
            <a:chOff x="381000" y="275008"/>
            <a:chExt cx="11429400" cy="6049592"/>
          </a:xfrm>
        </p:grpSpPr>
        <p:sp>
          <p:nvSpPr>
            <p:cNvPr id="6" name="Title 1"/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381000" y="275008"/>
              <a:ext cx="11429400" cy="78875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457200" rtl="0" eaLnBrk="1" latinLnBrk="0" hangingPunct="1">
                <a:defRPr sz="105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ct val="21875"/>
                </a:spcBef>
                <a:spcAft>
                  <a:spcPct val="21875"/>
                </a:spcAft>
              </a:pPr>
              <a:r>
                <a:rPr lang="en-US" sz="2200" dirty="0">
                  <a:latin typeface="+mj-lt"/>
                  <a:ea typeface="+mj-ea"/>
                  <a:cs typeface="+mj-lt"/>
                </a:rPr>
                <a:t>Challenges &amp; Conclusion: </a:t>
              </a:r>
              <a:r>
                <a:rPr lang="en-GB" sz="2200" dirty="0">
                  <a:latin typeface="+mj-lt"/>
                  <a:ea typeface="+mj-ea"/>
                  <a:cs typeface="+mj-lt"/>
                </a:rPr>
                <a:t>Overcoming data challenges to deliver a scalable housing analytics solution</a:t>
              </a:r>
              <a:endParaRPr lang="en-US" sz="2200" dirty="0">
                <a:latin typeface="+mj-lt"/>
                <a:ea typeface="+mj-ea"/>
                <a:cs typeface="+mj-lt"/>
              </a:endParaRPr>
            </a:p>
          </p:txBody>
        </p:sp>
        <p:sp>
          <p:nvSpPr>
            <p:cNvPr id="7" name="New shape"/>
            <p:cNvSpPr/>
            <p:nvPr>
              <p:custDataLst>
                <p:tags r:id="rId2"/>
              </p:custDataLst>
            </p:nvPr>
          </p:nvSpPr>
          <p:spPr>
            <a:xfrm>
              <a:off x="2171700" y="1409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cubicBezTo>
                    <a:pt x="0" y="413994"/>
                    <a:pt x="119405" y="533400"/>
                    <a:pt x="266700" y="533400"/>
                  </a:cubicBezTo>
                  <a:cubicBezTo>
                    <a:pt x="413994" y="533400"/>
                    <a:pt x="533400" y="413994"/>
                    <a:pt x="533400" y="266700"/>
                  </a:cubicBezTo>
                  <a:cubicBezTo>
                    <a:pt x="533400" y="119405"/>
                    <a:pt x="413994" y="0"/>
                    <a:pt x="266700" y="0"/>
                  </a:cubicBezTo>
                  <a:cubicBezTo>
                    <a:pt x="119405" y="0"/>
                    <a:pt x="0" y="119405"/>
                    <a:pt x="0" y="266700"/>
                  </a:cubicBezTo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" name="Rectangle 10"/>
            <p:cNvSpPr/>
            <p:nvPr>
              <p:custDataLst>
                <p:tags r:id="rId3"/>
              </p:custDataLst>
            </p:nvPr>
          </p:nvSpPr>
          <p:spPr>
            <a:xfrm>
              <a:off x="2171700" y="1409700"/>
              <a:ext cx="533400" cy="533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90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1</a:t>
              </a:r>
            </a:p>
          </p:txBody>
        </p:sp>
        <p:sp>
          <p:nvSpPr>
            <p:cNvPr id="12" name="Rectangle 11"/>
            <p:cNvSpPr/>
            <p:nvPr>
              <p:custDataLst>
                <p:tags r:id="rId4"/>
              </p:custDataLst>
            </p:nvPr>
          </p:nvSpPr>
          <p:spPr>
            <a:xfrm>
              <a:off x="762000" y="2095500"/>
              <a:ext cx="3352800" cy="3810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Challenges Faced</a:t>
              </a:r>
            </a:p>
          </p:txBody>
        </p:sp>
        <p:sp>
          <p:nvSpPr>
            <p:cNvPr id="15" name="New shape"/>
            <p:cNvSpPr/>
            <p:nvPr>
              <p:custDataLst>
                <p:tags r:id="rId5"/>
              </p:custDataLst>
            </p:nvPr>
          </p:nvSpPr>
          <p:spPr>
            <a:xfrm>
              <a:off x="762000" y="2590800"/>
              <a:ext cx="3352800" cy="2590800"/>
            </a:xfrm>
            <a:custGeom>
              <a:avLst/>
              <a:gdLst/>
              <a:ahLst/>
              <a:cxnLst/>
              <a:rect l="l" t="t" r="r" b="b"/>
              <a:pathLst>
                <a:path w="3352800" h="2590800">
                  <a:moveTo>
                    <a:pt x="60960" y="0"/>
                  </a:moveTo>
                  <a:lnTo>
                    <a:pt x="3291840" y="0"/>
                  </a:lnTo>
                  <a:cubicBezTo>
                    <a:pt x="3325507" y="0"/>
                    <a:pt x="3352800" y="27292"/>
                    <a:pt x="3352800" y="60960"/>
                  </a:cubicBezTo>
                  <a:lnTo>
                    <a:pt x="3352800" y="2529840"/>
                  </a:lnTo>
                  <a:cubicBezTo>
                    <a:pt x="3352800" y="2563507"/>
                    <a:pt x="3325507" y="2590800"/>
                    <a:pt x="3291840" y="2590800"/>
                  </a:cubicBezTo>
                  <a:lnTo>
                    <a:pt x="60960" y="2590800"/>
                  </a:lnTo>
                  <a:cubicBezTo>
                    <a:pt x="27292" y="2590800"/>
                    <a:pt x="0" y="2563507"/>
                    <a:pt x="0" y="2529840"/>
                  </a:cubicBezTo>
                  <a:lnTo>
                    <a:pt x="0" y="60960"/>
                  </a:lnTo>
                  <a:cubicBezTo>
                    <a:pt x="0" y="27292"/>
                    <a:pt x="27292" y="0"/>
                    <a:pt x="6096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7620" cmpd="sng">
              <a:solidFill>
                <a:srgbClr val="E5E7EB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Rectangle 15"/>
            <p:cNvSpPr/>
            <p:nvPr>
              <p:custDataLst>
                <p:tags r:id="rId6"/>
              </p:custDataLst>
            </p:nvPr>
          </p:nvSpPr>
          <p:spPr>
            <a:xfrm>
              <a:off x="914400" y="2781300"/>
              <a:ext cx="3048000" cy="2209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lvl="1">
                <a:spcAft>
                  <a:spcPts val="600"/>
                </a:spcAft>
              </a:pPr>
              <a:r>
                <a:rPr lang="en-GB" sz="1550" dirty="0">
                  <a:solidFill>
                    <a:srgbClr val="000000"/>
                  </a:solidFill>
                  <a:ea typeface="+mn-ea"/>
                  <a:cs typeface="+mn-lt"/>
                </a:rPr>
                <a:t>• Handling missing and inconsistent housing data  </a:t>
              </a:r>
            </a:p>
            <a:p>
              <a:pPr marL="0" lvl="1">
                <a:spcAft>
                  <a:spcPts val="600"/>
                </a:spcAft>
              </a:pPr>
              <a:r>
                <a:rPr lang="en-GB" sz="1550" dirty="0">
                  <a:solidFill>
                    <a:srgbClr val="000000"/>
                  </a:solidFill>
                  <a:ea typeface="+mn-ea"/>
                  <a:cs typeface="+mn-lt"/>
                </a:rPr>
                <a:t>• Converting price and numeric fields into proper formats  </a:t>
              </a:r>
            </a:p>
            <a:p>
              <a:pPr marL="0" lvl="1">
                <a:spcAft>
                  <a:spcPts val="600"/>
                </a:spcAft>
              </a:pPr>
              <a:r>
                <a:rPr lang="en-GB" sz="1550" dirty="0">
                  <a:solidFill>
                    <a:srgbClr val="000000"/>
                  </a:solidFill>
                  <a:ea typeface="+mn-ea"/>
                  <a:cs typeface="+mn-lt"/>
                </a:rPr>
                <a:t>• Ensuring smooth integration between Python, SQL, and Power BI</a:t>
              </a:r>
              <a:endParaRPr sz="155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20" name="New shape"/>
            <p:cNvSpPr/>
            <p:nvPr>
              <p:custDataLst>
                <p:tags r:id="rId7"/>
              </p:custDataLst>
            </p:nvPr>
          </p:nvSpPr>
          <p:spPr>
            <a:xfrm>
              <a:off x="5829300" y="1409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cubicBezTo>
                    <a:pt x="0" y="413994"/>
                    <a:pt x="119405" y="533400"/>
                    <a:pt x="266700" y="533400"/>
                  </a:cubicBezTo>
                  <a:cubicBezTo>
                    <a:pt x="413994" y="533400"/>
                    <a:pt x="533400" y="413994"/>
                    <a:pt x="533400" y="266700"/>
                  </a:cubicBezTo>
                  <a:cubicBezTo>
                    <a:pt x="533400" y="119405"/>
                    <a:pt x="413994" y="0"/>
                    <a:pt x="266700" y="0"/>
                  </a:cubicBezTo>
                  <a:cubicBezTo>
                    <a:pt x="119405" y="0"/>
                    <a:pt x="0" y="119405"/>
                    <a:pt x="0" y="266700"/>
                  </a:cubicBezTo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1" name="Rectangle 20"/>
            <p:cNvSpPr/>
            <p:nvPr>
              <p:custDataLst>
                <p:tags r:id="rId8"/>
              </p:custDataLst>
            </p:nvPr>
          </p:nvSpPr>
          <p:spPr>
            <a:xfrm>
              <a:off x="5829300" y="1409700"/>
              <a:ext cx="533400" cy="533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90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2</a:t>
              </a:r>
            </a:p>
          </p:txBody>
        </p:sp>
        <p:sp>
          <p:nvSpPr>
            <p:cNvPr id="24" name="Rectangle 23"/>
            <p:cNvSpPr/>
            <p:nvPr>
              <p:custDataLst>
                <p:tags r:id="rId9"/>
              </p:custDataLst>
            </p:nvPr>
          </p:nvSpPr>
          <p:spPr>
            <a:xfrm>
              <a:off x="4419600" y="2095500"/>
              <a:ext cx="3352800" cy="3810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Conclusion</a:t>
              </a:r>
            </a:p>
          </p:txBody>
        </p:sp>
        <p:sp>
          <p:nvSpPr>
            <p:cNvPr id="25" name="New shape"/>
            <p:cNvSpPr/>
            <p:nvPr>
              <p:custDataLst>
                <p:tags r:id="rId10"/>
              </p:custDataLst>
            </p:nvPr>
          </p:nvSpPr>
          <p:spPr>
            <a:xfrm>
              <a:off x="4419600" y="2590800"/>
              <a:ext cx="3352800" cy="2590800"/>
            </a:xfrm>
            <a:custGeom>
              <a:avLst/>
              <a:gdLst/>
              <a:ahLst/>
              <a:cxnLst/>
              <a:rect l="l" t="t" r="r" b="b"/>
              <a:pathLst>
                <a:path w="3352800" h="2590800">
                  <a:moveTo>
                    <a:pt x="60960" y="0"/>
                  </a:moveTo>
                  <a:lnTo>
                    <a:pt x="3291840" y="0"/>
                  </a:lnTo>
                  <a:cubicBezTo>
                    <a:pt x="3325507" y="0"/>
                    <a:pt x="3352800" y="27292"/>
                    <a:pt x="3352800" y="60960"/>
                  </a:cubicBezTo>
                  <a:lnTo>
                    <a:pt x="3352800" y="2529840"/>
                  </a:lnTo>
                  <a:cubicBezTo>
                    <a:pt x="3352800" y="2563507"/>
                    <a:pt x="3325507" y="2590800"/>
                    <a:pt x="3291840" y="2590800"/>
                  </a:cubicBezTo>
                  <a:lnTo>
                    <a:pt x="60960" y="2590800"/>
                  </a:lnTo>
                  <a:cubicBezTo>
                    <a:pt x="27292" y="2590800"/>
                    <a:pt x="0" y="2563507"/>
                    <a:pt x="0" y="2529840"/>
                  </a:cubicBezTo>
                  <a:lnTo>
                    <a:pt x="0" y="60960"/>
                  </a:lnTo>
                  <a:cubicBezTo>
                    <a:pt x="0" y="27292"/>
                    <a:pt x="27292" y="0"/>
                    <a:pt x="6096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7620" cmpd="sng">
              <a:solidFill>
                <a:srgbClr val="E5E7EB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9" name="Rectangle 28"/>
            <p:cNvSpPr/>
            <p:nvPr>
              <p:custDataLst>
                <p:tags r:id="rId11"/>
              </p:custDataLst>
            </p:nvPr>
          </p:nvSpPr>
          <p:spPr>
            <a:xfrm>
              <a:off x="4572000" y="2781300"/>
              <a:ext cx="3048000" cy="2209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lvl="1">
                <a:spcAft>
                  <a:spcPts val="600"/>
                </a:spcAft>
              </a:pPr>
              <a:r>
                <a:rPr lang="en-US" sz="1550" dirty="0">
                  <a:solidFill>
                    <a:srgbClr val="000000"/>
                  </a:solidFill>
                  <a:ea typeface="+mn-ea"/>
                  <a:cs typeface="+mn-lt"/>
                </a:rPr>
                <a:t>• Built a complete data analytics pipeline from raw data to dashboard  </a:t>
              </a:r>
            </a:p>
            <a:p>
              <a:pPr marL="0" lvl="1">
                <a:spcAft>
                  <a:spcPts val="600"/>
                </a:spcAft>
              </a:pPr>
              <a:r>
                <a:rPr lang="en-US" sz="1550" dirty="0">
                  <a:solidFill>
                    <a:srgbClr val="000000"/>
                  </a:solidFill>
                  <a:ea typeface="+mn-ea"/>
                  <a:cs typeface="+mn-lt"/>
                </a:rPr>
                <a:t>• Transformed housing data into meaningful visual insights  </a:t>
              </a:r>
            </a:p>
            <a:p>
              <a:pPr marL="0" lvl="1">
                <a:spcAft>
                  <a:spcPts val="600"/>
                </a:spcAft>
              </a:pPr>
              <a:r>
                <a:rPr lang="en-US" sz="1550" dirty="0">
                  <a:solidFill>
                    <a:srgbClr val="000000"/>
                  </a:solidFill>
                  <a:ea typeface="+mn-ea"/>
                  <a:cs typeface="+mn-lt"/>
                </a:rPr>
                <a:t>• Developed an interactive Power BI dashboard for market analysis</a:t>
              </a:r>
              <a:endParaRPr sz="155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30" name="New shape"/>
            <p:cNvSpPr/>
            <p:nvPr>
              <p:custDataLst>
                <p:tags r:id="rId12"/>
              </p:custDataLst>
            </p:nvPr>
          </p:nvSpPr>
          <p:spPr>
            <a:xfrm>
              <a:off x="9486900" y="1409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cubicBezTo>
                    <a:pt x="0" y="413994"/>
                    <a:pt x="119405" y="533400"/>
                    <a:pt x="266700" y="533400"/>
                  </a:cubicBezTo>
                  <a:cubicBezTo>
                    <a:pt x="413994" y="533400"/>
                    <a:pt x="533400" y="413994"/>
                    <a:pt x="533400" y="266700"/>
                  </a:cubicBezTo>
                  <a:cubicBezTo>
                    <a:pt x="533400" y="119405"/>
                    <a:pt x="413994" y="0"/>
                    <a:pt x="266700" y="0"/>
                  </a:cubicBezTo>
                  <a:cubicBezTo>
                    <a:pt x="119405" y="0"/>
                    <a:pt x="0" y="119405"/>
                    <a:pt x="0" y="266700"/>
                  </a:cubicBezTo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3" name="Rectangle 32"/>
            <p:cNvSpPr/>
            <p:nvPr>
              <p:custDataLst>
                <p:tags r:id="rId13"/>
              </p:custDataLst>
            </p:nvPr>
          </p:nvSpPr>
          <p:spPr>
            <a:xfrm>
              <a:off x="9486900" y="1409700"/>
              <a:ext cx="533400" cy="533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900" b="1">
                  <a:solidFill>
                    <a:srgbClr val="FFFFFF"/>
                  </a:solidFill>
                  <a:latin typeface="+mn-lt"/>
                  <a:ea typeface="+mn-ea"/>
                  <a:cs typeface="+mn-lt"/>
                </a:rPr>
                <a:t>3</a:t>
              </a:r>
            </a:p>
          </p:txBody>
        </p:sp>
        <p:sp>
          <p:nvSpPr>
            <p:cNvPr id="34" name="Rectangle 33"/>
            <p:cNvSpPr/>
            <p:nvPr>
              <p:custDataLst>
                <p:tags r:id="rId14"/>
              </p:custDataLst>
            </p:nvPr>
          </p:nvSpPr>
          <p:spPr>
            <a:xfrm>
              <a:off x="8077200" y="2095500"/>
              <a:ext cx="3352800" cy="3810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1750" b="1">
                  <a:solidFill>
                    <a:srgbClr val="000000"/>
                  </a:solidFill>
                  <a:latin typeface="+mn-lt"/>
                  <a:ea typeface="+mn-ea"/>
                  <a:cs typeface="+mn-lt"/>
                </a:rPr>
                <a:t>Future Scope</a:t>
              </a:r>
            </a:p>
          </p:txBody>
        </p:sp>
        <p:sp>
          <p:nvSpPr>
            <p:cNvPr id="42" name="New shape"/>
            <p:cNvSpPr/>
            <p:nvPr>
              <p:custDataLst>
                <p:tags r:id="rId15"/>
              </p:custDataLst>
            </p:nvPr>
          </p:nvSpPr>
          <p:spPr>
            <a:xfrm>
              <a:off x="8077200" y="2590800"/>
              <a:ext cx="3352800" cy="2590800"/>
            </a:xfrm>
            <a:custGeom>
              <a:avLst/>
              <a:gdLst/>
              <a:ahLst/>
              <a:cxnLst/>
              <a:rect l="l" t="t" r="r" b="b"/>
              <a:pathLst>
                <a:path w="3352800" h="2590800">
                  <a:moveTo>
                    <a:pt x="60959" y="0"/>
                  </a:moveTo>
                  <a:lnTo>
                    <a:pt x="3291840" y="0"/>
                  </a:lnTo>
                  <a:cubicBezTo>
                    <a:pt x="3325507" y="0"/>
                    <a:pt x="3352800" y="27292"/>
                    <a:pt x="3352800" y="60960"/>
                  </a:cubicBezTo>
                  <a:lnTo>
                    <a:pt x="3352800" y="2529840"/>
                  </a:lnTo>
                  <a:cubicBezTo>
                    <a:pt x="3352800" y="2563507"/>
                    <a:pt x="3325507" y="2590800"/>
                    <a:pt x="3291840" y="2590800"/>
                  </a:cubicBezTo>
                  <a:lnTo>
                    <a:pt x="60959" y="2590800"/>
                  </a:lnTo>
                  <a:cubicBezTo>
                    <a:pt x="27292" y="2590800"/>
                    <a:pt x="0" y="2563507"/>
                    <a:pt x="0" y="2529840"/>
                  </a:cubicBezTo>
                  <a:lnTo>
                    <a:pt x="0" y="60960"/>
                  </a:lnTo>
                  <a:cubicBezTo>
                    <a:pt x="0" y="27292"/>
                    <a:pt x="27292" y="0"/>
                    <a:pt x="60959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7620" cmpd="sng">
              <a:solidFill>
                <a:srgbClr val="E5E7EB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3" name="Rectangle 42"/>
            <p:cNvSpPr/>
            <p:nvPr>
              <p:custDataLst>
                <p:tags r:id="rId16"/>
              </p:custDataLst>
            </p:nvPr>
          </p:nvSpPr>
          <p:spPr>
            <a:xfrm>
              <a:off x="8229600" y="2781300"/>
              <a:ext cx="3048000" cy="22098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lvl="1">
                <a:spcAft>
                  <a:spcPts val="600"/>
                </a:spcAft>
              </a:pPr>
              <a:r>
                <a:rPr lang="en-GB" sz="1550" b="1" dirty="0">
                  <a:solidFill>
                    <a:srgbClr val="000000"/>
                  </a:solidFill>
                  <a:ea typeface="+mn-ea"/>
                  <a:cs typeface="+mn-lt"/>
                </a:rPr>
                <a:t>• Add predictive models for housing price forecasting  </a:t>
              </a:r>
            </a:p>
            <a:p>
              <a:pPr marL="0" lvl="1">
                <a:spcAft>
                  <a:spcPts val="600"/>
                </a:spcAft>
              </a:pPr>
              <a:r>
                <a:rPr lang="en-GB" sz="1550" b="1" dirty="0">
                  <a:solidFill>
                    <a:srgbClr val="000000"/>
                  </a:solidFill>
                  <a:ea typeface="+mn-ea"/>
                  <a:cs typeface="+mn-lt"/>
                </a:rPr>
                <a:t>• Integrate real-time real estate data sources  </a:t>
              </a:r>
            </a:p>
            <a:p>
              <a:pPr marL="0" lvl="1">
                <a:spcAft>
                  <a:spcPts val="600"/>
                </a:spcAft>
              </a:pPr>
              <a:r>
                <a:rPr lang="en-GB" sz="1550" b="1" dirty="0">
                  <a:solidFill>
                    <a:srgbClr val="000000"/>
                  </a:solidFill>
                  <a:ea typeface="+mn-ea"/>
                  <a:cs typeface="+mn-lt"/>
                </a:rPr>
                <a:t>• Expand analysis to multiple cities beyond Bengaluru</a:t>
              </a:r>
              <a:endParaRPr sz="1550" dirty="0">
                <a:solidFill>
                  <a:srgbClr val="000000"/>
                </a:solidFill>
                <a:latin typeface="+mn-lt"/>
                <a:ea typeface="+mn-ea"/>
                <a:cs typeface="+mn-lt"/>
              </a:endParaRPr>
            </a:p>
          </p:txBody>
        </p:sp>
        <p:sp>
          <p:nvSpPr>
            <p:cNvPr id="44" name="New shape"/>
            <p:cNvSpPr/>
            <p:nvPr>
              <p:custDataLst>
                <p:tags r:id="rId17"/>
              </p:custDataLst>
            </p:nvPr>
          </p:nvSpPr>
          <p:spPr>
            <a:xfrm>
              <a:off x="762000" y="5486400"/>
              <a:ext cx="10668000" cy="838200"/>
            </a:xfrm>
            <a:custGeom>
              <a:avLst/>
              <a:gdLst/>
              <a:ahLst/>
              <a:cxnLst/>
              <a:rect l="l" t="t" r="r" b="b"/>
              <a:pathLst>
                <a:path w="10668000" h="838200">
                  <a:moveTo>
                    <a:pt x="60960" y="0"/>
                  </a:moveTo>
                  <a:lnTo>
                    <a:pt x="10607040" y="0"/>
                  </a:lnTo>
                  <a:cubicBezTo>
                    <a:pt x="10640708" y="0"/>
                    <a:pt x="10668000" y="27292"/>
                    <a:pt x="10668000" y="60960"/>
                  </a:cubicBezTo>
                  <a:lnTo>
                    <a:pt x="10668000" y="777240"/>
                  </a:lnTo>
                  <a:cubicBezTo>
                    <a:pt x="10668000" y="810907"/>
                    <a:pt x="10640708" y="838200"/>
                    <a:pt x="10607040" y="838200"/>
                  </a:cubicBezTo>
                  <a:lnTo>
                    <a:pt x="60960" y="838200"/>
                  </a:lnTo>
                  <a:cubicBezTo>
                    <a:pt x="27292" y="838200"/>
                    <a:pt x="0" y="810907"/>
                    <a:pt x="0" y="777240"/>
                  </a:cubicBezTo>
                  <a:lnTo>
                    <a:pt x="0" y="60960"/>
                  </a:lnTo>
                  <a:cubicBezTo>
                    <a:pt x="0" y="27292"/>
                    <a:pt x="27292" y="0"/>
                    <a:pt x="60960" y="0"/>
                  </a:cubicBezTo>
                  <a:close/>
                </a:path>
              </a:pathLst>
            </a:custGeom>
            <a:solidFill>
              <a:srgbClr val="059669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45" name="Group 44"/>
            <p:cNvGrpSpPr/>
            <p:nvPr>
              <p:custDataLst>
                <p:tags r:id="rId18"/>
              </p:custDataLst>
            </p:nvPr>
          </p:nvGrpSpPr>
          <p:grpSpPr>
            <a:xfrm>
              <a:off x="1170562" y="5705476"/>
              <a:ext cx="249673" cy="400051"/>
              <a:chOff x="535562" y="5070476"/>
              <a:chExt cx="249673" cy="400051"/>
            </a:xfrm>
          </p:grpSpPr>
          <p:sp>
            <p:nvSpPr>
              <p:cNvPr id="46" name="New shape"/>
              <p:cNvSpPr/>
              <p:nvPr>
                <p:custDataLst>
                  <p:tags r:id="rId20"/>
                </p:custDataLst>
              </p:nvPr>
            </p:nvSpPr>
            <p:spPr>
              <a:xfrm>
                <a:off x="535562" y="5070476"/>
                <a:ext cx="249673" cy="324755"/>
              </a:xfrm>
              <a:custGeom>
                <a:avLst/>
                <a:gdLst/>
                <a:ahLst/>
                <a:cxnLst/>
                <a:rect l="l" t="t" r="r" b="b"/>
                <a:pathLst>
                  <a:path w="249672" h="324755">
                    <a:moveTo>
                      <a:pt x="150377" y="113585"/>
                    </a:moveTo>
                    <a:lnTo>
                      <a:pt x="150377" y="80653"/>
                    </a:lnTo>
                    <a:cubicBezTo>
                      <a:pt x="150377" y="78759"/>
                      <a:pt x="149626" y="76938"/>
                      <a:pt x="148287" y="75598"/>
                    </a:cubicBezTo>
                    <a:cubicBezTo>
                      <a:pt x="146948" y="74259"/>
                      <a:pt x="145126" y="73509"/>
                      <a:pt x="143233" y="73509"/>
                    </a:cubicBezTo>
                    <a:lnTo>
                      <a:pt x="131981" y="73509"/>
                    </a:lnTo>
                    <a:lnTo>
                      <a:pt x="131981" y="7036"/>
                    </a:lnTo>
                    <a:cubicBezTo>
                      <a:pt x="131928" y="3125"/>
                      <a:pt x="128749" y="0"/>
                      <a:pt x="124838" y="0"/>
                    </a:cubicBezTo>
                    <a:cubicBezTo>
                      <a:pt x="120926" y="0"/>
                      <a:pt x="117747" y="3125"/>
                      <a:pt x="117694" y="7036"/>
                    </a:cubicBezTo>
                    <a:lnTo>
                      <a:pt x="117694" y="73509"/>
                    </a:lnTo>
                    <a:lnTo>
                      <a:pt x="106443" y="73509"/>
                    </a:lnTo>
                    <a:cubicBezTo>
                      <a:pt x="104550" y="73509"/>
                      <a:pt x="102728" y="74259"/>
                      <a:pt x="101388" y="75598"/>
                    </a:cubicBezTo>
                    <a:cubicBezTo>
                      <a:pt x="100049" y="76938"/>
                      <a:pt x="99299" y="78759"/>
                      <a:pt x="99299" y="80653"/>
                    </a:cubicBezTo>
                    <a:lnTo>
                      <a:pt x="99299" y="113567"/>
                    </a:lnTo>
                    <a:cubicBezTo>
                      <a:pt x="42665" y="128194"/>
                      <a:pt x="0" y="190382"/>
                      <a:pt x="0" y="264695"/>
                    </a:cubicBezTo>
                    <a:cubicBezTo>
                      <a:pt x="0" y="266588"/>
                      <a:pt x="750" y="268409"/>
                      <a:pt x="2089" y="269749"/>
                    </a:cubicBezTo>
                    <a:cubicBezTo>
                      <a:pt x="3428" y="271089"/>
                      <a:pt x="5250" y="271857"/>
                      <a:pt x="7143" y="271839"/>
                    </a:cubicBezTo>
                    <a:lnTo>
                      <a:pt x="65240" y="271839"/>
                    </a:lnTo>
                    <a:cubicBezTo>
                      <a:pt x="68830" y="302039"/>
                      <a:pt x="94440" y="324755"/>
                      <a:pt x="124836" y="324755"/>
                    </a:cubicBezTo>
                    <a:cubicBezTo>
                      <a:pt x="155232" y="324755"/>
                      <a:pt x="180843" y="302038"/>
                      <a:pt x="184432" y="271839"/>
                    </a:cubicBezTo>
                    <a:lnTo>
                      <a:pt x="242528" y="271839"/>
                    </a:lnTo>
                    <a:cubicBezTo>
                      <a:pt x="244421" y="271857"/>
                      <a:pt x="246243" y="271089"/>
                      <a:pt x="247583" y="269749"/>
                    </a:cubicBezTo>
                    <a:cubicBezTo>
                      <a:pt x="248922" y="268410"/>
                      <a:pt x="249672" y="266588"/>
                      <a:pt x="249672" y="264695"/>
                    </a:cubicBezTo>
                    <a:cubicBezTo>
                      <a:pt x="249672" y="190400"/>
                      <a:pt x="207006" y="128198"/>
                      <a:pt x="150373" y="113586"/>
                    </a:cubicBezTo>
                    <a:close/>
                    <a:moveTo>
                      <a:pt x="113568" y="87814"/>
                    </a:moveTo>
                    <a:lnTo>
                      <a:pt x="136071" y="87814"/>
                    </a:lnTo>
                    <a:lnTo>
                      <a:pt x="136071" y="110995"/>
                    </a:lnTo>
                    <a:lnTo>
                      <a:pt x="136089" y="110978"/>
                    </a:lnTo>
                    <a:cubicBezTo>
                      <a:pt x="128606" y="110102"/>
                      <a:pt x="121069" y="110102"/>
                      <a:pt x="113586" y="110978"/>
                    </a:cubicBezTo>
                    <a:close/>
                    <a:moveTo>
                      <a:pt x="124837" y="124605"/>
                    </a:moveTo>
                    <a:cubicBezTo>
                      <a:pt x="183880" y="124605"/>
                      <a:pt x="232138" y="183629"/>
                      <a:pt x="235100" y="257549"/>
                    </a:cubicBezTo>
                    <a:lnTo>
                      <a:pt x="14574" y="257549"/>
                    </a:lnTo>
                    <a:cubicBezTo>
                      <a:pt x="17539" y="183629"/>
                      <a:pt x="65795" y="124605"/>
                      <a:pt x="124837" y="124605"/>
                    </a:cubicBezTo>
                    <a:close/>
                    <a:moveTo>
                      <a:pt x="124837" y="310465"/>
                    </a:moveTo>
                    <a:cubicBezTo>
                      <a:pt x="102334" y="310430"/>
                      <a:pt x="83207" y="294053"/>
                      <a:pt x="79689" y="271836"/>
                    </a:cubicBezTo>
                    <a:lnTo>
                      <a:pt x="169986" y="271836"/>
                    </a:lnTo>
                    <a:cubicBezTo>
                      <a:pt x="166468" y="294053"/>
                      <a:pt x="147340" y="310430"/>
                      <a:pt x="124837" y="31046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7" name="New shape"/>
              <p:cNvSpPr/>
              <p:nvPr>
                <p:custDataLst>
                  <p:tags r:id="rId21"/>
                </p:custDataLst>
              </p:nvPr>
            </p:nvSpPr>
            <p:spPr>
              <a:xfrm>
                <a:off x="566852" y="5392248"/>
                <a:ext cx="38273" cy="38273"/>
              </a:xfrm>
              <a:custGeom>
                <a:avLst/>
                <a:gdLst/>
                <a:ahLst/>
                <a:cxnLst/>
                <a:rect l="l" t="t" r="r" b="b"/>
                <a:pathLst>
                  <a:path w="38272" h="38272">
                    <a:moveTo>
                      <a:pt x="28164" y="0"/>
                    </a:moveTo>
                    <a:lnTo>
                      <a:pt x="2107" y="26056"/>
                    </a:lnTo>
                    <a:cubicBezTo>
                      <a:pt x="767" y="27396"/>
                      <a:pt x="0" y="29217"/>
                      <a:pt x="0" y="31110"/>
                    </a:cubicBezTo>
                    <a:cubicBezTo>
                      <a:pt x="0" y="33022"/>
                      <a:pt x="750" y="34825"/>
                      <a:pt x="2089" y="36183"/>
                    </a:cubicBezTo>
                    <a:cubicBezTo>
                      <a:pt x="3429" y="37522"/>
                      <a:pt x="5250" y="38272"/>
                      <a:pt x="7161" y="38272"/>
                    </a:cubicBezTo>
                    <a:cubicBezTo>
                      <a:pt x="9054" y="38272"/>
                      <a:pt x="10876" y="37504"/>
                      <a:pt x="12216" y="36165"/>
                    </a:cubicBezTo>
                    <a:lnTo>
                      <a:pt x="38272" y="10090"/>
                    </a:lnTo>
                    <a:cubicBezTo>
                      <a:pt x="40969" y="7286"/>
                      <a:pt x="40933" y="2840"/>
                      <a:pt x="38183" y="89"/>
                    </a:cubicBezTo>
                    <a:cubicBezTo>
                      <a:pt x="35415" y="-2660"/>
                      <a:pt x="30968" y="-2714"/>
                      <a:pt x="2816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8" name="New shape"/>
              <p:cNvSpPr/>
              <p:nvPr>
                <p:custDataLst>
                  <p:tags r:id="rId22"/>
                </p:custDataLst>
              </p:nvPr>
            </p:nvSpPr>
            <p:spPr>
              <a:xfrm>
                <a:off x="716192" y="5392248"/>
                <a:ext cx="36165" cy="36165"/>
              </a:xfrm>
              <a:custGeom>
                <a:avLst/>
                <a:gdLst/>
                <a:ahLst/>
                <a:cxnLst/>
                <a:rect l="l" t="t" r="r" b="b"/>
                <a:pathLst>
                  <a:path w="36165" h="36164">
                    <a:moveTo>
                      <a:pt x="10108" y="0"/>
                    </a:moveTo>
                    <a:cubicBezTo>
                      <a:pt x="7304" y="-2714"/>
                      <a:pt x="2839" y="-2661"/>
                      <a:pt x="89" y="89"/>
                    </a:cubicBezTo>
                    <a:cubicBezTo>
                      <a:pt x="-2660" y="2839"/>
                      <a:pt x="-2696" y="7286"/>
                      <a:pt x="0" y="10090"/>
                    </a:cubicBezTo>
                    <a:lnTo>
                      <a:pt x="26056" y="36164"/>
                    </a:lnTo>
                    <a:cubicBezTo>
                      <a:pt x="28860" y="38861"/>
                      <a:pt x="33325" y="38825"/>
                      <a:pt x="36075" y="36075"/>
                    </a:cubicBezTo>
                    <a:cubicBezTo>
                      <a:pt x="38826" y="33307"/>
                      <a:pt x="38861" y="28860"/>
                      <a:pt x="36165" y="2605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9" name="New shape"/>
              <p:cNvSpPr/>
              <p:nvPr>
                <p:custDataLst>
                  <p:tags r:id="rId23"/>
                </p:custDataLst>
              </p:nvPr>
            </p:nvSpPr>
            <p:spPr>
              <a:xfrm>
                <a:off x="654116" y="5410787"/>
                <a:ext cx="14502" cy="59740"/>
              </a:xfrm>
              <a:custGeom>
                <a:avLst/>
                <a:gdLst/>
                <a:ahLst/>
                <a:cxnLst/>
                <a:rect l="l" t="t" r="r" b="b"/>
                <a:pathLst>
                  <a:path w="14501" h="59739">
                    <a:moveTo>
                      <a:pt x="7143" y="0"/>
                    </a:moveTo>
                    <a:cubicBezTo>
                      <a:pt x="5250" y="0"/>
                      <a:pt x="3429" y="768"/>
                      <a:pt x="2071" y="2107"/>
                    </a:cubicBezTo>
                    <a:cubicBezTo>
                      <a:pt x="732" y="3447"/>
                      <a:pt x="-17" y="5286"/>
                      <a:pt x="0" y="7179"/>
                    </a:cubicBezTo>
                    <a:lnTo>
                      <a:pt x="196" y="52631"/>
                    </a:lnTo>
                    <a:cubicBezTo>
                      <a:pt x="214" y="56560"/>
                      <a:pt x="3429" y="59757"/>
                      <a:pt x="7375" y="59739"/>
                    </a:cubicBezTo>
                    <a:cubicBezTo>
                      <a:pt x="11322" y="59721"/>
                      <a:pt x="14501" y="56507"/>
                      <a:pt x="14501" y="52560"/>
                    </a:cubicBezTo>
                    <a:lnTo>
                      <a:pt x="14305" y="7108"/>
                    </a:lnTo>
                    <a:lnTo>
                      <a:pt x="14287" y="7126"/>
                    </a:lnTo>
                    <a:cubicBezTo>
                      <a:pt x="14269" y="3179"/>
                      <a:pt x="11072" y="0"/>
                      <a:pt x="7143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Noto Sans CJK SC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50" name="Rectangle 49"/>
            <p:cNvSpPr/>
            <p:nvPr>
              <p:custDataLst>
                <p:tags r:id="rId19"/>
              </p:custDataLst>
            </p:nvPr>
          </p:nvSpPr>
          <p:spPr>
            <a:xfrm>
              <a:off x="1752600" y="5486400"/>
              <a:ext cx="9372600" cy="8382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GB" sz="1600" dirty="0">
                  <a:solidFill>
                    <a:srgbClr val="FFFFFF"/>
                  </a:solidFill>
                  <a:ea typeface="+mn-ea"/>
                  <a:cs typeface="+mn-lt"/>
                </a:rPr>
                <a:t>This project demonstrates a scalable approach to analyzing housing market data, transforming raw datasets into actionable insights through an end-to-end analytics pipeline.</a:t>
              </a:r>
              <a:endParaRPr sz="1600" dirty="0">
                <a:solidFill>
                  <a:srgbClr val="FFFFFF"/>
                </a:solidFill>
                <a:latin typeface="+mn-lt"/>
                <a:ea typeface="+mn-ea"/>
                <a:cs typeface="+mn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B3AD-5199-AB54-7B62-B1F3E755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C1CDC0-0AB8-A958-E147-53E5B28E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6477000" cy="6096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Practical 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3ADA2C-8910-246B-CECD-536BE4E8B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6477000" cy="3467181"/>
          </a:xfrm>
        </p:spPr>
        <p:txBody>
          <a:bodyPr>
            <a:normAutofit/>
          </a:bodyPr>
          <a:lstStyle/>
          <a:p>
            <a:pPr marL="0" indent="0">
              <a:buClrTx/>
              <a:buNone/>
            </a:pPr>
            <a:r>
              <a:rPr lang="en-US" sz="3000" dirty="0"/>
              <a:t>IT Industry</a:t>
            </a:r>
            <a:endParaRPr lang="en-GB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data pipelines (ETL) for processing large datasets</a:t>
            </a:r>
          </a:p>
          <a:p>
            <a:pPr>
              <a:buClrTx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interactive dashboards (Power BI) for decision-making</a:t>
            </a:r>
          </a:p>
          <a:p>
            <a:pPr>
              <a:buClrTx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databases (MySQL) with analytics tools</a:t>
            </a:r>
          </a:p>
          <a:p>
            <a:pPr>
              <a:buClrTx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AI/ML models like price prediction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7CF583FF-7F22-894C-D662-342662EACF5B}"/>
              </a:ext>
            </a:extLst>
          </p:cNvPr>
          <p:cNvSpPr txBox="1">
            <a:spLocks/>
          </p:cNvSpPr>
          <p:nvPr/>
        </p:nvSpPr>
        <p:spPr>
          <a:xfrm>
            <a:off x="7188466" y="258278"/>
            <a:ext cx="4393934" cy="659972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4500" b="1" dirty="0"/>
              <a:t>Business Applications 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1. Strategic Decision Making</a:t>
            </a:r>
          </a:p>
          <a:p>
            <a:pPr marL="0" indent="0">
              <a:buClrTx/>
              <a:buNone/>
            </a:pPr>
            <a:r>
              <a:rPr lang="en-US" sz="3000" dirty="0"/>
              <a:t>Helps real estate companies identify:</a:t>
            </a:r>
          </a:p>
          <a:p>
            <a:pPr>
              <a:buClrTx/>
            </a:pPr>
            <a:r>
              <a:rPr lang="en-US" sz="3000" dirty="0"/>
              <a:t>High-demand locations</a:t>
            </a:r>
          </a:p>
          <a:p>
            <a:pPr>
              <a:buClrTx/>
            </a:pPr>
            <a:r>
              <a:rPr lang="en-US" sz="3000" dirty="0"/>
              <a:t>Profitable configurations (3BHK, 4BHK)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2. Developer Performance Analysis</a:t>
            </a:r>
          </a:p>
          <a:p>
            <a:pPr>
              <a:buClrTx/>
            </a:pPr>
            <a:r>
              <a:rPr lang="en-US" sz="3000" dirty="0"/>
              <a:t>Compare developers (Prestige, Brigade, etc.)</a:t>
            </a:r>
          </a:p>
          <a:p>
            <a:pPr>
              <a:buClrTx/>
            </a:pPr>
            <a:r>
              <a:rPr lang="en-US" sz="3000" dirty="0"/>
              <a:t>Identify top-performing builders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3. Targeted Marketing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Understand buyer types:</a:t>
            </a:r>
          </a:p>
          <a:p>
            <a:pPr>
              <a:buClrTx/>
            </a:pPr>
            <a:r>
              <a:rPr lang="en-US" sz="3000" dirty="0"/>
              <a:t>HNI → luxury marketing</a:t>
            </a:r>
          </a:p>
          <a:p>
            <a:pPr>
              <a:buClrTx/>
            </a:pPr>
            <a:r>
              <a:rPr lang="en-US" sz="3000" dirty="0"/>
              <a:t>NRI → international campaigns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4. Pricing Strategy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Set competitive prices based on:</a:t>
            </a:r>
          </a:p>
          <a:p>
            <a:pPr>
              <a:buClrTx/>
            </a:pPr>
            <a:r>
              <a:rPr lang="en-US" sz="3000" dirty="0"/>
              <a:t>Market trends</a:t>
            </a:r>
          </a:p>
          <a:p>
            <a:pPr>
              <a:buClrTx/>
            </a:pPr>
            <a:r>
              <a:rPr lang="en-US" sz="3000" dirty="0"/>
              <a:t>Location demand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5. Location Intelligence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Identify high-growth micro-markets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Plan new projects in profitable areas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793A8CC-0355-E06B-9FE5-0404F735EEED}"/>
              </a:ext>
            </a:extLst>
          </p:cNvPr>
          <p:cNvSpPr txBox="1">
            <a:spLocks/>
          </p:cNvSpPr>
          <p:nvPr/>
        </p:nvSpPr>
        <p:spPr>
          <a:xfrm>
            <a:off x="711467" y="3581400"/>
            <a:ext cx="6273265" cy="2561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3000" dirty="0"/>
              <a:t>Finance Industry</a:t>
            </a:r>
          </a:p>
          <a:p>
            <a:pPr>
              <a:buClrTx/>
            </a:pPr>
            <a:r>
              <a:rPr lang="en-US" sz="1900" dirty="0"/>
              <a:t>Real estate investment analysis using pricing trends</a:t>
            </a:r>
          </a:p>
          <a:p>
            <a:pPr>
              <a:buClrTx/>
            </a:pPr>
            <a:r>
              <a:rPr lang="en-US" sz="1900" dirty="0"/>
              <a:t>Loan risk assessment based on property values</a:t>
            </a:r>
          </a:p>
          <a:p>
            <a:pPr>
              <a:buClrTx/>
            </a:pPr>
            <a:r>
              <a:rPr lang="en-US" sz="1900" dirty="0"/>
              <a:t>Market forecasting for housing demand</a:t>
            </a:r>
          </a:p>
          <a:p>
            <a:pPr>
              <a:buClrTx/>
            </a:pPr>
            <a:r>
              <a:rPr lang="en-US" sz="1900" dirty="0"/>
              <a:t>Customer segmentation (HNI, NRI, CXO buyers)</a:t>
            </a:r>
            <a:endParaRPr lang="en-GB" sz="19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7167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3.1.32"/>
  <p:tag name="AS_OS" val="Unix 5.10.248.247"/>
  <p:tag name="AS_RELEASE_DATE" val="2025.06.14"/>
  <p:tag name="AS_TITLE" val="Aspose.Slides for Python via .NET"/>
  <p:tag name="AS_VERSION" val="25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1044</TotalTime>
  <Words>914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Gill Sans MT</vt:lpstr>
      <vt:lpstr>Times New Roman</vt:lpstr>
      <vt:lpstr>Parcel</vt:lpstr>
      <vt:lpstr>PowerPoint Presentation</vt:lpstr>
      <vt:lpstr>Statement &amp;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</vt:lpstr>
      <vt:lpstr>PowerPoint Presentation</vt:lpstr>
      <vt:lpstr>Practical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Aizhan</dc:creator>
  <cp:lastModifiedBy>Shashwath .E.P</cp:lastModifiedBy>
  <cp:revision>33</cp:revision>
  <cp:lastPrinted>2026-01-13T09:01:18Z</cp:lastPrinted>
  <dcterms:created xsi:type="dcterms:W3CDTF">2026-01-13T09:01:18Z</dcterms:created>
  <dcterms:modified xsi:type="dcterms:W3CDTF">2026-04-17T11:59:23Z</dcterms:modified>
</cp:coreProperties>
</file>